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60" r:id="rId5"/>
    <p:sldId id="259" r:id="rId6"/>
    <p:sldId id="261" r:id="rId7"/>
    <p:sldId id="262" r:id="rId8"/>
    <p:sldId id="264" r:id="rId9"/>
    <p:sldId id="263" r:id="rId10"/>
    <p:sldId id="265" r:id="rId11"/>
    <p:sldId id="273" r:id="rId12"/>
    <p:sldId id="266" r:id="rId13"/>
    <p:sldId id="268" r:id="rId14"/>
    <p:sldId id="271" r:id="rId15"/>
    <p:sldId id="272" r:id="rId16"/>
    <p:sldId id="269" r:id="rId17"/>
    <p:sldId id="274" r:id="rId18"/>
    <p:sldId id="270" r:id="rId19"/>
  </p:sldIdLst>
  <p:sldSz cx="18288000" cy="10287000"/>
  <p:notesSz cx="6858000" cy="9144000"/>
  <p:embeddedFontLst>
    <p:embeddedFont>
      <p:font typeface="Calibri" panose="020F0502020204030204" pitchFamily="34" charset="0"/>
      <p:regular r:id="rId21"/>
      <p:bold r:id="rId22"/>
      <p:italic r:id="rId23"/>
      <p:boldItalic r:id="rId24"/>
    </p:embeddedFont>
    <p:embeddedFont>
      <p:font typeface="Californian FB" panose="0207040306080B030204" pitchFamily="18" charset="0"/>
      <p:regular r:id="rId25"/>
      <p:bold r:id="rId26"/>
      <p:italic r:id="rId27"/>
    </p:embeddedFont>
    <p:embeddedFont>
      <p:font typeface="Garet" panose="020B0604020202020204" charset="0"/>
      <p:regular r:id="rId28"/>
    </p:embeddedFont>
    <p:embeddedFont>
      <p:font typeface="Garet Bold" panose="020B0604020202020204" charset="0"/>
      <p:regular r:id="rId29"/>
    </p:embeddedFont>
    <p:embeddedFont>
      <p:font typeface="Montserrat Semi-Bold" panose="020B0604020202020204" charset="0"/>
      <p:regular r:id="rId30"/>
    </p:embeddedFont>
    <p:embeddedFont>
      <p:font typeface="Open Sans" panose="020B0606030504020204"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D4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10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05F95A-FC89-48D7-86B0-69972D89DAAD}" type="datetimeFigureOut">
              <a:rPr lang="en-US" smtClean="0"/>
              <a:t>1/18/2026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7B742-F8F0-47ED-9FAC-6188BFC1C118}" type="slidenum">
              <a:rPr lang="en-US" smtClean="0"/>
              <a:t>‹#›</a:t>
            </a:fld>
            <a:endParaRPr lang="en-US" dirty="0"/>
          </a:p>
        </p:txBody>
      </p:sp>
    </p:spTree>
    <p:extLst>
      <p:ext uri="{BB962C8B-B14F-4D97-AF65-F5344CB8AC3E}">
        <p14:creationId xmlns:p14="http://schemas.microsoft.com/office/powerpoint/2010/main" val="910086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F7B742-F8F0-47ED-9FAC-6188BFC1C118}" type="slidenum">
              <a:rPr lang="en-US" smtClean="0"/>
              <a:t>1</a:t>
            </a:fld>
            <a:endParaRPr lang="en-US" dirty="0"/>
          </a:p>
        </p:txBody>
      </p:sp>
    </p:spTree>
    <p:extLst>
      <p:ext uri="{BB962C8B-B14F-4D97-AF65-F5344CB8AC3E}">
        <p14:creationId xmlns:p14="http://schemas.microsoft.com/office/powerpoint/2010/main" val="2008263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F7B742-F8F0-47ED-9FAC-6188BFC1C118}" type="slidenum">
              <a:rPr lang="en-US" smtClean="0"/>
              <a:t>2</a:t>
            </a:fld>
            <a:endParaRPr lang="en-US" dirty="0"/>
          </a:p>
        </p:txBody>
      </p:sp>
    </p:spTree>
    <p:extLst>
      <p:ext uri="{BB962C8B-B14F-4D97-AF65-F5344CB8AC3E}">
        <p14:creationId xmlns:p14="http://schemas.microsoft.com/office/powerpoint/2010/main" val="3556338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F7B742-F8F0-47ED-9FAC-6188BFC1C118}" type="slidenum">
              <a:rPr lang="en-US" smtClean="0"/>
              <a:t>6</a:t>
            </a:fld>
            <a:endParaRPr lang="en-US" dirty="0"/>
          </a:p>
        </p:txBody>
      </p:sp>
    </p:spTree>
    <p:extLst>
      <p:ext uri="{BB962C8B-B14F-4D97-AF65-F5344CB8AC3E}">
        <p14:creationId xmlns:p14="http://schemas.microsoft.com/office/powerpoint/2010/main" val="516297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505EA2F-BB82-4B46-AD3D-E1D3C51A0E89}" type="datetime1">
              <a:rPr lang="en-US" smtClean="0"/>
              <a:t>1/18/2026</a:t>
            </a:fld>
            <a:endParaRPr lang="en-US" dirty="0"/>
          </a:p>
        </p:txBody>
      </p:sp>
      <p:sp>
        <p:nvSpPr>
          <p:cNvPr id="5" name="Footer Placeholder 4"/>
          <p:cNvSpPr>
            <a:spLocks noGrp="1"/>
          </p:cNvSpPr>
          <p:nvPr>
            <p:ph type="ftr" sz="quarter" idx="11"/>
          </p:nvPr>
        </p:nvSpPr>
        <p:spPr/>
        <p:txBody>
          <a:bodyPr/>
          <a:lstStyle/>
          <a:p>
            <a:r>
              <a:rPr lang="en-US" dirty="0"/>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559A9F-9EA6-4FBF-B2E9-4FB1F6A820B9}" type="datetime1">
              <a:rPr lang="en-US" smtClean="0"/>
              <a:t>1/18/2026</a:t>
            </a:fld>
            <a:endParaRPr lang="en-US" dirty="0"/>
          </a:p>
        </p:txBody>
      </p:sp>
      <p:sp>
        <p:nvSpPr>
          <p:cNvPr id="5" name="Footer Placeholder 4"/>
          <p:cNvSpPr>
            <a:spLocks noGrp="1"/>
          </p:cNvSpPr>
          <p:nvPr>
            <p:ph type="ftr" sz="quarter" idx="11"/>
          </p:nvPr>
        </p:nvSpPr>
        <p:spPr/>
        <p:txBody>
          <a:bodyPr/>
          <a:lstStyle/>
          <a:p>
            <a:r>
              <a:rPr lang="en-US" dirty="0"/>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EE84D5-EC7A-4C61-B84F-2BA2548A905B}" type="datetime1">
              <a:rPr lang="en-US" smtClean="0"/>
              <a:t>1/18/2026</a:t>
            </a:fld>
            <a:endParaRPr lang="en-US" dirty="0"/>
          </a:p>
        </p:txBody>
      </p:sp>
      <p:sp>
        <p:nvSpPr>
          <p:cNvPr id="5" name="Footer Placeholder 4"/>
          <p:cNvSpPr>
            <a:spLocks noGrp="1"/>
          </p:cNvSpPr>
          <p:nvPr>
            <p:ph type="ftr" sz="quarter" idx="11"/>
          </p:nvPr>
        </p:nvSpPr>
        <p:spPr/>
        <p:txBody>
          <a:bodyPr/>
          <a:lstStyle/>
          <a:p>
            <a:r>
              <a:rPr lang="en-US" dirty="0"/>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117F320-BB53-4843-9385-58733BC3560E}" type="datetime1">
              <a:rPr lang="en-US" smtClean="0"/>
              <a:t>1/18/2026</a:t>
            </a:fld>
            <a:endParaRPr lang="en-US" dirty="0"/>
          </a:p>
        </p:txBody>
      </p:sp>
      <p:sp>
        <p:nvSpPr>
          <p:cNvPr id="6" name="Footer Placeholder 5"/>
          <p:cNvSpPr>
            <a:spLocks noGrp="1"/>
          </p:cNvSpPr>
          <p:nvPr>
            <p:ph type="ftr" sz="quarter" idx="11"/>
          </p:nvPr>
        </p:nvSpPr>
        <p:spPr/>
        <p:txBody>
          <a:bodyPr/>
          <a:lstStyle/>
          <a:p>
            <a:r>
              <a:rPr lang="en-US" dirty="0"/>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FD9ED-E3F4-41C7-AE43-1D3511F1AFC2}" type="datetime1">
              <a:rPr lang="en-US" smtClean="0"/>
              <a:t>1/18/2026</a:t>
            </a:fld>
            <a:endParaRPr lang="en-US" dirty="0"/>
          </a:p>
        </p:txBody>
      </p:sp>
      <p:sp>
        <p:nvSpPr>
          <p:cNvPr id="8" name="Footer Placeholder 7"/>
          <p:cNvSpPr>
            <a:spLocks noGrp="1"/>
          </p:cNvSpPr>
          <p:nvPr>
            <p:ph type="ftr" sz="quarter" idx="11"/>
          </p:nvPr>
        </p:nvSpPr>
        <p:spPr/>
        <p:txBody>
          <a:bodyPr/>
          <a:lstStyle/>
          <a:p>
            <a:r>
              <a:rPr lang="en-US" dirty="0"/>
              <a:t>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3C772A-FC31-4D1C-A38D-60731986BFED}" type="datetime1">
              <a:rPr lang="en-US" smtClean="0"/>
              <a:t>1/18/2026</a:t>
            </a:fld>
            <a:endParaRPr lang="en-US" dirty="0"/>
          </a:p>
        </p:txBody>
      </p:sp>
      <p:sp>
        <p:nvSpPr>
          <p:cNvPr id="4" name="Footer Placeholder 3"/>
          <p:cNvSpPr>
            <a:spLocks noGrp="1"/>
          </p:cNvSpPr>
          <p:nvPr>
            <p:ph type="ftr" sz="quarter" idx="11"/>
          </p:nvPr>
        </p:nvSpPr>
        <p:spPr/>
        <p:txBody>
          <a:bodyPr/>
          <a:lstStyle/>
          <a:p>
            <a:r>
              <a:rPr lang="en-US" dirty="0"/>
              <a:t>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88CEFE-0A22-490B-B68B-28D9CF81D55C}" type="datetime1">
              <a:rPr lang="en-US" smtClean="0"/>
              <a:t>1/18/2026</a:t>
            </a:fld>
            <a:endParaRPr lang="en-US" dirty="0"/>
          </a:p>
        </p:txBody>
      </p:sp>
      <p:sp>
        <p:nvSpPr>
          <p:cNvPr id="3" name="Footer Placeholder 2"/>
          <p:cNvSpPr>
            <a:spLocks noGrp="1"/>
          </p:cNvSpPr>
          <p:nvPr>
            <p:ph type="ftr" sz="quarter" idx="11"/>
          </p:nvPr>
        </p:nvSpPr>
        <p:spPr/>
        <p:txBody>
          <a:bodyPr/>
          <a:lstStyle/>
          <a:p>
            <a:r>
              <a:rPr lang="en-US" dirty="0"/>
              <a:t>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3A7BF1-897C-4D1E-A229-1EDDBB4FAD6E}" type="datetime1">
              <a:rPr lang="en-US" smtClean="0"/>
              <a:t>1/18/2026</a:t>
            </a:fld>
            <a:endParaRPr lang="en-US" dirty="0"/>
          </a:p>
        </p:txBody>
      </p:sp>
      <p:sp>
        <p:nvSpPr>
          <p:cNvPr id="6" name="Footer Placeholder 5"/>
          <p:cNvSpPr>
            <a:spLocks noGrp="1"/>
          </p:cNvSpPr>
          <p:nvPr>
            <p:ph type="ftr" sz="quarter" idx="11"/>
          </p:nvPr>
        </p:nvSpPr>
        <p:spPr/>
        <p:txBody>
          <a:bodyPr/>
          <a:lstStyle/>
          <a:p>
            <a:r>
              <a:rPr lang="en-US" dirty="0"/>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933D7F-CD62-48BF-B133-D097B80AB458}" type="datetime1">
              <a:rPr lang="en-US" smtClean="0"/>
              <a:t>1/18/2026</a:t>
            </a:fld>
            <a:endParaRPr lang="en-US" dirty="0"/>
          </a:p>
        </p:txBody>
      </p:sp>
      <p:sp>
        <p:nvSpPr>
          <p:cNvPr id="6" name="Footer Placeholder 5"/>
          <p:cNvSpPr>
            <a:spLocks noGrp="1"/>
          </p:cNvSpPr>
          <p:nvPr>
            <p:ph type="ftr" sz="quarter" idx="11"/>
          </p:nvPr>
        </p:nvSpPr>
        <p:spPr/>
        <p:txBody>
          <a:bodyPr/>
          <a:lstStyle/>
          <a:p>
            <a:r>
              <a:rPr lang="en-US" dirty="0"/>
              <a: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8B805-DC18-4315-960B-D482E1A2339B}" type="datetime1">
              <a:rPr lang="en-US" smtClean="0"/>
              <a:t>1/18/2026</a:t>
            </a:fld>
            <a:endParaRPr lang="en-US" dirty="0"/>
          </a:p>
        </p:txBody>
      </p:sp>
      <p:sp>
        <p:nvSpPr>
          <p:cNvPr id="5" name="Footer Placeholder 4"/>
          <p:cNvSpPr>
            <a:spLocks noGrp="1"/>
          </p:cNvSpPr>
          <p:nvPr>
            <p:ph type="ftr" sz="quarter" idx="11"/>
          </p:nvPr>
        </p:nvSpPr>
        <p:spPr/>
        <p:txBody>
          <a:bodyPr/>
          <a:lstStyle/>
          <a:p>
            <a:r>
              <a:rPr lang="en-US" dirty="0"/>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F30D2-20B9-47B9-924C-A0F86FC2E27A}" type="datetime1">
              <a:rPr lang="en-US" smtClean="0"/>
              <a:t>1/18/2026</a:t>
            </a:fld>
            <a:endParaRPr lang="en-US" dirty="0"/>
          </a:p>
        </p:txBody>
      </p:sp>
      <p:sp>
        <p:nvSpPr>
          <p:cNvPr id="5" name="Footer Placeholder 4"/>
          <p:cNvSpPr>
            <a:spLocks noGrp="1"/>
          </p:cNvSpPr>
          <p:nvPr>
            <p:ph type="ftr" sz="quarter" idx="11"/>
          </p:nvPr>
        </p:nvSpPr>
        <p:spPr/>
        <p:txBody>
          <a:bodyPr/>
          <a:lstStyle/>
          <a:p>
            <a:r>
              <a:rPr lang="en-US" dirty="0"/>
              <a: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4F01C-36E2-44EA-A001-7CA613AC951B}" type="datetime1">
              <a:rPr lang="en-US" smtClean="0"/>
              <a:t>1/18/2026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7ED957"/>
            </a:solidFill>
          </p:spPr>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dirty="0"/>
            </a:p>
          </p:txBody>
        </p:sp>
      </p:grpSp>
      <p:grpSp>
        <p:nvGrpSpPr>
          <p:cNvPr id="7" name="Group 7"/>
          <p:cNvGrpSpPr/>
          <p:nvPr/>
        </p:nvGrpSpPr>
        <p:grpSpPr>
          <a:xfrm>
            <a:off x="0" y="7109187"/>
            <a:ext cx="11842469" cy="3177813"/>
            <a:chOff x="0" y="0"/>
            <a:chExt cx="9357013" cy="2510865"/>
          </a:xfrm>
        </p:grpSpPr>
        <p:sp>
          <p:nvSpPr>
            <p:cNvPr id="8" name="Freeform 8"/>
            <p:cNvSpPr/>
            <p:nvPr/>
          </p:nvSpPr>
          <p:spPr>
            <a:xfrm>
              <a:off x="0" y="0"/>
              <a:ext cx="9357013" cy="2510865"/>
            </a:xfrm>
            <a:custGeom>
              <a:avLst/>
              <a:gdLst/>
              <a:ahLst/>
              <a:cxnLst/>
              <a:rect l="l" t="t" r="r" b="b"/>
              <a:pathLst>
                <a:path w="9357013" h="2510865">
                  <a:moveTo>
                    <a:pt x="0" y="0"/>
                  </a:moveTo>
                  <a:lnTo>
                    <a:pt x="9357013" y="0"/>
                  </a:lnTo>
                  <a:lnTo>
                    <a:pt x="9357013" y="2510865"/>
                  </a:lnTo>
                  <a:lnTo>
                    <a:pt x="0" y="2510865"/>
                  </a:lnTo>
                  <a:close/>
                </a:path>
              </a:pathLst>
            </a:custGeom>
            <a:solidFill>
              <a:srgbClr val="F6F6F6"/>
            </a:solidFill>
          </p:spPr>
          <p:txBody>
            <a:bodyPr/>
            <a:lstStyle/>
            <a:p>
              <a:endParaRPr lang="en-US" dirty="0"/>
            </a:p>
          </p:txBody>
        </p:sp>
        <p:sp>
          <p:nvSpPr>
            <p:cNvPr id="9" name="TextBox 9"/>
            <p:cNvSpPr txBox="1"/>
            <p:nvPr/>
          </p:nvSpPr>
          <p:spPr>
            <a:xfrm>
              <a:off x="0" y="-38100"/>
              <a:ext cx="9357013" cy="2548965"/>
            </a:xfrm>
            <a:prstGeom prst="rect">
              <a:avLst/>
            </a:prstGeom>
          </p:spPr>
          <p:txBody>
            <a:bodyPr lIns="50800" tIns="50800" rIns="50800" bIns="50800" rtlCol="0" anchor="ctr"/>
            <a:lstStyle/>
            <a:p>
              <a:pPr algn="ctr">
                <a:lnSpc>
                  <a:spcPts val="2659"/>
                </a:lnSpc>
              </a:pPr>
              <a:endParaRPr dirty="0"/>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7ED957"/>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7ED957"/>
            </a:solidFill>
          </p:spPr>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dirty="0"/>
            </a:p>
          </p:txBody>
        </p:sp>
      </p:grpSp>
      <p:grpSp>
        <p:nvGrpSpPr>
          <p:cNvPr id="19" name="Group 19"/>
          <p:cNvGrpSpPr/>
          <p:nvPr/>
        </p:nvGrpSpPr>
        <p:grpSpPr>
          <a:xfrm>
            <a:off x="10630891" y="514350"/>
            <a:ext cx="1977164" cy="1977164"/>
            <a:chOff x="0" y="0"/>
            <a:chExt cx="812800" cy="812800"/>
          </a:xfrm>
        </p:grpSpPr>
        <p:sp>
          <p:nvSpPr>
            <p:cNvPr id="20" name="Freeform 20"/>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7ED957">
                <a:alpha val="29804"/>
              </a:srgbClr>
            </a:solidFill>
          </p:spPr>
        </p:sp>
        <p:sp>
          <p:nvSpPr>
            <p:cNvPr id="21" name="TextBox 21"/>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grpSp>
      <p:sp>
        <p:nvSpPr>
          <p:cNvPr id="26" name="TextBox 26"/>
          <p:cNvSpPr txBox="1"/>
          <p:nvPr/>
        </p:nvSpPr>
        <p:spPr>
          <a:xfrm>
            <a:off x="2748023" y="626933"/>
            <a:ext cx="9967024" cy="9226052"/>
          </a:xfrm>
          <a:prstGeom prst="rect">
            <a:avLst/>
          </a:prstGeom>
        </p:spPr>
        <p:txBody>
          <a:bodyPr wrap="square" lIns="0" tIns="0" rIns="0" bIns="0" rtlCol="0" anchor="t">
            <a:spAutoFit/>
          </a:bodyPr>
          <a:lstStyle/>
          <a:p>
            <a:pPr algn="ctr">
              <a:lnSpc>
                <a:spcPct val="150000"/>
              </a:lnSpc>
            </a:pPr>
            <a:r>
              <a:rPr lang="en-US" sz="7200" b="1" dirty="0">
                <a:solidFill>
                  <a:srgbClr val="000000"/>
                </a:solidFill>
                <a:latin typeface="Garet Bold"/>
                <a:ea typeface="Garet Bold"/>
                <a:cs typeface="Garet Bold"/>
                <a:sym typeface="Garet Bold"/>
              </a:rPr>
              <a:t>AN AGRICULTURAL E-COMMERCE APP</a:t>
            </a:r>
          </a:p>
          <a:p>
            <a:pPr algn="ctr">
              <a:lnSpc>
                <a:spcPct val="150000"/>
              </a:lnSpc>
            </a:pPr>
            <a:endParaRPr lang="en-US" sz="2000" b="1" dirty="0">
              <a:solidFill>
                <a:srgbClr val="000000"/>
              </a:solidFill>
              <a:latin typeface="Californian FB" panose="0207040306080B030204" pitchFamily="18" charset="0"/>
              <a:ea typeface="Garet Bold"/>
              <a:cs typeface="Garet Bold"/>
              <a:sym typeface="Garet Bold"/>
            </a:endParaRPr>
          </a:p>
          <a:p>
            <a:pPr algn="ctr">
              <a:lnSpc>
                <a:spcPct val="150000"/>
              </a:lnSpc>
            </a:pPr>
            <a:r>
              <a:rPr lang="en-US" sz="3200" b="1" u="sng" dirty="0">
                <a:solidFill>
                  <a:srgbClr val="000000"/>
                </a:solidFill>
                <a:latin typeface="Times New Roman" panose="02020603050405020304" pitchFamily="18" charset="0"/>
                <a:ea typeface="Garet Bold"/>
                <a:cs typeface="Times New Roman" panose="02020603050405020304" pitchFamily="18" charset="0"/>
                <a:sym typeface="Garet Bold"/>
              </a:rPr>
              <a:t>A Design Project Presented By:</a:t>
            </a:r>
          </a:p>
          <a:p>
            <a:pPr algn="ctr">
              <a:lnSpc>
                <a:spcPct val="150000"/>
              </a:lnSpc>
            </a:pPr>
            <a:r>
              <a:rPr lang="en-US" sz="3600" dirty="0">
                <a:latin typeface="Times New Roman" panose="02020603050405020304" pitchFamily="18" charset="0"/>
                <a:cs typeface="Times New Roman" panose="02020603050405020304" pitchFamily="18" charset="0"/>
              </a:rPr>
              <a:t>NDIWANE TIMOTHY FUHNYUI (CT23A109)</a:t>
            </a:r>
          </a:p>
          <a:p>
            <a:pPr algn="ctr">
              <a:lnSpc>
                <a:spcPct val="150000"/>
              </a:lnSpc>
            </a:pPr>
            <a:r>
              <a:rPr lang="en-US" sz="3200" b="1" dirty="0">
                <a:solidFill>
                  <a:srgbClr val="000000"/>
                </a:solidFill>
                <a:latin typeface="Times New Roman" panose="02020603050405020304" pitchFamily="18" charset="0"/>
                <a:ea typeface="Garet Bold"/>
                <a:cs typeface="Times New Roman" panose="02020603050405020304" pitchFamily="18" charset="0"/>
                <a:sym typeface="Garet Bold"/>
              </a:rPr>
              <a:t>And</a:t>
            </a:r>
            <a:endParaRPr lang="en-US" sz="3600" b="1" dirty="0">
              <a:solidFill>
                <a:srgbClr val="000000"/>
              </a:solidFill>
              <a:latin typeface="Times New Roman" panose="02020603050405020304" pitchFamily="18" charset="0"/>
              <a:ea typeface="Garet Bold"/>
              <a:cs typeface="Times New Roman" panose="02020603050405020304" pitchFamily="18" charset="0"/>
              <a:sym typeface="Garet Bold"/>
            </a:endParaRPr>
          </a:p>
          <a:p>
            <a:pPr algn="ctr">
              <a:lnSpc>
                <a:spcPct val="150000"/>
              </a:lnSpc>
            </a:pPr>
            <a:r>
              <a:rPr lang="en-US" sz="3600" dirty="0">
                <a:latin typeface="Times New Roman" panose="02020603050405020304" pitchFamily="18" charset="0"/>
                <a:cs typeface="Times New Roman" panose="02020603050405020304" pitchFamily="18" charset="0"/>
              </a:rPr>
              <a:t>BENNETT NDONGTSOP TSAMO </a:t>
            </a:r>
            <a:r>
              <a:rPr lang="en-US" sz="3600" b="1" dirty="0">
                <a:solidFill>
                  <a:srgbClr val="000000"/>
                </a:solidFill>
                <a:latin typeface="Times New Roman" panose="02020603050405020304" pitchFamily="18" charset="0"/>
                <a:cs typeface="Times New Roman" panose="02020603050405020304" pitchFamily="18" charset="0"/>
                <a:sym typeface="Garet Bold"/>
              </a:rPr>
              <a:t>(</a:t>
            </a:r>
            <a:r>
              <a:rPr lang="en-US" sz="3600" dirty="0">
                <a:latin typeface="Times New Roman" panose="02020603050405020304" pitchFamily="18" charset="0"/>
                <a:cs typeface="Times New Roman" panose="02020603050405020304" pitchFamily="18" charset="0"/>
              </a:rPr>
              <a:t>CT24A530)</a:t>
            </a:r>
          </a:p>
          <a:p>
            <a:pPr algn="ctr">
              <a:lnSpc>
                <a:spcPct val="150000"/>
              </a:lnSpc>
            </a:pPr>
            <a:r>
              <a:rPr lang="en-US" sz="3200" b="1" dirty="0">
                <a:solidFill>
                  <a:srgbClr val="000000"/>
                </a:solidFill>
                <a:latin typeface="Times New Roman" panose="02020603050405020304" pitchFamily="18" charset="0"/>
                <a:ea typeface="Garet Bold"/>
                <a:cs typeface="Times New Roman" panose="02020603050405020304" pitchFamily="18" charset="0"/>
                <a:sym typeface="Garet Bold"/>
              </a:rPr>
              <a:t>Supervised By:</a:t>
            </a:r>
          </a:p>
          <a:p>
            <a:pPr algn="ctr">
              <a:lnSpc>
                <a:spcPct val="150000"/>
              </a:lnSpc>
            </a:pPr>
            <a:r>
              <a:rPr lang="en-US" sz="3600" dirty="0">
                <a:solidFill>
                  <a:srgbClr val="000000"/>
                </a:solidFill>
                <a:latin typeface="Times New Roman" panose="02020603050405020304" pitchFamily="18" charset="0"/>
                <a:ea typeface="Garet Bold"/>
                <a:cs typeface="Times New Roman" panose="02020603050405020304" pitchFamily="18" charset="0"/>
                <a:sym typeface="Garet Bold"/>
              </a:rPr>
              <a:t>Dr. </a:t>
            </a:r>
            <a:r>
              <a:rPr lang="en-US" sz="3600" dirty="0">
                <a:latin typeface="Times New Roman" panose="02020603050405020304" pitchFamily="18" charset="0"/>
                <a:cs typeface="Times New Roman" panose="02020603050405020304" pitchFamily="18" charset="0"/>
              </a:rPr>
              <a:t>MELINGUI </a:t>
            </a:r>
            <a:r>
              <a:rPr lang="en-US" sz="3600" dirty="0">
                <a:solidFill>
                  <a:srgbClr val="000000"/>
                </a:solidFill>
                <a:latin typeface="Times New Roman" panose="02020603050405020304" pitchFamily="18" charset="0"/>
                <a:cs typeface="Times New Roman" panose="02020603050405020304" pitchFamily="18" charset="0"/>
                <a:sym typeface="Garet Bold"/>
              </a:rPr>
              <a:t> MELONO</a:t>
            </a:r>
          </a:p>
          <a:p>
            <a:pPr algn="ctr">
              <a:lnSpc>
                <a:spcPct val="150000"/>
              </a:lnSpc>
            </a:pPr>
            <a:r>
              <a:rPr lang="en-US" sz="3600" dirty="0">
                <a:solidFill>
                  <a:srgbClr val="000000"/>
                </a:solidFill>
                <a:latin typeface="Times New Roman" panose="02020603050405020304" pitchFamily="18" charset="0"/>
                <a:ea typeface="Garet Bold"/>
                <a:cs typeface="Times New Roman" panose="02020603050405020304" pitchFamily="18" charset="0"/>
                <a:sym typeface="Garet Bold"/>
              </a:rPr>
              <a:t>24 JANUARY 2026</a:t>
            </a:r>
          </a:p>
        </p:txBody>
      </p:sp>
      <p:grpSp>
        <p:nvGrpSpPr>
          <p:cNvPr id="29" name="Group 29"/>
          <p:cNvGrpSpPr/>
          <p:nvPr/>
        </p:nvGrpSpPr>
        <p:grpSpPr>
          <a:xfrm>
            <a:off x="8484493" y="9014056"/>
            <a:ext cx="2545888" cy="2545888"/>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7ED957">
                  <a:alpha val="9804"/>
                </a:srgbClr>
              </a:solidFill>
              <a:prstDash val="solid"/>
              <a:miter/>
            </a:ln>
          </p:spPr>
          <p:txBody>
            <a:bodyPr/>
            <a:lstStyle/>
            <a:p>
              <a:endParaRPr lang="en-US" dirty="0"/>
            </a:p>
          </p:txBody>
        </p:sp>
        <p:sp>
          <p:nvSpPr>
            <p:cNvPr id="31" name="TextBox 3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pic>
        <p:nvPicPr>
          <p:cNvPr id="35" name="Picture 34">
            <a:extLst>
              <a:ext uri="{FF2B5EF4-FFF2-40B4-BE49-F238E27FC236}">
                <a16:creationId xmlns:a16="http://schemas.microsoft.com/office/drawing/2014/main" id="{7EC36CF3-3314-453B-9CF3-E6DEE8CBCC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301" y="0"/>
            <a:ext cx="4148357" cy="3543300"/>
          </a:xfrm>
          <a:prstGeom prst="rect">
            <a:avLst/>
          </a:prstGeom>
        </p:spPr>
      </p:pic>
      <p:pic>
        <p:nvPicPr>
          <p:cNvPr id="36" name="Picture 35">
            <a:extLst>
              <a:ext uri="{FF2B5EF4-FFF2-40B4-BE49-F238E27FC236}">
                <a16:creationId xmlns:a16="http://schemas.microsoft.com/office/drawing/2014/main" id="{6CB3C402-38EB-47CC-8C80-E5833F7768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68504" y="-60313"/>
            <a:ext cx="4490796" cy="10335220"/>
          </a:xfrm>
          <a:prstGeom prst="rect">
            <a:avLst/>
          </a:prstGeom>
        </p:spPr>
      </p:pic>
      <p:pic>
        <p:nvPicPr>
          <p:cNvPr id="38" name="Picture 37">
            <a:extLst>
              <a:ext uri="{FF2B5EF4-FFF2-40B4-BE49-F238E27FC236}">
                <a16:creationId xmlns:a16="http://schemas.microsoft.com/office/drawing/2014/main" id="{15C228A6-3BBC-49FF-A25C-0A77516314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04013" y="-64959"/>
            <a:ext cx="2538669" cy="340665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429000" y="7564598"/>
            <a:ext cx="16384057" cy="2808339"/>
            <a:chOff x="0" y="0"/>
            <a:chExt cx="9347345" cy="2510865"/>
          </a:xfrm>
        </p:grpSpPr>
        <p:sp>
          <p:nvSpPr>
            <p:cNvPr id="3" name="Freeform 3"/>
            <p:cNvSpPr/>
            <p:nvPr/>
          </p:nvSpPr>
          <p:spPr>
            <a:xfrm>
              <a:off x="0" y="0"/>
              <a:ext cx="9347345" cy="2510865"/>
            </a:xfrm>
            <a:custGeom>
              <a:avLst/>
              <a:gdLst/>
              <a:ahLst/>
              <a:cxnLst/>
              <a:rect l="l" t="t" r="r" b="b"/>
              <a:pathLst>
                <a:path w="9347345" h="2510865">
                  <a:moveTo>
                    <a:pt x="0" y="0"/>
                  </a:moveTo>
                  <a:lnTo>
                    <a:pt x="9347345" y="0"/>
                  </a:lnTo>
                  <a:lnTo>
                    <a:pt x="9347345" y="2510865"/>
                  </a:lnTo>
                  <a:lnTo>
                    <a:pt x="0" y="2510865"/>
                  </a:lnTo>
                  <a:close/>
                </a:path>
              </a:pathLst>
            </a:custGeom>
            <a:solidFill>
              <a:srgbClr val="F6F6F6"/>
            </a:solidFill>
          </p:spPr>
          <p:txBody>
            <a:bodyPr/>
            <a:lstStyle/>
            <a:p>
              <a:endParaRPr lang="en-US" dirty="0"/>
            </a:p>
          </p:txBody>
        </p:sp>
        <p:sp>
          <p:nvSpPr>
            <p:cNvPr id="4" name="TextBox 4"/>
            <p:cNvSpPr txBox="1"/>
            <p:nvPr/>
          </p:nvSpPr>
          <p:spPr>
            <a:xfrm>
              <a:off x="0" y="-38100"/>
              <a:ext cx="9347345" cy="2548965"/>
            </a:xfrm>
            <a:prstGeom prst="rect">
              <a:avLst/>
            </a:prstGeom>
          </p:spPr>
          <p:txBody>
            <a:bodyPr lIns="50800" tIns="50800" rIns="50800" bIns="50800" rtlCol="0" anchor="ctr"/>
            <a:lstStyle/>
            <a:p>
              <a:pPr algn="ctr">
                <a:lnSpc>
                  <a:spcPts val="2659"/>
                </a:lnSpc>
              </a:pPr>
              <a:endParaRPr dirty="0"/>
            </a:p>
          </p:txBody>
        </p:sp>
      </p:grpSp>
      <p:grpSp>
        <p:nvGrpSpPr>
          <p:cNvPr id="7" name="Group 7"/>
          <p:cNvGrpSpPr/>
          <p:nvPr/>
        </p:nvGrpSpPr>
        <p:grpSpPr>
          <a:xfrm>
            <a:off x="17259300" y="0"/>
            <a:ext cx="1694792" cy="10287000"/>
            <a:chOff x="0" y="0"/>
            <a:chExt cx="446365" cy="2709333"/>
          </a:xfrm>
        </p:grpSpPr>
        <p:sp>
          <p:nvSpPr>
            <p:cNvPr id="8" name="Freeform 8"/>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7ED957"/>
            </a:solidFill>
          </p:spPr>
        </p:sp>
        <p:sp>
          <p:nvSpPr>
            <p:cNvPr id="9" name="TextBox 9"/>
            <p:cNvSpPr txBox="1"/>
            <p:nvPr/>
          </p:nvSpPr>
          <p:spPr>
            <a:xfrm>
              <a:off x="0" y="-38100"/>
              <a:ext cx="446365" cy="2747433"/>
            </a:xfrm>
            <a:prstGeom prst="rect">
              <a:avLst/>
            </a:prstGeom>
          </p:spPr>
          <p:txBody>
            <a:bodyPr lIns="50800" tIns="50800" rIns="50800" bIns="50800" rtlCol="0" anchor="ctr"/>
            <a:lstStyle/>
            <a:p>
              <a:pPr algn="ctr">
                <a:lnSpc>
                  <a:spcPts val="2659"/>
                </a:lnSpc>
              </a:pPr>
              <a:endParaRPr dirty="0"/>
            </a:p>
          </p:txBody>
        </p:sp>
      </p:grpSp>
      <p:grpSp>
        <p:nvGrpSpPr>
          <p:cNvPr id="10" name="Group 10"/>
          <p:cNvGrpSpPr/>
          <p:nvPr/>
        </p:nvGrpSpPr>
        <p:grpSpPr>
          <a:xfrm>
            <a:off x="0" y="7109187"/>
            <a:ext cx="1028700" cy="3177813"/>
            <a:chOff x="0" y="0"/>
            <a:chExt cx="812800" cy="2510865"/>
          </a:xfrm>
        </p:grpSpPr>
        <p:sp>
          <p:nvSpPr>
            <p:cNvPr id="11" name="Freeform 11"/>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7ED957"/>
            </a:solidFill>
          </p:spPr>
        </p:sp>
        <p:sp>
          <p:nvSpPr>
            <p:cNvPr id="12" name="TextBox 12"/>
            <p:cNvSpPr txBox="1"/>
            <p:nvPr/>
          </p:nvSpPr>
          <p:spPr>
            <a:xfrm>
              <a:off x="0" y="-38100"/>
              <a:ext cx="812800" cy="2548965"/>
            </a:xfrm>
            <a:prstGeom prst="rect">
              <a:avLst/>
            </a:prstGeom>
          </p:spPr>
          <p:txBody>
            <a:bodyPr lIns="50800" tIns="50800" rIns="50800" bIns="50800" rtlCol="0" anchor="ctr"/>
            <a:lstStyle/>
            <a:p>
              <a:pPr algn="ctr">
                <a:lnSpc>
                  <a:spcPts val="2659"/>
                </a:lnSpc>
              </a:pPr>
              <a:endParaRPr dirty="0"/>
            </a:p>
          </p:txBody>
        </p:sp>
      </p:grpSp>
      <p:grpSp>
        <p:nvGrpSpPr>
          <p:cNvPr id="13" name="Group 13"/>
          <p:cNvGrpSpPr/>
          <p:nvPr/>
        </p:nvGrpSpPr>
        <p:grpSpPr>
          <a:xfrm>
            <a:off x="0" y="0"/>
            <a:ext cx="1028700" cy="1028700"/>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7ED957"/>
            </a:solidFill>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grpSp>
      <p:sp>
        <p:nvSpPr>
          <p:cNvPr id="16" name="TextBox 16"/>
          <p:cNvSpPr txBox="1"/>
          <p:nvPr/>
        </p:nvSpPr>
        <p:spPr>
          <a:xfrm>
            <a:off x="7297118" y="692526"/>
            <a:ext cx="7494647" cy="1155745"/>
          </a:xfrm>
          <a:prstGeom prst="rect">
            <a:avLst/>
          </a:prstGeom>
        </p:spPr>
        <p:txBody>
          <a:bodyPr lIns="0" tIns="0" rIns="0" bIns="0" rtlCol="0" anchor="t">
            <a:spAutoFit/>
          </a:bodyPr>
          <a:lstStyle/>
          <a:p>
            <a:pPr algn="l">
              <a:lnSpc>
                <a:spcPts val="9487"/>
              </a:lnSpc>
            </a:pPr>
            <a:r>
              <a:rPr lang="en-US" sz="6776" b="1" dirty="0">
                <a:solidFill>
                  <a:srgbClr val="000000"/>
                </a:solidFill>
                <a:latin typeface="Garet Bold"/>
                <a:ea typeface="Garet Bold"/>
                <a:cs typeface="Garet Bold"/>
                <a:sym typeface="Garet Bold"/>
              </a:rPr>
              <a:t>CONTENT</a:t>
            </a:r>
          </a:p>
        </p:txBody>
      </p:sp>
      <p:grpSp>
        <p:nvGrpSpPr>
          <p:cNvPr id="17" name="Group 17"/>
          <p:cNvGrpSpPr/>
          <p:nvPr/>
        </p:nvGrpSpPr>
        <p:grpSpPr>
          <a:xfrm>
            <a:off x="5426283" y="1912199"/>
            <a:ext cx="904595" cy="749002"/>
            <a:chOff x="0" y="0"/>
            <a:chExt cx="812800" cy="812800"/>
          </a:xfrm>
        </p:grpSpPr>
        <p:sp>
          <p:nvSpPr>
            <p:cNvPr id="18" name="Freeform 18"/>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19" name="TextBox 19"/>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01</a:t>
              </a:r>
            </a:p>
          </p:txBody>
        </p:sp>
      </p:grpSp>
      <p:grpSp>
        <p:nvGrpSpPr>
          <p:cNvPr id="20" name="Group 20"/>
          <p:cNvGrpSpPr/>
          <p:nvPr/>
        </p:nvGrpSpPr>
        <p:grpSpPr>
          <a:xfrm>
            <a:off x="5408514" y="2927850"/>
            <a:ext cx="969409" cy="823752"/>
            <a:chOff x="0" y="-2774"/>
            <a:chExt cx="812800" cy="815574"/>
          </a:xfrm>
        </p:grpSpPr>
        <p:sp>
          <p:nvSpPr>
            <p:cNvPr id="21" name="Freeform 21"/>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22" name="TextBox 22"/>
            <p:cNvSpPr txBox="1"/>
            <p:nvPr/>
          </p:nvSpPr>
          <p:spPr>
            <a:xfrm>
              <a:off x="14610" y="-2774"/>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02</a:t>
              </a:r>
            </a:p>
          </p:txBody>
        </p:sp>
      </p:grpSp>
      <p:grpSp>
        <p:nvGrpSpPr>
          <p:cNvPr id="23" name="Group 23"/>
          <p:cNvGrpSpPr/>
          <p:nvPr/>
        </p:nvGrpSpPr>
        <p:grpSpPr>
          <a:xfrm>
            <a:off x="5425939" y="3926834"/>
            <a:ext cx="969409" cy="913435"/>
            <a:chOff x="0" y="-3175"/>
            <a:chExt cx="812800" cy="815974"/>
          </a:xfrm>
        </p:grpSpPr>
        <p:sp>
          <p:nvSpPr>
            <p:cNvPr id="24" name="Freeform 24"/>
            <p:cNvSpPr/>
            <p:nvPr/>
          </p:nvSpPr>
          <p:spPr>
            <a:xfrm>
              <a:off x="0" y="-1"/>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25" name="TextBox 25"/>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03</a:t>
              </a:r>
            </a:p>
          </p:txBody>
        </p:sp>
      </p:grpSp>
      <p:grpSp>
        <p:nvGrpSpPr>
          <p:cNvPr id="26" name="Group 26"/>
          <p:cNvGrpSpPr/>
          <p:nvPr/>
        </p:nvGrpSpPr>
        <p:grpSpPr>
          <a:xfrm>
            <a:off x="5444134" y="5040556"/>
            <a:ext cx="969409" cy="793662"/>
            <a:chOff x="0" y="0"/>
            <a:chExt cx="812800" cy="812800"/>
          </a:xfrm>
        </p:grpSpPr>
        <p:sp>
          <p:nvSpPr>
            <p:cNvPr id="27" name="Freeform 27"/>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28" name="TextBox 28"/>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04</a:t>
              </a:r>
            </a:p>
          </p:txBody>
        </p:sp>
      </p:grpSp>
      <p:grpSp>
        <p:nvGrpSpPr>
          <p:cNvPr id="29" name="Group 29"/>
          <p:cNvGrpSpPr/>
          <p:nvPr/>
        </p:nvGrpSpPr>
        <p:grpSpPr>
          <a:xfrm>
            <a:off x="5432727" y="6119549"/>
            <a:ext cx="1011411" cy="941418"/>
            <a:chOff x="0" y="0"/>
            <a:chExt cx="812800" cy="812800"/>
          </a:xfrm>
        </p:grpSpPr>
        <p:sp>
          <p:nvSpPr>
            <p:cNvPr id="30" name="Freeform 3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31" name="TextBox 31"/>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05</a:t>
              </a:r>
            </a:p>
          </p:txBody>
        </p:sp>
      </p:grpSp>
      <p:grpSp>
        <p:nvGrpSpPr>
          <p:cNvPr id="32" name="Group 32"/>
          <p:cNvGrpSpPr/>
          <p:nvPr/>
        </p:nvGrpSpPr>
        <p:grpSpPr>
          <a:xfrm>
            <a:off x="5444134" y="7162064"/>
            <a:ext cx="1092724" cy="902710"/>
            <a:chOff x="0" y="-63500"/>
            <a:chExt cx="812800" cy="876300"/>
          </a:xfrm>
        </p:grpSpPr>
        <p:sp>
          <p:nvSpPr>
            <p:cNvPr id="33" name="Freeform 33"/>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34" name="TextBox 34"/>
            <p:cNvSpPr txBox="1"/>
            <p:nvPr/>
          </p:nvSpPr>
          <p:spPr>
            <a:xfrm>
              <a:off x="45007" y="-63500"/>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06</a:t>
              </a:r>
            </a:p>
          </p:txBody>
        </p:sp>
      </p:grpSp>
      <p:grpSp>
        <p:nvGrpSpPr>
          <p:cNvPr id="35" name="Group 35"/>
          <p:cNvGrpSpPr/>
          <p:nvPr/>
        </p:nvGrpSpPr>
        <p:grpSpPr>
          <a:xfrm>
            <a:off x="15011231" y="1028700"/>
            <a:ext cx="1652841" cy="1652841"/>
            <a:chOff x="0" y="0"/>
            <a:chExt cx="812800" cy="812800"/>
          </a:xfrm>
        </p:grpSpPr>
        <p:sp>
          <p:nvSpPr>
            <p:cNvPr id="36" name="Freeform 36"/>
            <p:cNvSpPr/>
            <p:nvPr/>
          </p:nvSpPr>
          <p:spPr>
            <a:xfrm>
              <a:off x="0" y="0"/>
              <a:ext cx="812800" cy="812800"/>
            </a:xfrm>
            <a:custGeom>
              <a:avLst/>
              <a:gdLst/>
              <a:ahLst/>
              <a:cxnLst/>
              <a:rect l="l" t="t" r="r" b="b"/>
              <a:pathLst>
                <a:path w="812800" h="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7ED957">
                <a:alpha val="29804"/>
              </a:srgbClr>
            </a:solidFill>
          </p:spPr>
        </p:sp>
        <p:sp>
          <p:nvSpPr>
            <p:cNvPr id="37" name="TextBox 37"/>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grpSp>
      <p:grpSp>
        <p:nvGrpSpPr>
          <p:cNvPr id="38" name="Group 38"/>
          <p:cNvGrpSpPr/>
          <p:nvPr/>
        </p:nvGrpSpPr>
        <p:grpSpPr>
          <a:xfrm>
            <a:off x="14814124" y="816351"/>
            <a:ext cx="771724" cy="771724"/>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7ED957">
                  <a:alpha val="40000"/>
                </a:srgbClr>
              </a:solidFill>
              <a:prstDash val="solid"/>
              <a:miter/>
            </a:ln>
          </p:spPr>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41" name="Group 41"/>
          <p:cNvGrpSpPr/>
          <p:nvPr/>
        </p:nvGrpSpPr>
        <p:grpSpPr>
          <a:xfrm>
            <a:off x="12919457" y="8414693"/>
            <a:ext cx="3744615" cy="3744615"/>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7ED957">
                  <a:alpha val="19608"/>
                </a:srgbClr>
              </a:solidFill>
              <a:prstDash val="solid"/>
              <a:miter/>
            </a:ln>
          </p:spPr>
        </p:sp>
        <p:sp>
          <p:nvSpPr>
            <p:cNvPr id="43" name="TextBox 4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sp>
        <p:nvSpPr>
          <p:cNvPr id="44" name="TextBox 44"/>
          <p:cNvSpPr txBox="1"/>
          <p:nvPr/>
        </p:nvSpPr>
        <p:spPr>
          <a:xfrm>
            <a:off x="6480458" y="2120312"/>
            <a:ext cx="3004730" cy="459741"/>
          </a:xfrm>
          <a:prstGeom prst="rect">
            <a:avLst/>
          </a:prstGeom>
        </p:spPr>
        <p:txBody>
          <a:bodyPr wrap="square" lIns="0" tIns="0" rIns="0" bIns="0" rtlCol="0" anchor="t">
            <a:spAutoFit/>
          </a:bodyPr>
          <a:lstStyle/>
          <a:p>
            <a:pPr algn="l">
              <a:lnSpc>
                <a:spcPts val="3499"/>
              </a:lnSpc>
            </a:pPr>
            <a:r>
              <a:rPr lang="en-US" sz="3200" dirty="0">
                <a:solidFill>
                  <a:srgbClr val="000000"/>
                </a:solidFill>
                <a:latin typeface="Garet"/>
                <a:ea typeface="Garet"/>
                <a:cs typeface="Garet"/>
                <a:sym typeface="Garet"/>
              </a:rPr>
              <a:t>Introduction</a:t>
            </a:r>
            <a:endParaRPr lang="en-US" sz="2800" dirty="0">
              <a:solidFill>
                <a:srgbClr val="000000"/>
              </a:solidFill>
              <a:latin typeface="Garet"/>
              <a:ea typeface="Garet"/>
              <a:cs typeface="Garet"/>
              <a:sym typeface="Garet"/>
            </a:endParaRPr>
          </a:p>
        </p:txBody>
      </p:sp>
      <p:sp>
        <p:nvSpPr>
          <p:cNvPr id="45" name="TextBox 45"/>
          <p:cNvSpPr txBox="1"/>
          <p:nvPr/>
        </p:nvSpPr>
        <p:spPr>
          <a:xfrm>
            <a:off x="6501344" y="3080437"/>
            <a:ext cx="4138442" cy="459741"/>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Literature Review</a:t>
            </a:r>
          </a:p>
        </p:txBody>
      </p:sp>
      <p:sp>
        <p:nvSpPr>
          <p:cNvPr id="46" name="TextBox 46"/>
          <p:cNvSpPr txBox="1"/>
          <p:nvPr/>
        </p:nvSpPr>
        <p:spPr>
          <a:xfrm>
            <a:off x="6501344" y="4110615"/>
            <a:ext cx="3905255" cy="448841"/>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Motivation for topic</a:t>
            </a:r>
          </a:p>
        </p:txBody>
      </p:sp>
      <p:sp>
        <p:nvSpPr>
          <p:cNvPr id="47" name="TextBox 47"/>
          <p:cNvSpPr txBox="1"/>
          <p:nvPr/>
        </p:nvSpPr>
        <p:spPr>
          <a:xfrm>
            <a:off x="6532121" y="5045527"/>
            <a:ext cx="3874478" cy="897682"/>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Project Aim and Objective</a:t>
            </a:r>
          </a:p>
        </p:txBody>
      </p:sp>
      <p:sp>
        <p:nvSpPr>
          <p:cNvPr id="48" name="TextBox 48"/>
          <p:cNvSpPr txBox="1"/>
          <p:nvPr/>
        </p:nvSpPr>
        <p:spPr>
          <a:xfrm>
            <a:off x="6532121" y="6416160"/>
            <a:ext cx="4107665" cy="448841"/>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Timeline</a:t>
            </a:r>
          </a:p>
        </p:txBody>
      </p:sp>
      <p:sp>
        <p:nvSpPr>
          <p:cNvPr id="49" name="TextBox 49"/>
          <p:cNvSpPr txBox="1"/>
          <p:nvPr/>
        </p:nvSpPr>
        <p:spPr>
          <a:xfrm>
            <a:off x="6620764" y="7143728"/>
            <a:ext cx="3785835" cy="897682"/>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Requirement analysis</a:t>
            </a:r>
          </a:p>
        </p:txBody>
      </p:sp>
      <p:pic>
        <p:nvPicPr>
          <p:cNvPr id="53" name="Picture 52">
            <a:extLst>
              <a:ext uri="{FF2B5EF4-FFF2-40B4-BE49-F238E27FC236}">
                <a16:creationId xmlns:a16="http://schemas.microsoft.com/office/drawing/2014/main" id="{896C7534-918C-480E-8FE7-98BDBE48A8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981" y="-48220"/>
            <a:ext cx="4394433" cy="10287000"/>
          </a:xfrm>
          <a:prstGeom prst="rect">
            <a:avLst/>
          </a:prstGeom>
        </p:spPr>
      </p:pic>
      <p:grpSp>
        <p:nvGrpSpPr>
          <p:cNvPr id="54" name="Group 32">
            <a:extLst>
              <a:ext uri="{FF2B5EF4-FFF2-40B4-BE49-F238E27FC236}">
                <a16:creationId xmlns:a16="http://schemas.microsoft.com/office/drawing/2014/main" id="{268A96AA-5A7C-4D17-A61E-1E279CAD51BA}"/>
              </a:ext>
            </a:extLst>
          </p:cNvPr>
          <p:cNvGrpSpPr/>
          <p:nvPr/>
        </p:nvGrpSpPr>
        <p:grpSpPr>
          <a:xfrm>
            <a:off x="5420930" y="8299154"/>
            <a:ext cx="1092724" cy="840567"/>
            <a:chOff x="0" y="-3175"/>
            <a:chExt cx="812800" cy="815975"/>
          </a:xfrm>
        </p:grpSpPr>
        <p:sp>
          <p:nvSpPr>
            <p:cNvPr id="55" name="Freeform 33">
              <a:extLst>
                <a:ext uri="{FF2B5EF4-FFF2-40B4-BE49-F238E27FC236}">
                  <a16:creationId xmlns:a16="http://schemas.microsoft.com/office/drawing/2014/main" id="{0F9FBD52-233C-4FC0-B47B-D993D1C0A9A4}"/>
                </a:ext>
              </a:extLst>
            </p:cNvPr>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56" name="TextBox 34">
              <a:extLst>
                <a:ext uri="{FF2B5EF4-FFF2-40B4-BE49-F238E27FC236}">
                  <a16:creationId xmlns:a16="http://schemas.microsoft.com/office/drawing/2014/main" id="{8BF836F8-EFCB-4728-B326-B8C781F3A0CA}"/>
                </a:ext>
              </a:extLst>
            </p:cNvPr>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07</a:t>
              </a:r>
            </a:p>
          </p:txBody>
        </p:sp>
      </p:grpSp>
      <p:grpSp>
        <p:nvGrpSpPr>
          <p:cNvPr id="57" name="Group 32">
            <a:extLst>
              <a:ext uri="{FF2B5EF4-FFF2-40B4-BE49-F238E27FC236}">
                <a16:creationId xmlns:a16="http://schemas.microsoft.com/office/drawing/2014/main" id="{91E8D51D-4468-45C8-B383-5899F57870BA}"/>
              </a:ext>
            </a:extLst>
          </p:cNvPr>
          <p:cNvGrpSpPr/>
          <p:nvPr/>
        </p:nvGrpSpPr>
        <p:grpSpPr>
          <a:xfrm>
            <a:off x="5420930" y="9320009"/>
            <a:ext cx="1092724" cy="840567"/>
            <a:chOff x="0" y="-3175"/>
            <a:chExt cx="812800" cy="815975"/>
          </a:xfrm>
        </p:grpSpPr>
        <p:sp>
          <p:nvSpPr>
            <p:cNvPr id="58" name="Freeform 33">
              <a:extLst>
                <a:ext uri="{FF2B5EF4-FFF2-40B4-BE49-F238E27FC236}">
                  <a16:creationId xmlns:a16="http://schemas.microsoft.com/office/drawing/2014/main" id="{48C64882-5356-4C33-A2D6-8C8D004225E6}"/>
                </a:ext>
              </a:extLst>
            </p:cNvPr>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59" name="TextBox 34">
              <a:extLst>
                <a:ext uri="{FF2B5EF4-FFF2-40B4-BE49-F238E27FC236}">
                  <a16:creationId xmlns:a16="http://schemas.microsoft.com/office/drawing/2014/main" id="{EE3F1623-07A1-49A8-8073-3B06F54A9AD3}"/>
                </a:ext>
              </a:extLst>
            </p:cNvPr>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08</a:t>
              </a:r>
            </a:p>
          </p:txBody>
        </p:sp>
      </p:grpSp>
      <p:sp>
        <p:nvSpPr>
          <p:cNvPr id="63" name="TextBox 49">
            <a:extLst>
              <a:ext uri="{FF2B5EF4-FFF2-40B4-BE49-F238E27FC236}">
                <a16:creationId xmlns:a16="http://schemas.microsoft.com/office/drawing/2014/main" id="{30BC2D01-2155-4716-83F3-F211AF77BC48}"/>
              </a:ext>
            </a:extLst>
          </p:cNvPr>
          <p:cNvSpPr txBox="1"/>
          <p:nvPr/>
        </p:nvSpPr>
        <p:spPr>
          <a:xfrm>
            <a:off x="6620763" y="8552037"/>
            <a:ext cx="3063589" cy="448841"/>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SWOT Analysis</a:t>
            </a:r>
            <a:endParaRPr lang="en-US" sz="2499" dirty="0">
              <a:solidFill>
                <a:srgbClr val="000000"/>
              </a:solidFill>
              <a:latin typeface="Garet"/>
              <a:ea typeface="Garet"/>
              <a:cs typeface="Garet"/>
              <a:sym typeface="Garet"/>
            </a:endParaRPr>
          </a:p>
        </p:txBody>
      </p:sp>
      <p:sp>
        <p:nvSpPr>
          <p:cNvPr id="64" name="TextBox 49">
            <a:extLst>
              <a:ext uri="{FF2B5EF4-FFF2-40B4-BE49-F238E27FC236}">
                <a16:creationId xmlns:a16="http://schemas.microsoft.com/office/drawing/2014/main" id="{7C3E27A9-0FF1-4AB9-9AD2-6A7044E369AD}"/>
              </a:ext>
            </a:extLst>
          </p:cNvPr>
          <p:cNvSpPr txBox="1"/>
          <p:nvPr/>
        </p:nvSpPr>
        <p:spPr>
          <a:xfrm>
            <a:off x="6603023" y="9301554"/>
            <a:ext cx="4613216" cy="897682"/>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Software Architecture</a:t>
            </a:r>
          </a:p>
          <a:p>
            <a:pPr algn="l">
              <a:lnSpc>
                <a:spcPts val="3499"/>
              </a:lnSpc>
            </a:pPr>
            <a:r>
              <a:rPr lang="en-US" sz="2800" dirty="0">
                <a:solidFill>
                  <a:srgbClr val="000000"/>
                </a:solidFill>
                <a:latin typeface="Garet"/>
                <a:ea typeface="Garet"/>
                <a:cs typeface="Garet"/>
                <a:sym typeface="Garet"/>
              </a:rPr>
              <a:t>(Tools)</a:t>
            </a:r>
          </a:p>
        </p:txBody>
      </p:sp>
      <p:grpSp>
        <p:nvGrpSpPr>
          <p:cNvPr id="65" name="Group 32">
            <a:extLst>
              <a:ext uri="{FF2B5EF4-FFF2-40B4-BE49-F238E27FC236}">
                <a16:creationId xmlns:a16="http://schemas.microsoft.com/office/drawing/2014/main" id="{D861E0DE-AE94-4523-A5A7-143A89BC99F7}"/>
              </a:ext>
            </a:extLst>
          </p:cNvPr>
          <p:cNvGrpSpPr/>
          <p:nvPr/>
        </p:nvGrpSpPr>
        <p:grpSpPr>
          <a:xfrm>
            <a:off x="10688462" y="2988086"/>
            <a:ext cx="1092724" cy="840567"/>
            <a:chOff x="0" y="-3175"/>
            <a:chExt cx="812800" cy="815975"/>
          </a:xfrm>
        </p:grpSpPr>
        <p:sp>
          <p:nvSpPr>
            <p:cNvPr id="66" name="Freeform 33">
              <a:extLst>
                <a:ext uri="{FF2B5EF4-FFF2-40B4-BE49-F238E27FC236}">
                  <a16:creationId xmlns:a16="http://schemas.microsoft.com/office/drawing/2014/main" id="{6ED20908-4F67-454B-9862-7FFF42661787}"/>
                </a:ext>
              </a:extLst>
            </p:cNvPr>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67" name="TextBox 34">
              <a:extLst>
                <a:ext uri="{FF2B5EF4-FFF2-40B4-BE49-F238E27FC236}">
                  <a16:creationId xmlns:a16="http://schemas.microsoft.com/office/drawing/2014/main" id="{D6D8744D-697F-4063-917C-6A3F9F1B7C2C}"/>
                </a:ext>
              </a:extLst>
            </p:cNvPr>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10</a:t>
              </a:r>
            </a:p>
          </p:txBody>
        </p:sp>
      </p:grpSp>
      <p:sp>
        <p:nvSpPr>
          <p:cNvPr id="68" name="TextBox 49">
            <a:extLst>
              <a:ext uri="{FF2B5EF4-FFF2-40B4-BE49-F238E27FC236}">
                <a16:creationId xmlns:a16="http://schemas.microsoft.com/office/drawing/2014/main" id="{95F66C9F-2701-477B-99DC-AF769A103681}"/>
              </a:ext>
            </a:extLst>
          </p:cNvPr>
          <p:cNvSpPr txBox="1"/>
          <p:nvPr/>
        </p:nvSpPr>
        <p:spPr>
          <a:xfrm>
            <a:off x="12029462" y="2170975"/>
            <a:ext cx="4568378" cy="448841"/>
          </a:xfrm>
          <a:prstGeom prst="rect">
            <a:avLst/>
          </a:prstGeom>
        </p:spPr>
        <p:txBody>
          <a:bodyPr wrap="square" lIns="0" tIns="0" rIns="0" bIns="0" rtlCol="0" anchor="t">
            <a:spAutoFit/>
          </a:bodyPr>
          <a:lstStyle/>
          <a:p>
            <a:pPr algn="l">
              <a:lnSpc>
                <a:spcPts val="3499"/>
              </a:lnSpc>
            </a:pPr>
            <a:r>
              <a:rPr lang="en-US" sz="2800" dirty="0">
                <a:solidFill>
                  <a:srgbClr val="000000"/>
                </a:solidFill>
                <a:latin typeface="Garet"/>
                <a:ea typeface="Garet"/>
                <a:cs typeface="Garet"/>
                <a:sym typeface="Garet"/>
              </a:rPr>
              <a:t>Software Architecture</a:t>
            </a:r>
          </a:p>
        </p:txBody>
      </p:sp>
      <p:grpSp>
        <p:nvGrpSpPr>
          <p:cNvPr id="61" name="Group 32">
            <a:extLst>
              <a:ext uri="{FF2B5EF4-FFF2-40B4-BE49-F238E27FC236}">
                <a16:creationId xmlns:a16="http://schemas.microsoft.com/office/drawing/2014/main" id="{C94C1292-299A-4B49-8D40-4ABFF5E35F27}"/>
              </a:ext>
            </a:extLst>
          </p:cNvPr>
          <p:cNvGrpSpPr/>
          <p:nvPr/>
        </p:nvGrpSpPr>
        <p:grpSpPr>
          <a:xfrm>
            <a:off x="10710395" y="2007820"/>
            <a:ext cx="1092724" cy="840567"/>
            <a:chOff x="0" y="-3175"/>
            <a:chExt cx="812800" cy="815975"/>
          </a:xfrm>
        </p:grpSpPr>
        <p:sp>
          <p:nvSpPr>
            <p:cNvPr id="62" name="Freeform 33">
              <a:extLst>
                <a:ext uri="{FF2B5EF4-FFF2-40B4-BE49-F238E27FC236}">
                  <a16:creationId xmlns:a16="http://schemas.microsoft.com/office/drawing/2014/main" id="{A1A95DAD-9333-40FE-BF23-A0CF4D232C2F}"/>
                </a:ext>
              </a:extLst>
            </p:cNvPr>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69" name="TextBox 34">
              <a:extLst>
                <a:ext uri="{FF2B5EF4-FFF2-40B4-BE49-F238E27FC236}">
                  <a16:creationId xmlns:a16="http://schemas.microsoft.com/office/drawing/2014/main" id="{3639BD1B-CC86-41ED-A9FB-E9824D39B11A}"/>
                </a:ext>
              </a:extLst>
            </p:cNvPr>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09</a:t>
              </a:r>
            </a:p>
          </p:txBody>
        </p:sp>
      </p:grpSp>
      <p:grpSp>
        <p:nvGrpSpPr>
          <p:cNvPr id="71" name="Group 32">
            <a:extLst>
              <a:ext uri="{FF2B5EF4-FFF2-40B4-BE49-F238E27FC236}">
                <a16:creationId xmlns:a16="http://schemas.microsoft.com/office/drawing/2014/main" id="{97353340-9099-44A2-BA48-63C91FD1A6AB}"/>
              </a:ext>
            </a:extLst>
          </p:cNvPr>
          <p:cNvGrpSpPr/>
          <p:nvPr/>
        </p:nvGrpSpPr>
        <p:grpSpPr>
          <a:xfrm>
            <a:off x="10753392" y="4182966"/>
            <a:ext cx="1092724" cy="837296"/>
            <a:chOff x="0" y="-16691"/>
            <a:chExt cx="812800" cy="812800"/>
          </a:xfrm>
        </p:grpSpPr>
        <p:sp>
          <p:nvSpPr>
            <p:cNvPr id="72" name="Freeform 33">
              <a:extLst>
                <a:ext uri="{FF2B5EF4-FFF2-40B4-BE49-F238E27FC236}">
                  <a16:creationId xmlns:a16="http://schemas.microsoft.com/office/drawing/2014/main" id="{B304C922-6347-4806-AA10-3FF24CAD57CC}"/>
                </a:ext>
              </a:extLst>
            </p:cNvPr>
            <p:cNvSpPr/>
            <p:nvPr/>
          </p:nvSpPr>
          <p:spPr>
            <a:xfrm>
              <a:off x="0" y="-16691"/>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73" name="TextBox 34">
              <a:extLst>
                <a:ext uri="{FF2B5EF4-FFF2-40B4-BE49-F238E27FC236}">
                  <a16:creationId xmlns:a16="http://schemas.microsoft.com/office/drawing/2014/main" id="{7FF34A7E-7F75-4559-81A6-DFB46060A3A9}"/>
                </a:ext>
              </a:extLst>
            </p:cNvPr>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11</a:t>
              </a:r>
            </a:p>
          </p:txBody>
        </p:sp>
      </p:grpSp>
      <p:sp>
        <p:nvSpPr>
          <p:cNvPr id="74" name="TextBox 73">
            <a:extLst>
              <a:ext uri="{FF2B5EF4-FFF2-40B4-BE49-F238E27FC236}">
                <a16:creationId xmlns:a16="http://schemas.microsoft.com/office/drawing/2014/main" id="{EB98A9D3-6317-4C00-9407-FA0CFEC464B4}"/>
              </a:ext>
            </a:extLst>
          </p:cNvPr>
          <p:cNvSpPr txBox="1"/>
          <p:nvPr/>
        </p:nvSpPr>
        <p:spPr>
          <a:xfrm>
            <a:off x="11948738" y="3187822"/>
            <a:ext cx="4568378" cy="541174"/>
          </a:xfrm>
          <a:prstGeom prst="rect">
            <a:avLst/>
          </a:prstGeom>
          <a:noFill/>
        </p:spPr>
        <p:txBody>
          <a:bodyPr wrap="square">
            <a:spAutoFit/>
          </a:bodyPr>
          <a:lstStyle/>
          <a:p>
            <a:pPr algn="l">
              <a:lnSpc>
                <a:spcPts val="3499"/>
              </a:lnSpc>
            </a:pPr>
            <a:r>
              <a:rPr lang="en-US" sz="2800" dirty="0">
                <a:solidFill>
                  <a:srgbClr val="000000"/>
                </a:solidFill>
                <a:latin typeface="Garet"/>
                <a:ea typeface="Garet"/>
                <a:cs typeface="Garet"/>
                <a:sym typeface="Garet"/>
              </a:rPr>
              <a:t>Methodology used</a:t>
            </a:r>
          </a:p>
        </p:txBody>
      </p:sp>
      <p:grpSp>
        <p:nvGrpSpPr>
          <p:cNvPr id="76" name="Group 32">
            <a:extLst>
              <a:ext uri="{FF2B5EF4-FFF2-40B4-BE49-F238E27FC236}">
                <a16:creationId xmlns:a16="http://schemas.microsoft.com/office/drawing/2014/main" id="{D928BFC2-A6F4-4705-AD5B-B389168D59CD}"/>
              </a:ext>
            </a:extLst>
          </p:cNvPr>
          <p:cNvGrpSpPr/>
          <p:nvPr/>
        </p:nvGrpSpPr>
        <p:grpSpPr>
          <a:xfrm>
            <a:off x="10773831" y="5294778"/>
            <a:ext cx="1092724" cy="837296"/>
            <a:chOff x="0" y="-16691"/>
            <a:chExt cx="812800" cy="812800"/>
          </a:xfrm>
        </p:grpSpPr>
        <p:sp>
          <p:nvSpPr>
            <p:cNvPr id="77" name="Freeform 33">
              <a:extLst>
                <a:ext uri="{FF2B5EF4-FFF2-40B4-BE49-F238E27FC236}">
                  <a16:creationId xmlns:a16="http://schemas.microsoft.com/office/drawing/2014/main" id="{E8645C11-8CD7-4044-8CA4-07C403051FB2}"/>
                </a:ext>
              </a:extLst>
            </p:cNvPr>
            <p:cNvSpPr/>
            <p:nvPr/>
          </p:nvSpPr>
          <p:spPr>
            <a:xfrm>
              <a:off x="0" y="-16691"/>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78" name="TextBox 34">
              <a:extLst>
                <a:ext uri="{FF2B5EF4-FFF2-40B4-BE49-F238E27FC236}">
                  <a16:creationId xmlns:a16="http://schemas.microsoft.com/office/drawing/2014/main" id="{9E34E76F-D1A2-4EB7-AED4-1987CA463C40}"/>
                </a:ext>
              </a:extLst>
            </p:cNvPr>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12</a:t>
              </a:r>
            </a:p>
          </p:txBody>
        </p:sp>
      </p:grpSp>
      <p:grpSp>
        <p:nvGrpSpPr>
          <p:cNvPr id="79" name="Group 32">
            <a:extLst>
              <a:ext uri="{FF2B5EF4-FFF2-40B4-BE49-F238E27FC236}">
                <a16:creationId xmlns:a16="http://schemas.microsoft.com/office/drawing/2014/main" id="{65713DC2-48DF-4F42-96C6-E7DED58B4207}"/>
              </a:ext>
            </a:extLst>
          </p:cNvPr>
          <p:cNvGrpSpPr/>
          <p:nvPr/>
        </p:nvGrpSpPr>
        <p:grpSpPr>
          <a:xfrm>
            <a:off x="10795764" y="6334526"/>
            <a:ext cx="1092724" cy="837296"/>
            <a:chOff x="0" y="-16691"/>
            <a:chExt cx="812800" cy="812800"/>
          </a:xfrm>
        </p:grpSpPr>
        <p:sp>
          <p:nvSpPr>
            <p:cNvPr id="80" name="Freeform 33">
              <a:extLst>
                <a:ext uri="{FF2B5EF4-FFF2-40B4-BE49-F238E27FC236}">
                  <a16:creationId xmlns:a16="http://schemas.microsoft.com/office/drawing/2014/main" id="{D1B3CD50-1DA5-409C-84E4-316F05892472}"/>
                </a:ext>
              </a:extLst>
            </p:cNvPr>
            <p:cNvSpPr/>
            <p:nvPr/>
          </p:nvSpPr>
          <p:spPr>
            <a:xfrm>
              <a:off x="0" y="-16691"/>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81" name="TextBox 34">
              <a:extLst>
                <a:ext uri="{FF2B5EF4-FFF2-40B4-BE49-F238E27FC236}">
                  <a16:creationId xmlns:a16="http://schemas.microsoft.com/office/drawing/2014/main" id="{8258B2F7-CEA0-4DAC-8D1C-7EA364C00DD1}"/>
                </a:ext>
              </a:extLst>
            </p:cNvPr>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13</a:t>
              </a:r>
            </a:p>
          </p:txBody>
        </p:sp>
      </p:grpSp>
      <p:grpSp>
        <p:nvGrpSpPr>
          <p:cNvPr id="82" name="Group 32">
            <a:extLst>
              <a:ext uri="{FF2B5EF4-FFF2-40B4-BE49-F238E27FC236}">
                <a16:creationId xmlns:a16="http://schemas.microsoft.com/office/drawing/2014/main" id="{969EF384-CA67-4190-B852-1F6D72A01094}"/>
              </a:ext>
            </a:extLst>
          </p:cNvPr>
          <p:cNvGrpSpPr/>
          <p:nvPr/>
        </p:nvGrpSpPr>
        <p:grpSpPr>
          <a:xfrm>
            <a:off x="10778230" y="7412198"/>
            <a:ext cx="1127791" cy="837296"/>
            <a:chOff x="-26084" y="-16691"/>
            <a:chExt cx="838884" cy="812800"/>
          </a:xfrm>
        </p:grpSpPr>
        <p:sp>
          <p:nvSpPr>
            <p:cNvPr id="83" name="Freeform 33">
              <a:extLst>
                <a:ext uri="{FF2B5EF4-FFF2-40B4-BE49-F238E27FC236}">
                  <a16:creationId xmlns:a16="http://schemas.microsoft.com/office/drawing/2014/main" id="{D6DA7775-D84C-48D3-8EEC-078596DCF9C2}"/>
                </a:ext>
              </a:extLst>
            </p:cNvPr>
            <p:cNvSpPr/>
            <p:nvPr/>
          </p:nvSpPr>
          <p:spPr>
            <a:xfrm>
              <a:off x="0" y="-16691"/>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84" name="TextBox 34">
              <a:extLst>
                <a:ext uri="{FF2B5EF4-FFF2-40B4-BE49-F238E27FC236}">
                  <a16:creationId xmlns:a16="http://schemas.microsoft.com/office/drawing/2014/main" id="{7E9B4C3D-95A8-41C4-8FAC-DF50A8174E75}"/>
                </a:ext>
              </a:extLst>
            </p:cNvPr>
            <p:cNvSpPr txBox="1"/>
            <p:nvPr/>
          </p:nvSpPr>
          <p:spPr>
            <a:xfrm>
              <a:off x="-26084" y="-3175"/>
              <a:ext cx="775384"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14</a:t>
              </a:r>
            </a:p>
          </p:txBody>
        </p:sp>
      </p:grpSp>
      <p:grpSp>
        <p:nvGrpSpPr>
          <p:cNvPr id="85" name="Group 32">
            <a:extLst>
              <a:ext uri="{FF2B5EF4-FFF2-40B4-BE49-F238E27FC236}">
                <a16:creationId xmlns:a16="http://schemas.microsoft.com/office/drawing/2014/main" id="{361A22A9-A5E8-437C-8E1D-3AD04DE9325B}"/>
              </a:ext>
            </a:extLst>
          </p:cNvPr>
          <p:cNvGrpSpPr/>
          <p:nvPr/>
        </p:nvGrpSpPr>
        <p:grpSpPr>
          <a:xfrm>
            <a:off x="10820947" y="8382951"/>
            <a:ext cx="1127791" cy="837296"/>
            <a:chOff x="-26084" y="-16691"/>
            <a:chExt cx="838884" cy="812800"/>
          </a:xfrm>
        </p:grpSpPr>
        <p:sp>
          <p:nvSpPr>
            <p:cNvPr id="86" name="Freeform 33">
              <a:extLst>
                <a:ext uri="{FF2B5EF4-FFF2-40B4-BE49-F238E27FC236}">
                  <a16:creationId xmlns:a16="http://schemas.microsoft.com/office/drawing/2014/main" id="{9FF27C06-C735-40EF-BFC0-C23D6BEB9E46}"/>
                </a:ext>
              </a:extLst>
            </p:cNvPr>
            <p:cNvSpPr/>
            <p:nvPr/>
          </p:nvSpPr>
          <p:spPr>
            <a:xfrm>
              <a:off x="0" y="-16691"/>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7ED957"/>
            </a:solidFill>
          </p:spPr>
        </p:sp>
        <p:sp>
          <p:nvSpPr>
            <p:cNvPr id="87" name="TextBox 34">
              <a:extLst>
                <a:ext uri="{FF2B5EF4-FFF2-40B4-BE49-F238E27FC236}">
                  <a16:creationId xmlns:a16="http://schemas.microsoft.com/office/drawing/2014/main" id="{EBD478A2-7260-4CB4-B52B-2591065EE4CA}"/>
                </a:ext>
              </a:extLst>
            </p:cNvPr>
            <p:cNvSpPr txBox="1"/>
            <p:nvPr/>
          </p:nvSpPr>
          <p:spPr>
            <a:xfrm>
              <a:off x="-26084" y="-3175"/>
              <a:ext cx="775384" cy="752475"/>
            </a:xfrm>
            <a:prstGeom prst="rect">
              <a:avLst/>
            </a:prstGeom>
          </p:spPr>
          <p:txBody>
            <a:bodyPr lIns="44470" tIns="44470" rIns="44470" bIns="44470" rtlCol="0" anchor="ctr"/>
            <a:lstStyle/>
            <a:p>
              <a:pPr algn="ctr">
                <a:lnSpc>
                  <a:spcPts val="4759"/>
                </a:lnSpc>
              </a:pPr>
              <a:r>
                <a:rPr lang="en-US" sz="3399" b="1" dirty="0">
                  <a:solidFill>
                    <a:srgbClr val="FFFFFF"/>
                  </a:solidFill>
                  <a:latin typeface="Garet Bold"/>
                  <a:ea typeface="Garet Bold"/>
                  <a:cs typeface="Garet Bold"/>
                  <a:sym typeface="Garet Bold"/>
                </a:rPr>
                <a:t>15</a:t>
              </a:r>
            </a:p>
          </p:txBody>
        </p:sp>
      </p:grpSp>
      <p:sp>
        <p:nvSpPr>
          <p:cNvPr id="92" name="TextBox 91">
            <a:extLst>
              <a:ext uri="{FF2B5EF4-FFF2-40B4-BE49-F238E27FC236}">
                <a16:creationId xmlns:a16="http://schemas.microsoft.com/office/drawing/2014/main" id="{3CC6B6BC-102C-422B-AE09-806F5848C9D6}"/>
              </a:ext>
            </a:extLst>
          </p:cNvPr>
          <p:cNvSpPr txBox="1"/>
          <p:nvPr/>
        </p:nvSpPr>
        <p:spPr>
          <a:xfrm>
            <a:off x="12032678" y="6283125"/>
            <a:ext cx="4568378" cy="990015"/>
          </a:xfrm>
          <a:prstGeom prst="rect">
            <a:avLst/>
          </a:prstGeom>
          <a:noFill/>
        </p:spPr>
        <p:txBody>
          <a:bodyPr wrap="square">
            <a:spAutoFit/>
          </a:bodyPr>
          <a:lstStyle/>
          <a:p>
            <a:pPr algn="l">
              <a:lnSpc>
                <a:spcPts val="3499"/>
              </a:lnSpc>
            </a:pPr>
            <a:r>
              <a:rPr lang="en-US" sz="2800" dirty="0">
                <a:solidFill>
                  <a:srgbClr val="000000"/>
                </a:solidFill>
                <a:latin typeface="Garet"/>
                <a:ea typeface="Garet"/>
                <a:cs typeface="Garet"/>
                <a:sym typeface="Garet"/>
              </a:rPr>
              <a:t>System design(ER diagram)</a:t>
            </a:r>
          </a:p>
        </p:txBody>
      </p:sp>
      <p:sp>
        <p:nvSpPr>
          <p:cNvPr id="93" name="TextBox 92">
            <a:extLst>
              <a:ext uri="{FF2B5EF4-FFF2-40B4-BE49-F238E27FC236}">
                <a16:creationId xmlns:a16="http://schemas.microsoft.com/office/drawing/2014/main" id="{AEA05595-2F40-4A63-AB63-7857A5611374}"/>
              </a:ext>
            </a:extLst>
          </p:cNvPr>
          <p:cNvSpPr txBox="1"/>
          <p:nvPr/>
        </p:nvSpPr>
        <p:spPr>
          <a:xfrm>
            <a:off x="12056275" y="5219619"/>
            <a:ext cx="4568378" cy="990015"/>
          </a:xfrm>
          <a:prstGeom prst="rect">
            <a:avLst/>
          </a:prstGeom>
          <a:noFill/>
        </p:spPr>
        <p:txBody>
          <a:bodyPr wrap="square">
            <a:spAutoFit/>
          </a:bodyPr>
          <a:lstStyle/>
          <a:p>
            <a:pPr algn="l">
              <a:lnSpc>
                <a:spcPts val="3499"/>
              </a:lnSpc>
            </a:pPr>
            <a:r>
              <a:rPr lang="en-US" sz="2800" dirty="0">
                <a:solidFill>
                  <a:srgbClr val="000000"/>
                </a:solidFill>
                <a:latin typeface="Garet"/>
                <a:ea typeface="Garet"/>
                <a:cs typeface="Garet"/>
                <a:sym typeface="Garet"/>
              </a:rPr>
              <a:t>System design(Class diagram)</a:t>
            </a:r>
          </a:p>
        </p:txBody>
      </p:sp>
      <p:sp>
        <p:nvSpPr>
          <p:cNvPr id="94" name="TextBox 93">
            <a:extLst>
              <a:ext uri="{FF2B5EF4-FFF2-40B4-BE49-F238E27FC236}">
                <a16:creationId xmlns:a16="http://schemas.microsoft.com/office/drawing/2014/main" id="{D07903B6-A8C1-4FCB-9CA0-750744BD4A3C}"/>
              </a:ext>
            </a:extLst>
          </p:cNvPr>
          <p:cNvSpPr txBox="1"/>
          <p:nvPr/>
        </p:nvSpPr>
        <p:spPr>
          <a:xfrm>
            <a:off x="12053691" y="4223563"/>
            <a:ext cx="4568378" cy="990015"/>
          </a:xfrm>
          <a:prstGeom prst="rect">
            <a:avLst/>
          </a:prstGeom>
          <a:noFill/>
        </p:spPr>
        <p:txBody>
          <a:bodyPr wrap="square">
            <a:spAutoFit/>
          </a:bodyPr>
          <a:lstStyle/>
          <a:p>
            <a:pPr algn="l">
              <a:lnSpc>
                <a:spcPts val="3499"/>
              </a:lnSpc>
            </a:pPr>
            <a:r>
              <a:rPr lang="en-US" sz="2800" dirty="0">
                <a:solidFill>
                  <a:srgbClr val="000000"/>
                </a:solidFill>
                <a:latin typeface="Garet"/>
                <a:ea typeface="Garet"/>
                <a:cs typeface="Garet"/>
                <a:sym typeface="Garet"/>
              </a:rPr>
              <a:t>System design(use case diagram</a:t>
            </a:r>
          </a:p>
        </p:txBody>
      </p:sp>
      <p:sp>
        <p:nvSpPr>
          <p:cNvPr id="95" name="TextBox 94">
            <a:extLst>
              <a:ext uri="{FF2B5EF4-FFF2-40B4-BE49-F238E27FC236}">
                <a16:creationId xmlns:a16="http://schemas.microsoft.com/office/drawing/2014/main" id="{C23F63F9-CF94-4075-80A2-A5FC1B1395F0}"/>
              </a:ext>
            </a:extLst>
          </p:cNvPr>
          <p:cNvSpPr txBox="1"/>
          <p:nvPr/>
        </p:nvSpPr>
        <p:spPr>
          <a:xfrm>
            <a:off x="12053691" y="7549640"/>
            <a:ext cx="4568378" cy="541174"/>
          </a:xfrm>
          <a:prstGeom prst="rect">
            <a:avLst/>
          </a:prstGeom>
          <a:noFill/>
        </p:spPr>
        <p:txBody>
          <a:bodyPr wrap="square">
            <a:spAutoFit/>
          </a:bodyPr>
          <a:lstStyle/>
          <a:p>
            <a:pPr algn="l">
              <a:lnSpc>
                <a:spcPts val="3499"/>
              </a:lnSpc>
            </a:pPr>
            <a:r>
              <a:rPr lang="en-US" sz="2800" dirty="0">
                <a:solidFill>
                  <a:srgbClr val="000000"/>
                </a:solidFill>
                <a:latin typeface="Garet"/>
                <a:ea typeface="Garet"/>
                <a:cs typeface="Garet"/>
                <a:sym typeface="Garet"/>
              </a:rPr>
              <a:t>System design(UI)</a:t>
            </a:r>
          </a:p>
        </p:txBody>
      </p:sp>
      <p:sp>
        <p:nvSpPr>
          <p:cNvPr id="96" name="TextBox 95">
            <a:extLst>
              <a:ext uri="{FF2B5EF4-FFF2-40B4-BE49-F238E27FC236}">
                <a16:creationId xmlns:a16="http://schemas.microsoft.com/office/drawing/2014/main" id="{F710B359-6108-4A2F-A347-6F2792367AA0}"/>
              </a:ext>
            </a:extLst>
          </p:cNvPr>
          <p:cNvSpPr txBox="1"/>
          <p:nvPr/>
        </p:nvSpPr>
        <p:spPr>
          <a:xfrm>
            <a:off x="12099675" y="8590222"/>
            <a:ext cx="4568378" cy="541174"/>
          </a:xfrm>
          <a:prstGeom prst="rect">
            <a:avLst/>
          </a:prstGeom>
          <a:noFill/>
        </p:spPr>
        <p:txBody>
          <a:bodyPr wrap="square">
            <a:spAutoFit/>
          </a:bodyPr>
          <a:lstStyle/>
          <a:p>
            <a:pPr algn="l">
              <a:lnSpc>
                <a:spcPts val="3499"/>
              </a:lnSpc>
            </a:pPr>
            <a:r>
              <a:rPr lang="en-US" sz="2800" dirty="0">
                <a:solidFill>
                  <a:srgbClr val="000000"/>
                </a:solidFill>
                <a:latin typeface="Garet"/>
                <a:ea typeface="Garet"/>
                <a:cs typeface="Garet"/>
                <a:sym typeface="Garet"/>
              </a:rPr>
              <a:t>Conclusion</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4761" y="60485"/>
            <a:ext cx="6087877" cy="10287000"/>
            <a:chOff x="0" y="0"/>
            <a:chExt cx="1783202" cy="2709333"/>
          </a:xfrm>
        </p:grpSpPr>
        <p:sp>
          <p:nvSpPr>
            <p:cNvPr id="3" name="Freeform 3"/>
            <p:cNvSpPr/>
            <p:nvPr/>
          </p:nvSpPr>
          <p:spPr>
            <a:xfrm>
              <a:off x="0" y="0"/>
              <a:ext cx="1783202" cy="2709333"/>
            </a:xfrm>
            <a:custGeom>
              <a:avLst/>
              <a:gdLst/>
              <a:ahLst/>
              <a:cxnLst/>
              <a:rect l="l" t="t" r="r" b="b"/>
              <a:pathLst>
                <a:path w="1783202" h="2709333">
                  <a:moveTo>
                    <a:pt x="0" y="0"/>
                  </a:moveTo>
                  <a:lnTo>
                    <a:pt x="1783202" y="0"/>
                  </a:lnTo>
                  <a:lnTo>
                    <a:pt x="1783202" y="2709333"/>
                  </a:lnTo>
                  <a:lnTo>
                    <a:pt x="0" y="2709333"/>
                  </a:lnTo>
                  <a:close/>
                </a:path>
              </a:pathLst>
            </a:custGeom>
            <a:solidFill>
              <a:srgbClr val="7ED957"/>
            </a:solidFill>
          </p:spPr>
        </p:sp>
        <p:sp>
          <p:nvSpPr>
            <p:cNvPr id="4" name="TextBox 4"/>
            <p:cNvSpPr txBox="1"/>
            <p:nvPr/>
          </p:nvSpPr>
          <p:spPr>
            <a:xfrm>
              <a:off x="0" y="-38100"/>
              <a:ext cx="1783202" cy="2747433"/>
            </a:xfrm>
            <a:prstGeom prst="rect">
              <a:avLst/>
            </a:prstGeom>
          </p:spPr>
          <p:txBody>
            <a:bodyPr lIns="50800" tIns="50800" rIns="50800" bIns="50800" rtlCol="0" anchor="ctr"/>
            <a:lstStyle/>
            <a:p>
              <a:pPr algn="ctr">
                <a:lnSpc>
                  <a:spcPts val="2659"/>
                </a:lnSpc>
              </a:pPr>
              <a:endParaRPr dirty="0"/>
            </a:p>
          </p:txBody>
        </p:sp>
      </p:grpSp>
      <p:sp>
        <p:nvSpPr>
          <p:cNvPr id="5" name="AutoShape 5"/>
          <p:cNvSpPr/>
          <p:nvPr/>
        </p:nvSpPr>
        <p:spPr>
          <a:xfrm>
            <a:off x="916626" y="1908720"/>
            <a:ext cx="3350574" cy="82361"/>
          </a:xfrm>
          <a:prstGeom prst="line">
            <a:avLst/>
          </a:prstGeom>
          <a:ln w="95250" cap="flat">
            <a:solidFill>
              <a:srgbClr val="FFFFFF"/>
            </a:solidFill>
            <a:prstDash val="solid"/>
            <a:headEnd type="none" w="sm" len="sm"/>
            <a:tailEnd type="none" w="sm" len="sm"/>
          </a:ln>
        </p:spPr>
      </p:sp>
      <p:sp>
        <p:nvSpPr>
          <p:cNvPr id="7" name="TextBox 7"/>
          <p:cNvSpPr txBox="1"/>
          <p:nvPr/>
        </p:nvSpPr>
        <p:spPr>
          <a:xfrm>
            <a:off x="128922" y="949956"/>
            <a:ext cx="5408889" cy="865622"/>
          </a:xfrm>
          <a:prstGeom prst="rect">
            <a:avLst/>
          </a:prstGeom>
        </p:spPr>
        <p:txBody>
          <a:bodyPr wrap="square" lIns="0" tIns="0" rIns="0" bIns="0" rtlCol="0" anchor="t">
            <a:spAutoFit/>
          </a:bodyPr>
          <a:lstStyle/>
          <a:p>
            <a:pPr algn="l">
              <a:lnSpc>
                <a:spcPts val="6999"/>
              </a:lnSpc>
            </a:pPr>
            <a:r>
              <a:rPr lang="en-US" sz="4999" b="1" spc="99" dirty="0">
                <a:solidFill>
                  <a:srgbClr val="FFFFFF"/>
                </a:solidFill>
                <a:latin typeface="Garet Bold"/>
                <a:ea typeface="Garet Bold"/>
                <a:cs typeface="Garet Bold"/>
                <a:sym typeface="Garet Bold"/>
              </a:rPr>
              <a:t>INTRODUCTION</a:t>
            </a:r>
          </a:p>
        </p:txBody>
      </p:sp>
      <p:grpSp>
        <p:nvGrpSpPr>
          <p:cNvPr id="23" name="Group 23"/>
          <p:cNvGrpSpPr/>
          <p:nvPr/>
        </p:nvGrpSpPr>
        <p:grpSpPr>
          <a:xfrm>
            <a:off x="15740861" y="6749958"/>
            <a:ext cx="4596322" cy="459632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id="25" name="TextBox 2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28" name="Group 28"/>
          <p:cNvGrpSpPr/>
          <p:nvPr/>
        </p:nvGrpSpPr>
        <p:grpSpPr>
          <a:xfrm rot="5400000">
            <a:off x="8278430" y="340111"/>
            <a:ext cx="1479329" cy="1479329"/>
            <a:chOff x="0" y="0"/>
            <a:chExt cx="812800" cy="812800"/>
          </a:xfrm>
        </p:grpSpPr>
        <p:sp>
          <p:nvSpPr>
            <p:cNvPr id="29" name="Freeform 29"/>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7ED957">
                <a:alpha val="29804"/>
              </a:srgbClr>
            </a:solidFill>
          </p:spPr>
        </p:sp>
        <p:sp>
          <p:nvSpPr>
            <p:cNvPr id="30" name="TextBox 30"/>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grpSp>
      <p:grpSp>
        <p:nvGrpSpPr>
          <p:cNvPr id="31" name="Group 31"/>
          <p:cNvGrpSpPr/>
          <p:nvPr/>
        </p:nvGrpSpPr>
        <p:grpSpPr>
          <a:xfrm rot="5400000">
            <a:off x="9293368" y="1219358"/>
            <a:ext cx="771724" cy="771724"/>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7ED957">
                  <a:alpha val="40000"/>
                </a:srgbClr>
              </a:solidFill>
              <a:prstDash val="solid"/>
              <a:miter/>
            </a:ln>
          </p:spPr>
        </p:sp>
        <p:sp>
          <p:nvSpPr>
            <p:cNvPr id="33" name="TextBox 3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34" name="Group 34"/>
          <p:cNvGrpSpPr/>
          <p:nvPr/>
        </p:nvGrpSpPr>
        <p:grpSpPr>
          <a:xfrm rot="5400000">
            <a:off x="5324660" y="9048119"/>
            <a:ext cx="596043" cy="596043"/>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id="36" name="TextBox 3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pic>
        <p:nvPicPr>
          <p:cNvPr id="40" name="Picture 39">
            <a:extLst>
              <a:ext uri="{FF2B5EF4-FFF2-40B4-BE49-F238E27FC236}">
                <a16:creationId xmlns:a16="http://schemas.microsoft.com/office/drawing/2014/main" id="{18F40000-AE88-4B90-AE64-9C90DB161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133" y="2777700"/>
            <a:ext cx="3824527" cy="4900724"/>
          </a:xfrm>
          <a:prstGeom prst="rect">
            <a:avLst/>
          </a:prstGeom>
        </p:spPr>
      </p:pic>
      <p:grpSp>
        <p:nvGrpSpPr>
          <p:cNvPr id="41" name="Group 28">
            <a:extLst>
              <a:ext uri="{FF2B5EF4-FFF2-40B4-BE49-F238E27FC236}">
                <a16:creationId xmlns:a16="http://schemas.microsoft.com/office/drawing/2014/main" id="{3EF6E652-45FA-4C2F-A1A8-F93F6B6F8B40}"/>
              </a:ext>
            </a:extLst>
          </p:cNvPr>
          <p:cNvGrpSpPr/>
          <p:nvPr/>
        </p:nvGrpSpPr>
        <p:grpSpPr>
          <a:xfrm rot="5400000">
            <a:off x="10212005" y="1538214"/>
            <a:ext cx="4559704" cy="5559345"/>
            <a:chOff x="-1692476" y="-2241717"/>
            <a:chExt cx="2505276" cy="3054517"/>
          </a:xfrm>
        </p:grpSpPr>
        <p:sp>
          <p:nvSpPr>
            <p:cNvPr id="42" name="Freeform 29">
              <a:extLst>
                <a:ext uri="{FF2B5EF4-FFF2-40B4-BE49-F238E27FC236}">
                  <a16:creationId xmlns:a16="http://schemas.microsoft.com/office/drawing/2014/main" id="{CC0A6E06-9741-49EA-81A3-46524B8EC43A}"/>
                </a:ext>
              </a:extLst>
            </p:cNvPr>
            <p:cNvSpPr/>
            <p:nvPr/>
          </p:nvSpPr>
          <p:spPr>
            <a:xfrm>
              <a:off x="0" y="-209336"/>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7ED957">
                <a:alpha val="29804"/>
              </a:srgbClr>
            </a:solidFill>
          </p:spPr>
        </p:sp>
        <p:sp>
          <p:nvSpPr>
            <p:cNvPr id="43" name="TextBox 30">
              <a:extLst>
                <a:ext uri="{FF2B5EF4-FFF2-40B4-BE49-F238E27FC236}">
                  <a16:creationId xmlns:a16="http://schemas.microsoft.com/office/drawing/2014/main" id="{0EA97591-9616-4BD9-831D-DD2A7FFA1D73}"/>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sp>
          <p:nvSpPr>
            <p:cNvPr id="44" name="Freeform 29">
              <a:extLst>
                <a:ext uri="{FF2B5EF4-FFF2-40B4-BE49-F238E27FC236}">
                  <a16:creationId xmlns:a16="http://schemas.microsoft.com/office/drawing/2014/main" id="{83D24FB5-A141-4FAC-9A25-5CF2EAF9DC3A}"/>
                </a:ext>
              </a:extLst>
            </p:cNvPr>
            <p:cNvSpPr/>
            <p:nvPr/>
          </p:nvSpPr>
          <p:spPr>
            <a:xfrm>
              <a:off x="-1692476" y="-2241717"/>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7ED957">
                <a:alpha val="29804"/>
              </a:srgbClr>
            </a:solidFill>
          </p:spPr>
        </p:sp>
      </p:grpSp>
      <p:sp>
        <p:nvSpPr>
          <p:cNvPr id="46" name="TextBox 45">
            <a:extLst>
              <a:ext uri="{FF2B5EF4-FFF2-40B4-BE49-F238E27FC236}">
                <a16:creationId xmlns:a16="http://schemas.microsoft.com/office/drawing/2014/main" id="{2D7BEFEA-8E92-4F48-855F-3C35A0020967}"/>
              </a:ext>
            </a:extLst>
          </p:cNvPr>
          <p:cNvSpPr txBox="1"/>
          <p:nvPr/>
        </p:nvSpPr>
        <p:spPr>
          <a:xfrm>
            <a:off x="6325866" y="623949"/>
            <a:ext cx="10493296" cy="9147441"/>
          </a:xfrm>
          <a:prstGeom prst="rect">
            <a:avLst/>
          </a:prstGeom>
          <a:noFill/>
        </p:spPr>
        <p:txBody>
          <a:bodyPr wrap="square">
            <a:spAutoFit/>
          </a:bodyPr>
          <a:lstStyle/>
          <a:p>
            <a:pPr marL="571500" indent="-571500" algn="just">
              <a:lnSpc>
                <a:spcPct val="150000"/>
              </a:lnSpc>
              <a:buFont typeface="Arial" panose="020B0604020202020204" pitchFamily="34" charset="0"/>
              <a:buChar char="•"/>
            </a:pPr>
            <a:r>
              <a:rPr lang="en-US" sz="3600" dirty="0"/>
              <a:t>Agriculture plays a vital role in Cameroon’s economy, employing a large percentage of the population and serving as a major source of food and income. Despite this importance, many small-scale farmers still face difficulties accessing reliable markets for their produce. </a:t>
            </a:r>
          </a:p>
          <a:p>
            <a:pPr marL="571500" indent="-571500" algn="just">
              <a:lnSpc>
                <a:spcPct val="150000"/>
              </a:lnSpc>
              <a:buFont typeface="Arial" panose="020B0604020202020204" pitchFamily="34" charset="0"/>
              <a:buChar char="•"/>
            </a:pPr>
            <a:r>
              <a:rPr lang="en-US" sz="3600" b="1" dirty="0"/>
              <a:t>Agrinexa</a:t>
            </a:r>
            <a:r>
              <a:rPr lang="en-US" sz="3600" dirty="0"/>
              <a:t> is a mobile-based agricultural marketplace designed to connect farmers directly with buyers, reduce the role of middlemen, and improve efficiency in agricultural trade through digital technology.</a:t>
            </a:r>
          </a:p>
        </p:txBody>
      </p:sp>
      <p:sp>
        <p:nvSpPr>
          <p:cNvPr id="26" name="TextBox 25">
            <a:extLst>
              <a:ext uri="{FF2B5EF4-FFF2-40B4-BE49-F238E27FC236}">
                <a16:creationId xmlns:a16="http://schemas.microsoft.com/office/drawing/2014/main" id="{F03250BC-F3DA-4801-9DFC-E0E397A88F35}"/>
              </a:ext>
            </a:extLst>
          </p:cNvPr>
          <p:cNvSpPr txBox="1"/>
          <p:nvPr/>
        </p:nvSpPr>
        <p:spPr>
          <a:xfrm>
            <a:off x="380781" y="9258819"/>
            <a:ext cx="755331" cy="901016"/>
          </a:xfrm>
          <a:prstGeom prst="rect">
            <a:avLst/>
          </a:prstGeom>
          <a:noFill/>
        </p:spPr>
        <p:txBody>
          <a:bodyPr wrap="square">
            <a:spAutoFit/>
          </a:bodyPr>
          <a:lstStyle/>
          <a:p>
            <a:pPr algn="l">
              <a:lnSpc>
                <a:spcPts val="6999"/>
              </a:lnSpc>
            </a:pPr>
            <a:r>
              <a:rPr lang="en-US" sz="4000" b="1" spc="99" dirty="0">
                <a:latin typeface="+mj-lt"/>
                <a:ea typeface="Garet Bold"/>
                <a:cs typeface="Garet Bold"/>
                <a:sym typeface="Garet Bold"/>
              </a:rPr>
              <a:t>01</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3811" y="0"/>
            <a:ext cx="4172412" cy="10287000"/>
            <a:chOff x="0" y="0"/>
            <a:chExt cx="1689989" cy="2709333"/>
          </a:xfrm>
        </p:grpSpPr>
        <p:sp>
          <p:nvSpPr>
            <p:cNvPr id="3" name="Freeform 3"/>
            <p:cNvSpPr/>
            <p:nvPr/>
          </p:nvSpPr>
          <p:spPr>
            <a:xfrm>
              <a:off x="0" y="0"/>
              <a:ext cx="1689989" cy="2709333"/>
            </a:xfrm>
            <a:custGeom>
              <a:avLst/>
              <a:gdLst/>
              <a:ahLst/>
              <a:cxnLst/>
              <a:rect l="l" t="t" r="r" b="b"/>
              <a:pathLst>
                <a:path w="1689989" h="2709333">
                  <a:moveTo>
                    <a:pt x="0" y="0"/>
                  </a:moveTo>
                  <a:lnTo>
                    <a:pt x="1689989" y="0"/>
                  </a:lnTo>
                  <a:lnTo>
                    <a:pt x="1689989" y="2709333"/>
                  </a:lnTo>
                  <a:lnTo>
                    <a:pt x="0" y="2709333"/>
                  </a:lnTo>
                  <a:close/>
                </a:path>
              </a:pathLst>
            </a:custGeom>
            <a:solidFill>
              <a:srgbClr val="7ED957"/>
            </a:solidFill>
          </p:spPr>
        </p:sp>
        <p:sp>
          <p:nvSpPr>
            <p:cNvPr id="4" name="TextBox 4"/>
            <p:cNvSpPr txBox="1"/>
            <p:nvPr/>
          </p:nvSpPr>
          <p:spPr>
            <a:xfrm>
              <a:off x="0" y="-38100"/>
              <a:ext cx="1689989" cy="2747433"/>
            </a:xfrm>
            <a:prstGeom prst="rect">
              <a:avLst/>
            </a:prstGeom>
          </p:spPr>
          <p:txBody>
            <a:bodyPr lIns="50800" tIns="50800" rIns="50800" bIns="50800" rtlCol="0" anchor="ctr"/>
            <a:lstStyle/>
            <a:p>
              <a:pPr algn="ctr">
                <a:lnSpc>
                  <a:spcPts val="2659"/>
                </a:lnSpc>
              </a:pPr>
              <a:endParaRPr dirty="0"/>
            </a:p>
          </p:txBody>
        </p:sp>
      </p:grpSp>
      <p:sp>
        <p:nvSpPr>
          <p:cNvPr id="5" name="AutoShape 5"/>
          <p:cNvSpPr/>
          <p:nvPr/>
        </p:nvSpPr>
        <p:spPr>
          <a:xfrm flipV="1">
            <a:off x="40890" y="2057707"/>
            <a:ext cx="3491125" cy="17833"/>
          </a:xfrm>
          <a:prstGeom prst="line">
            <a:avLst/>
          </a:prstGeom>
          <a:ln w="95250" cap="flat">
            <a:solidFill>
              <a:srgbClr val="FFFFFF"/>
            </a:solidFill>
            <a:prstDash val="solid"/>
            <a:headEnd type="none" w="sm" len="sm"/>
            <a:tailEnd type="none" w="sm" len="sm"/>
          </a:ln>
        </p:spPr>
      </p:sp>
      <p:sp>
        <p:nvSpPr>
          <p:cNvPr id="7" name="TextBox 7"/>
          <p:cNvSpPr txBox="1"/>
          <p:nvPr/>
        </p:nvSpPr>
        <p:spPr>
          <a:xfrm>
            <a:off x="-128965" y="199158"/>
            <a:ext cx="4167565" cy="1763303"/>
          </a:xfrm>
          <a:prstGeom prst="rect">
            <a:avLst/>
          </a:prstGeom>
        </p:spPr>
        <p:txBody>
          <a:bodyPr wrap="square" lIns="0" tIns="0" rIns="0" bIns="0" rtlCol="0" anchor="t">
            <a:spAutoFit/>
          </a:bodyPr>
          <a:lstStyle/>
          <a:p>
            <a:pPr algn="ctr">
              <a:lnSpc>
                <a:spcPts val="6999"/>
              </a:lnSpc>
            </a:pPr>
            <a:r>
              <a:rPr lang="en-US" sz="4999" b="1" spc="99" dirty="0">
                <a:solidFill>
                  <a:srgbClr val="FFFFFF"/>
                </a:solidFill>
                <a:latin typeface="Garet Bold"/>
                <a:ea typeface="Garet Bold"/>
                <a:cs typeface="Garet Bold"/>
                <a:sym typeface="Garet Bold"/>
              </a:rPr>
              <a:t>LITERATURE</a:t>
            </a:r>
          </a:p>
          <a:p>
            <a:pPr algn="ctr">
              <a:lnSpc>
                <a:spcPts val="6999"/>
              </a:lnSpc>
            </a:pPr>
            <a:r>
              <a:rPr lang="en-US" sz="4999" b="1" spc="99" dirty="0">
                <a:solidFill>
                  <a:srgbClr val="FFFFFF"/>
                </a:solidFill>
                <a:latin typeface="Garet Bold"/>
                <a:ea typeface="Garet Bold"/>
                <a:cs typeface="Garet Bold"/>
                <a:sym typeface="Garet Bold"/>
              </a:rPr>
              <a:t>REVIEW</a:t>
            </a:r>
          </a:p>
        </p:txBody>
      </p:sp>
      <p:grpSp>
        <p:nvGrpSpPr>
          <p:cNvPr id="17" name="Group 17"/>
          <p:cNvGrpSpPr/>
          <p:nvPr/>
        </p:nvGrpSpPr>
        <p:grpSpPr>
          <a:xfrm>
            <a:off x="4213302" y="177305"/>
            <a:ext cx="14043102" cy="3594596"/>
            <a:chOff x="-2322" y="-140662"/>
            <a:chExt cx="2064328" cy="799657"/>
          </a:xfrm>
        </p:grpSpPr>
        <p:sp>
          <p:nvSpPr>
            <p:cNvPr id="18" name="Freeform 18"/>
            <p:cNvSpPr/>
            <p:nvPr/>
          </p:nvSpPr>
          <p:spPr>
            <a:xfrm>
              <a:off x="-2322" y="-140662"/>
              <a:ext cx="2064328" cy="799657"/>
            </a:xfrm>
            <a:custGeom>
              <a:avLst/>
              <a:gdLst/>
              <a:ahLst/>
              <a:cxnLst/>
              <a:rect l="l" t="t" r="r" b="b"/>
              <a:pathLst>
                <a:path w="1968633" h="514648">
                  <a:moveTo>
                    <a:pt x="52824" y="0"/>
                  </a:moveTo>
                  <a:lnTo>
                    <a:pt x="1915809" y="0"/>
                  </a:lnTo>
                  <a:cubicBezTo>
                    <a:pt x="1929819" y="0"/>
                    <a:pt x="1943255" y="5565"/>
                    <a:pt x="1953161" y="15472"/>
                  </a:cubicBezTo>
                  <a:cubicBezTo>
                    <a:pt x="1963068" y="25378"/>
                    <a:pt x="1968633" y="38814"/>
                    <a:pt x="1968633" y="52824"/>
                  </a:cubicBezTo>
                  <a:lnTo>
                    <a:pt x="1968633" y="461825"/>
                  </a:lnTo>
                  <a:cubicBezTo>
                    <a:pt x="1968633" y="490998"/>
                    <a:pt x="1944983" y="514648"/>
                    <a:pt x="1915809" y="514648"/>
                  </a:cubicBezTo>
                  <a:lnTo>
                    <a:pt x="52824" y="514648"/>
                  </a:lnTo>
                  <a:cubicBezTo>
                    <a:pt x="38814" y="514648"/>
                    <a:pt x="25378" y="509083"/>
                    <a:pt x="15472" y="499176"/>
                  </a:cubicBezTo>
                  <a:cubicBezTo>
                    <a:pt x="5565" y="489270"/>
                    <a:pt x="0" y="475834"/>
                    <a:pt x="0" y="461825"/>
                  </a:cubicBezTo>
                  <a:lnTo>
                    <a:pt x="0" y="52824"/>
                  </a:lnTo>
                  <a:cubicBezTo>
                    <a:pt x="0" y="38814"/>
                    <a:pt x="5565" y="25378"/>
                    <a:pt x="15472" y="15472"/>
                  </a:cubicBezTo>
                  <a:cubicBezTo>
                    <a:pt x="25378" y="5565"/>
                    <a:pt x="38814" y="0"/>
                    <a:pt x="52824" y="0"/>
                  </a:cubicBezTo>
                  <a:close/>
                </a:path>
              </a:pathLst>
            </a:custGeom>
            <a:solidFill>
              <a:srgbClr val="E8ECEC"/>
            </a:solidFill>
          </p:spPr>
          <p:txBody>
            <a:bodyPr/>
            <a:lstStyle/>
            <a:p>
              <a:pPr marL="285750" indent="-285750">
                <a:lnSpc>
                  <a:spcPct val="150000"/>
                </a:lnSpc>
                <a:buFont typeface="Wingdings" panose="05000000000000000000" pitchFamily="2" charset="2"/>
                <a:buChar char="Ø"/>
              </a:pPr>
              <a:r>
                <a:rPr lang="en-US" sz="3600" b="1" dirty="0"/>
                <a:t>CropLink:  </a:t>
              </a:r>
              <a:r>
                <a:rPr lang="en-US" sz="2800" dirty="0"/>
                <a:t>CropLink is a mobile application  produce by </a:t>
              </a:r>
              <a:r>
                <a:rPr lang="en-US" sz="2800" b="1" dirty="0"/>
                <a:t>CropLink organization </a:t>
              </a:r>
              <a:r>
                <a:rPr lang="en-US" sz="2800" dirty="0"/>
                <a:t>in the year</a:t>
              </a:r>
              <a:r>
                <a:rPr lang="en-US" sz="2800" b="1" dirty="0"/>
                <a:t> 2021.</a:t>
              </a:r>
              <a:r>
                <a:rPr lang="en-US" sz="2800" dirty="0"/>
                <a:t> It is use by </a:t>
              </a:r>
              <a:r>
                <a:rPr lang="en-US" sz="2800" b="1" dirty="0"/>
                <a:t>Smallholder farmers in Cameroon</a:t>
              </a:r>
              <a:r>
                <a:rPr lang="en-US" sz="2800" dirty="0"/>
                <a:t> to get the different types of fertilizers which they can use for a particular crop.</a:t>
              </a:r>
            </a:p>
            <a:p>
              <a:pPr marL="457200" indent="-457200">
                <a:lnSpc>
                  <a:spcPct val="150000"/>
                </a:lnSpc>
                <a:buFont typeface="Arial" panose="020B0604020202020204" pitchFamily="34" charset="0"/>
                <a:buChar char="•"/>
              </a:pPr>
              <a:r>
                <a:rPr lang="en-US" sz="2800" b="1" dirty="0"/>
                <a:t>Strength: </a:t>
              </a:r>
              <a:r>
                <a:rPr lang="en-US" sz="2800" dirty="0"/>
                <a:t>It helps farmers improve their rate of productivity.</a:t>
              </a:r>
            </a:p>
            <a:p>
              <a:pPr marL="457200" indent="-457200">
                <a:lnSpc>
                  <a:spcPct val="150000"/>
                </a:lnSpc>
                <a:buFont typeface="Arial" panose="020B0604020202020204" pitchFamily="34" charset="0"/>
                <a:buChar char="•"/>
              </a:pPr>
              <a:r>
                <a:rPr lang="en-US" sz="2800" b="1" dirty="0"/>
                <a:t>Weaknesses: </a:t>
              </a:r>
              <a:r>
                <a:rPr lang="en-US" sz="2800" dirty="0"/>
                <a:t>farmers can not sell their product through this application to buyer</a:t>
              </a:r>
              <a:r>
                <a:rPr lang="en-US" sz="3200" dirty="0"/>
                <a:t>.</a:t>
              </a:r>
            </a:p>
          </p:txBody>
        </p:sp>
        <p:sp>
          <p:nvSpPr>
            <p:cNvPr id="19" name="TextBox 19"/>
            <p:cNvSpPr txBox="1"/>
            <p:nvPr/>
          </p:nvSpPr>
          <p:spPr>
            <a:xfrm>
              <a:off x="0" y="-38100"/>
              <a:ext cx="1968633" cy="552748"/>
            </a:xfrm>
            <a:prstGeom prst="rect">
              <a:avLst/>
            </a:prstGeom>
          </p:spPr>
          <p:txBody>
            <a:bodyPr lIns="50800" tIns="50800" rIns="50800" bIns="50800" rtlCol="0" anchor="ctr"/>
            <a:lstStyle/>
            <a:p>
              <a:pPr algn="ctr">
                <a:lnSpc>
                  <a:spcPts val="2659"/>
                </a:lnSpc>
              </a:pPr>
              <a:endParaRPr dirty="0"/>
            </a:p>
          </p:txBody>
        </p:sp>
      </p:grpSp>
      <p:grpSp>
        <p:nvGrpSpPr>
          <p:cNvPr id="28" name="Group 28"/>
          <p:cNvGrpSpPr/>
          <p:nvPr/>
        </p:nvGrpSpPr>
        <p:grpSpPr>
          <a:xfrm>
            <a:off x="4213301" y="3893863"/>
            <a:ext cx="14043102" cy="3654196"/>
            <a:chOff x="-17260" y="-38100"/>
            <a:chExt cx="1988491" cy="552748"/>
          </a:xfrm>
        </p:grpSpPr>
        <p:sp>
          <p:nvSpPr>
            <p:cNvPr id="29" name="Freeform 29"/>
            <p:cNvSpPr/>
            <p:nvPr/>
          </p:nvSpPr>
          <p:spPr>
            <a:xfrm>
              <a:off x="-17260" y="0"/>
              <a:ext cx="1988491" cy="514648"/>
            </a:xfrm>
            <a:custGeom>
              <a:avLst/>
              <a:gdLst/>
              <a:ahLst/>
              <a:cxnLst/>
              <a:rect l="l" t="t" r="r" b="b"/>
              <a:pathLst>
                <a:path w="1968633" h="514648">
                  <a:moveTo>
                    <a:pt x="52824" y="0"/>
                  </a:moveTo>
                  <a:lnTo>
                    <a:pt x="1915809" y="0"/>
                  </a:lnTo>
                  <a:cubicBezTo>
                    <a:pt x="1929819" y="0"/>
                    <a:pt x="1943255" y="5565"/>
                    <a:pt x="1953161" y="15472"/>
                  </a:cubicBezTo>
                  <a:cubicBezTo>
                    <a:pt x="1963068" y="25378"/>
                    <a:pt x="1968633" y="38814"/>
                    <a:pt x="1968633" y="52824"/>
                  </a:cubicBezTo>
                  <a:lnTo>
                    <a:pt x="1968633" y="461825"/>
                  </a:lnTo>
                  <a:cubicBezTo>
                    <a:pt x="1968633" y="490998"/>
                    <a:pt x="1944983" y="514648"/>
                    <a:pt x="1915809" y="514648"/>
                  </a:cubicBezTo>
                  <a:lnTo>
                    <a:pt x="52824" y="514648"/>
                  </a:lnTo>
                  <a:cubicBezTo>
                    <a:pt x="38814" y="514648"/>
                    <a:pt x="25378" y="509083"/>
                    <a:pt x="15472" y="499176"/>
                  </a:cubicBezTo>
                  <a:cubicBezTo>
                    <a:pt x="5565" y="489270"/>
                    <a:pt x="0" y="475834"/>
                    <a:pt x="0" y="461825"/>
                  </a:cubicBezTo>
                  <a:lnTo>
                    <a:pt x="0" y="52824"/>
                  </a:lnTo>
                  <a:cubicBezTo>
                    <a:pt x="0" y="38814"/>
                    <a:pt x="5565" y="25378"/>
                    <a:pt x="15472" y="15472"/>
                  </a:cubicBezTo>
                  <a:cubicBezTo>
                    <a:pt x="25378" y="5565"/>
                    <a:pt x="38814" y="0"/>
                    <a:pt x="52824" y="0"/>
                  </a:cubicBezTo>
                  <a:close/>
                </a:path>
              </a:pathLst>
            </a:custGeom>
            <a:solidFill>
              <a:srgbClr val="E8ECEC"/>
            </a:solidFill>
          </p:spPr>
          <p:txBody>
            <a:bodyPr/>
            <a:lstStyle/>
            <a:p>
              <a:endParaRPr lang="en-US" dirty="0"/>
            </a:p>
          </p:txBody>
        </p:sp>
        <p:sp>
          <p:nvSpPr>
            <p:cNvPr id="30" name="TextBox 30"/>
            <p:cNvSpPr txBox="1"/>
            <p:nvPr/>
          </p:nvSpPr>
          <p:spPr>
            <a:xfrm>
              <a:off x="0" y="-38100"/>
              <a:ext cx="1968633" cy="552748"/>
            </a:xfrm>
            <a:prstGeom prst="rect">
              <a:avLst/>
            </a:prstGeom>
          </p:spPr>
          <p:txBody>
            <a:bodyPr lIns="50800" tIns="50800" rIns="50800" bIns="50800" rtlCol="0" anchor="ctr"/>
            <a:lstStyle/>
            <a:p>
              <a:pPr algn="ctr">
                <a:lnSpc>
                  <a:spcPts val="2659"/>
                </a:lnSpc>
              </a:pPr>
              <a:endParaRPr dirty="0"/>
            </a:p>
          </p:txBody>
        </p:sp>
      </p:grpSp>
      <p:sp>
        <p:nvSpPr>
          <p:cNvPr id="31" name="TextBox 31"/>
          <p:cNvSpPr txBox="1"/>
          <p:nvPr/>
        </p:nvSpPr>
        <p:spPr>
          <a:xfrm>
            <a:off x="4336766" y="4098068"/>
            <a:ext cx="13915397" cy="3340017"/>
          </a:xfrm>
          <a:prstGeom prst="rect">
            <a:avLst/>
          </a:prstGeom>
        </p:spPr>
        <p:txBody>
          <a:bodyPr wrap="square" lIns="0" tIns="0" rIns="0" bIns="0" rtlCol="0" anchor="t">
            <a:spAutoFit/>
          </a:bodyPr>
          <a:lstStyle/>
          <a:p>
            <a:pPr marL="342900" lvl="0" indent="-342900" algn="just">
              <a:lnSpc>
                <a:spcPct val="150000"/>
              </a:lnSpc>
              <a:buFont typeface="Wingdings" panose="05000000000000000000" pitchFamily="2" charset="2"/>
              <a:buChar char="Ø"/>
            </a:pPr>
            <a:r>
              <a:rPr lang="en-US" sz="3200" b="1" dirty="0" err="1">
                <a:solidFill>
                  <a:srgbClr val="000000"/>
                </a:solidFill>
                <a:latin typeface="+mj-lt"/>
                <a:ea typeface="Open Sans"/>
                <a:cs typeface="Open Sans"/>
                <a:sym typeface="Open Sans"/>
              </a:rPr>
              <a:t>eFama</a:t>
            </a:r>
            <a:r>
              <a:rPr lang="en-US" sz="3200" b="1" dirty="0">
                <a:solidFill>
                  <a:srgbClr val="000000"/>
                </a:solidFill>
                <a:latin typeface="+mj-lt"/>
                <a:ea typeface="Open Sans"/>
                <a:cs typeface="Open Sans"/>
                <a:sym typeface="Open Sans"/>
              </a:rPr>
              <a:t>: </a:t>
            </a:r>
            <a:r>
              <a:rPr lang="en-US" sz="2800" dirty="0">
                <a:solidFill>
                  <a:srgbClr val="000000"/>
                </a:solidFill>
                <a:latin typeface="+mj-lt"/>
                <a:ea typeface="Open Sans"/>
                <a:cs typeface="Open Sans"/>
                <a:sym typeface="Open Sans"/>
              </a:rPr>
              <a:t>An agricultural mobile app that connect buyers directly to farmers, Restaurants. It was founded by </a:t>
            </a:r>
            <a:r>
              <a:rPr lang="en-US" sz="2800" b="1" dirty="0">
                <a:solidFill>
                  <a:srgbClr val="000000"/>
                </a:solidFill>
                <a:latin typeface="+mj-lt"/>
                <a:ea typeface="Open Sans"/>
                <a:cs typeface="Open Sans"/>
                <a:sym typeface="Open Sans"/>
              </a:rPr>
              <a:t>Shadrack Kubyane (CEO) </a:t>
            </a:r>
            <a:r>
              <a:rPr lang="en-US" sz="2800" dirty="0">
                <a:solidFill>
                  <a:srgbClr val="000000"/>
                </a:solidFill>
                <a:latin typeface="+mj-lt"/>
                <a:ea typeface="Open Sans"/>
                <a:cs typeface="Open Sans"/>
                <a:sym typeface="Open Sans"/>
              </a:rPr>
              <a:t>and </a:t>
            </a:r>
            <a:r>
              <a:rPr lang="en-US" sz="2800" b="1" dirty="0">
                <a:solidFill>
                  <a:srgbClr val="000000"/>
                </a:solidFill>
                <a:latin typeface="+mj-lt"/>
                <a:ea typeface="Open Sans"/>
                <a:cs typeface="Open Sans"/>
                <a:sym typeface="Open Sans"/>
              </a:rPr>
              <a:t>Pretty Kubyane </a:t>
            </a:r>
            <a:r>
              <a:rPr lang="en-US" sz="2800" dirty="0">
                <a:solidFill>
                  <a:srgbClr val="000000"/>
                </a:solidFill>
                <a:latin typeface="+mj-lt"/>
                <a:ea typeface="Open Sans"/>
                <a:cs typeface="Open Sans"/>
                <a:sym typeface="Open Sans"/>
              </a:rPr>
              <a:t>in the </a:t>
            </a:r>
            <a:r>
              <a:rPr lang="en-US" sz="2800" b="1" dirty="0">
                <a:solidFill>
                  <a:srgbClr val="000000"/>
                </a:solidFill>
                <a:latin typeface="+mj-lt"/>
                <a:ea typeface="Open Sans"/>
                <a:cs typeface="Open Sans"/>
                <a:sym typeface="Open Sans"/>
              </a:rPr>
              <a:t>year 2022</a:t>
            </a:r>
          </a:p>
          <a:p>
            <a:pPr marL="342900" lvl="0" indent="-342900" algn="just">
              <a:lnSpc>
                <a:spcPct val="150000"/>
              </a:lnSpc>
              <a:buFont typeface="Arial" panose="020B0604020202020204" pitchFamily="34" charset="0"/>
              <a:buChar char="•"/>
            </a:pPr>
            <a:r>
              <a:rPr lang="en-US" sz="2800" b="1" dirty="0">
                <a:solidFill>
                  <a:srgbClr val="000000"/>
                </a:solidFill>
                <a:latin typeface="+mj-lt"/>
                <a:ea typeface="Open Sans"/>
                <a:cs typeface="Open Sans"/>
                <a:sym typeface="Open Sans"/>
              </a:rPr>
              <a:t>Strength: </a:t>
            </a:r>
            <a:r>
              <a:rPr lang="en-US" sz="2800" dirty="0">
                <a:solidFill>
                  <a:srgbClr val="000000"/>
                </a:solidFill>
                <a:latin typeface="+mj-lt"/>
                <a:ea typeface="Open Sans"/>
                <a:cs typeface="Open Sans"/>
                <a:sym typeface="Open Sans"/>
              </a:rPr>
              <a:t>It give farmer the ability to sell their product easily.</a:t>
            </a:r>
          </a:p>
          <a:p>
            <a:pPr marL="342900" lvl="0" indent="-342900" algn="just">
              <a:lnSpc>
                <a:spcPct val="150000"/>
              </a:lnSpc>
              <a:buFont typeface="Arial" panose="020B0604020202020204" pitchFamily="34" charset="0"/>
              <a:buChar char="•"/>
            </a:pPr>
            <a:r>
              <a:rPr lang="en-US" sz="2800" b="1" dirty="0">
                <a:solidFill>
                  <a:srgbClr val="000000"/>
                </a:solidFill>
                <a:latin typeface="+mj-lt"/>
                <a:ea typeface="Open Sans"/>
                <a:cs typeface="Open Sans"/>
                <a:sym typeface="Open Sans"/>
              </a:rPr>
              <a:t>Weakness</a:t>
            </a:r>
            <a:r>
              <a:rPr lang="en-US" sz="2800" dirty="0">
                <a:solidFill>
                  <a:srgbClr val="000000"/>
                </a:solidFill>
                <a:latin typeface="+mj-lt"/>
                <a:ea typeface="Open Sans"/>
                <a:cs typeface="Open Sans"/>
                <a:sym typeface="Open Sans"/>
              </a:rPr>
              <a:t>: it is general used only by south African, and no other country has the ability to register to the App</a:t>
            </a:r>
            <a:r>
              <a:rPr lang="en-US" sz="3200" dirty="0">
                <a:solidFill>
                  <a:srgbClr val="000000"/>
                </a:solidFill>
                <a:latin typeface="+mj-lt"/>
                <a:ea typeface="Open Sans"/>
                <a:cs typeface="Open Sans"/>
                <a:sym typeface="Open Sans"/>
              </a:rPr>
              <a:t>.</a:t>
            </a:r>
          </a:p>
        </p:txBody>
      </p:sp>
      <p:grpSp>
        <p:nvGrpSpPr>
          <p:cNvPr id="26" name="Group 28">
            <a:extLst>
              <a:ext uri="{FF2B5EF4-FFF2-40B4-BE49-F238E27FC236}">
                <a16:creationId xmlns:a16="http://schemas.microsoft.com/office/drawing/2014/main" id="{CE7FEAB4-6D00-4B37-9476-5A85C5F86CFF}"/>
              </a:ext>
            </a:extLst>
          </p:cNvPr>
          <p:cNvGrpSpPr/>
          <p:nvPr/>
        </p:nvGrpSpPr>
        <p:grpSpPr>
          <a:xfrm>
            <a:off x="4210750" y="7684605"/>
            <a:ext cx="14027305" cy="2394802"/>
            <a:chOff x="-17260" y="-38100"/>
            <a:chExt cx="1988491" cy="552748"/>
          </a:xfrm>
        </p:grpSpPr>
        <p:sp>
          <p:nvSpPr>
            <p:cNvPr id="27" name="Freeform 29">
              <a:extLst>
                <a:ext uri="{FF2B5EF4-FFF2-40B4-BE49-F238E27FC236}">
                  <a16:creationId xmlns:a16="http://schemas.microsoft.com/office/drawing/2014/main" id="{86549869-1BE7-4D36-9C7C-BB1E646A7ACE}"/>
                </a:ext>
              </a:extLst>
            </p:cNvPr>
            <p:cNvSpPr/>
            <p:nvPr/>
          </p:nvSpPr>
          <p:spPr>
            <a:xfrm>
              <a:off x="-17260" y="0"/>
              <a:ext cx="1988491" cy="514648"/>
            </a:xfrm>
            <a:custGeom>
              <a:avLst/>
              <a:gdLst/>
              <a:ahLst/>
              <a:cxnLst/>
              <a:rect l="l" t="t" r="r" b="b"/>
              <a:pathLst>
                <a:path w="1968633" h="514648">
                  <a:moveTo>
                    <a:pt x="52824" y="0"/>
                  </a:moveTo>
                  <a:lnTo>
                    <a:pt x="1915809" y="0"/>
                  </a:lnTo>
                  <a:cubicBezTo>
                    <a:pt x="1929819" y="0"/>
                    <a:pt x="1943255" y="5565"/>
                    <a:pt x="1953161" y="15472"/>
                  </a:cubicBezTo>
                  <a:cubicBezTo>
                    <a:pt x="1963068" y="25378"/>
                    <a:pt x="1968633" y="38814"/>
                    <a:pt x="1968633" y="52824"/>
                  </a:cubicBezTo>
                  <a:lnTo>
                    <a:pt x="1968633" y="461825"/>
                  </a:lnTo>
                  <a:cubicBezTo>
                    <a:pt x="1968633" y="490998"/>
                    <a:pt x="1944983" y="514648"/>
                    <a:pt x="1915809" y="514648"/>
                  </a:cubicBezTo>
                  <a:lnTo>
                    <a:pt x="52824" y="514648"/>
                  </a:lnTo>
                  <a:cubicBezTo>
                    <a:pt x="38814" y="514648"/>
                    <a:pt x="25378" y="509083"/>
                    <a:pt x="15472" y="499176"/>
                  </a:cubicBezTo>
                  <a:cubicBezTo>
                    <a:pt x="5565" y="489270"/>
                    <a:pt x="0" y="475834"/>
                    <a:pt x="0" y="461825"/>
                  </a:cubicBezTo>
                  <a:lnTo>
                    <a:pt x="0" y="52824"/>
                  </a:lnTo>
                  <a:cubicBezTo>
                    <a:pt x="0" y="38814"/>
                    <a:pt x="5565" y="25378"/>
                    <a:pt x="15472" y="15472"/>
                  </a:cubicBezTo>
                  <a:cubicBezTo>
                    <a:pt x="25378" y="5565"/>
                    <a:pt x="38814" y="0"/>
                    <a:pt x="52824" y="0"/>
                  </a:cubicBezTo>
                  <a:close/>
                </a:path>
              </a:pathLst>
            </a:custGeom>
            <a:solidFill>
              <a:srgbClr val="E8ECEC"/>
            </a:solidFill>
          </p:spPr>
          <p:txBody>
            <a:bodyPr/>
            <a:lstStyle/>
            <a:p>
              <a:endParaRPr lang="en-US" dirty="0"/>
            </a:p>
          </p:txBody>
        </p:sp>
        <p:sp>
          <p:nvSpPr>
            <p:cNvPr id="43" name="TextBox 30">
              <a:extLst>
                <a:ext uri="{FF2B5EF4-FFF2-40B4-BE49-F238E27FC236}">
                  <a16:creationId xmlns:a16="http://schemas.microsoft.com/office/drawing/2014/main" id="{4D6DF546-4A7E-42C5-AE0B-1D9FB85533F7}"/>
                </a:ext>
              </a:extLst>
            </p:cNvPr>
            <p:cNvSpPr txBox="1"/>
            <p:nvPr/>
          </p:nvSpPr>
          <p:spPr>
            <a:xfrm>
              <a:off x="0" y="-38100"/>
              <a:ext cx="1968633" cy="552748"/>
            </a:xfrm>
            <a:prstGeom prst="rect">
              <a:avLst/>
            </a:prstGeom>
          </p:spPr>
          <p:txBody>
            <a:bodyPr lIns="50800" tIns="50800" rIns="50800" bIns="50800" rtlCol="0" anchor="ctr"/>
            <a:lstStyle/>
            <a:p>
              <a:pPr algn="ctr">
                <a:lnSpc>
                  <a:spcPts val="2659"/>
                </a:lnSpc>
              </a:pPr>
              <a:endParaRPr dirty="0"/>
            </a:p>
          </p:txBody>
        </p:sp>
      </p:grpSp>
      <p:sp>
        <p:nvSpPr>
          <p:cNvPr id="47" name="TextBox 31">
            <a:extLst>
              <a:ext uri="{FF2B5EF4-FFF2-40B4-BE49-F238E27FC236}">
                <a16:creationId xmlns:a16="http://schemas.microsoft.com/office/drawing/2014/main" id="{6BF26788-10F2-403A-A862-68006598B376}"/>
              </a:ext>
            </a:extLst>
          </p:cNvPr>
          <p:cNvSpPr txBox="1"/>
          <p:nvPr/>
        </p:nvSpPr>
        <p:spPr>
          <a:xfrm>
            <a:off x="4419600" y="7865527"/>
            <a:ext cx="6705600" cy="2139688"/>
          </a:xfrm>
          <a:prstGeom prst="rect">
            <a:avLst/>
          </a:prstGeom>
        </p:spPr>
        <p:txBody>
          <a:bodyPr wrap="square" lIns="0" tIns="0" rIns="0" bIns="0" rtlCol="0" anchor="t">
            <a:spAutoFit/>
          </a:bodyPr>
          <a:lstStyle/>
          <a:p>
            <a:pPr lvl="0" algn="just">
              <a:lnSpc>
                <a:spcPct val="150000"/>
              </a:lnSpc>
            </a:pPr>
            <a:r>
              <a:rPr lang="en-US" sz="3200" b="1" dirty="0">
                <a:solidFill>
                  <a:srgbClr val="000000"/>
                </a:solidFill>
                <a:latin typeface="+mj-lt"/>
                <a:ea typeface="Open Sans"/>
                <a:cs typeface="Open Sans"/>
                <a:sym typeface="Open Sans"/>
              </a:rPr>
              <a:t>Other alternatives solution include:</a:t>
            </a:r>
          </a:p>
          <a:p>
            <a:pPr marL="457200" lvl="0" indent="-457200" algn="just">
              <a:lnSpc>
                <a:spcPct val="150000"/>
              </a:lnSpc>
              <a:buFont typeface="Wingdings" panose="05000000000000000000" pitchFamily="2" charset="2"/>
              <a:buChar char="Ø"/>
            </a:pPr>
            <a:r>
              <a:rPr lang="en-US" sz="3200" b="1" dirty="0" err="1">
                <a:solidFill>
                  <a:srgbClr val="000000"/>
                </a:solidFill>
                <a:latin typeface="+mj-lt"/>
                <a:ea typeface="Open Sans"/>
                <a:cs typeface="Open Sans"/>
                <a:sym typeface="Open Sans"/>
              </a:rPr>
              <a:t>AgriApp</a:t>
            </a:r>
            <a:r>
              <a:rPr lang="en-US" sz="3200" b="1" dirty="0">
                <a:solidFill>
                  <a:srgbClr val="000000"/>
                </a:solidFill>
                <a:latin typeface="+mj-lt"/>
                <a:ea typeface="Open Sans"/>
                <a:cs typeface="Open Sans"/>
                <a:sym typeface="Open Sans"/>
              </a:rPr>
              <a:t>: </a:t>
            </a:r>
            <a:r>
              <a:rPr lang="en-US" sz="3200" dirty="0">
                <a:solidFill>
                  <a:srgbClr val="000000"/>
                </a:solidFill>
                <a:latin typeface="+mj-lt"/>
                <a:ea typeface="Open Sans"/>
                <a:cs typeface="Open Sans"/>
                <a:sym typeface="Open Sans"/>
              </a:rPr>
              <a:t>(Basavaraj </a:t>
            </a:r>
            <a:r>
              <a:rPr lang="en-US" sz="3200" dirty="0" err="1">
                <a:solidFill>
                  <a:srgbClr val="000000"/>
                </a:solidFill>
                <a:latin typeface="+mj-lt"/>
                <a:ea typeface="Open Sans"/>
                <a:cs typeface="Open Sans"/>
                <a:sym typeface="Open Sans"/>
              </a:rPr>
              <a:t>Rudrappa</a:t>
            </a:r>
            <a:r>
              <a:rPr lang="en-US" sz="3200" dirty="0">
                <a:solidFill>
                  <a:srgbClr val="000000"/>
                </a:solidFill>
                <a:latin typeface="+mj-lt"/>
                <a:ea typeface="Open Sans"/>
                <a:cs typeface="Open Sans"/>
                <a:sym typeface="Open Sans"/>
              </a:rPr>
              <a:t>, 2016)</a:t>
            </a:r>
          </a:p>
          <a:p>
            <a:pPr marL="457200" lvl="0" indent="-457200" algn="just">
              <a:lnSpc>
                <a:spcPct val="150000"/>
              </a:lnSpc>
              <a:buFont typeface="Wingdings" panose="05000000000000000000" pitchFamily="2" charset="2"/>
              <a:buChar char="Ø"/>
            </a:pPr>
            <a:r>
              <a:rPr lang="en-US" sz="3200" b="1" dirty="0">
                <a:solidFill>
                  <a:srgbClr val="000000"/>
                </a:solidFill>
                <a:latin typeface="+mj-lt"/>
                <a:ea typeface="Open Sans"/>
                <a:cs typeface="Open Sans"/>
                <a:sym typeface="Open Sans"/>
              </a:rPr>
              <a:t>Agri Tech:</a:t>
            </a:r>
            <a:r>
              <a:rPr lang="en-US" sz="3200" dirty="0">
                <a:solidFill>
                  <a:srgbClr val="000000"/>
                </a:solidFill>
                <a:latin typeface="+mj-lt"/>
                <a:ea typeface="Open Sans"/>
                <a:cs typeface="Open Sans"/>
                <a:sym typeface="Open Sans"/>
              </a:rPr>
              <a:t>(Adamou </a:t>
            </a:r>
            <a:r>
              <a:rPr lang="en-US" sz="3200" dirty="0" err="1">
                <a:solidFill>
                  <a:srgbClr val="000000"/>
                </a:solidFill>
                <a:latin typeface="+mj-lt"/>
                <a:ea typeface="Open Sans"/>
                <a:cs typeface="Open Sans"/>
                <a:sym typeface="Open Sans"/>
              </a:rPr>
              <a:t>Nchange</a:t>
            </a:r>
            <a:r>
              <a:rPr lang="en-US" sz="3200" dirty="0">
                <a:solidFill>
                  <a:srgbClr val="000000"/>
                </a:solidFill>
                <a:latin typeface="+mj-lt"/>
                <a:ea typeface="Open Sans"/>
                <a:cs typeface="Open Sans"/>
                <a:sym typeface="Open Sans"/>
              </a:rPr>
              <a:t>, 2018)</a:t>
            </a:r>
          </a:p>
        </p:txBody>
      </p:sp>
      <p:sp>
        <p:nvSpPr>
          <p:cNvPr id="48" name="TextBox 31">
            <a:extLst>
              <a:ext uri="{FF2B5EF4-FFF2-40B4-BE49-F238E27FC236}">
                <a16:creationId xmlns:a16="http://schemas.microsoft.com/office/drawing/2014/main" id="{6E9AF95E-EB9B-4943-BE9C-E3661307E621}"/>
              </a:ext>
            </a:extLst>
          </p:cNvPr>
          <p:cNvSpPr txBox="1"/>
          <p:nvPr/>
        </p:nvSpPr>
        <p:spPr>
          <a:xfrm>
            <a:off x="11080105" y="7739701"/>
            <a:ext cx="6903095" cy="2139688"/>
          </a:xfrm>
          <a:prstGeom prst="rect">
            <a:avLst/>
          </a:prstGeom>
        </p:spPr>
        <p:txBody>
          <a:bodyPr wrap="square" lIns="0" tIns="0" rIns="0" bIns="0" rtlCol="0" anchor="t">
            <a:spAutoFit/>
          </a:bodyPr>
          <a:lstStyle/>
          <a:p>
            <a:pPr lvl="0" algn="just">
              <a:lnSpc>
                <a:spcPct val="150000"/>
              </a:lnSpc>
            </a:pPr>
            <a:endParaRPr lang="en-US" sz="3200" b="1" dirty="0">
              <a:solidFill>
                <a:srgbClr val="000000"/>
              </a:solidFill>
              <a:latin typeface="+mj-lt"/>
              <a:ea typeface="Open Sans"/>
              <a:cs typeface="Open Sans"/>
              <a:sym typeface="Open Sans"/>
            </a:endParaRPr>
          </a:p>
          <a:p>
            <a:pPr marL="457200" lvl="0" indent="-457200" algn="just">
              <a:lnSpc>
                <a:spcPct val="150000"/>
              </a:lnSpc>
              <a:buFont typeface="Wingdings" panose="05000000000000000000" pitchFamily="2" charset="2"/>
              <a:buChar char="Ø"/>
            </a:pPr>
            <a:r>
              <a:rPr lang="en-US" sz="3200" b="1" dirty="0">
                <a:solidFill>
                  <a:srgbClr val="000000"/>
                </a:solidFill>
                <a:latin typeface="+mj-lt"/>
                <a:ea typeface="Open Sans"/>
                <a:cs typeface="Open Sans"/>
                <a:sym typeface="Open Sans"/>
              </a:rPr>
              <a:t>Cassava marketplace:(</a:t>
            </a:r>
            <a:r>
              <a:rPr lang="en-US" sz="3200" dirty="0">
                <a:solidFill>
                  <a:srgbClr val="000000"/>
                </a:solidFill>
                <a:latin typeface="+mj-lt"/>
                <a:ea typeface="Open Sans"/>
                <a:cs typeface="Open Sans"/>
                <a:sym typeface="Open Sans"/>
              </a:rPr>
              <a:t>launch by Cameroon Government, 10 June 2025</a:t>
            </a:r>
          </a:p>
        </p:txBody>
      </p:sp>
      <p:sp>
        <p:nvSpPr>
          <p:cNvPr id="20" name="TextBox 19">
            <a:extLst>
              <a:ext uri="{FF2B5EF4-FFF2-40B4-BE49-F238E27FC236}">
                <a16:creationId xmlns:a16="http://schemas.microsoft.com/office/drawing/2014/main" id="{98780820-D2ED-43BA-93CD-6249D44339EF}"/>
              </a:ext>
            </a:extLst>
          </p:cNvPr>
          <p:cNvSpPr txBox="1"/>
          <p:nvPr/>
        </p:nvSpPr>
        <p:spPr>
          <a:xfrm>
            <a:off x="81282" y="9419137"/>
            <a:ext cx="825190" cy="646331"/>
          </a:xfrm>
          <a:prstGeom prst="rect">
            <a:avLst/>
          </a:prstGeom>
          <a:noFill/>
        </p:spPr>
        <p:txBody>
          <a:bodyPr wrap="square">
            <a:spAutoFit/>
          </a:bodyPr>
          <a:lstStyle/>
          <a:p>
            <a:r>
              <a:rPr lang="en-US" sz="3600" b="1" spc="99" dirty="0">
                <a:latin typeface="+mj-lt"/>
                <a:ea typeface="Garet Bold"/>
                <a:cs typeface="Garet Bold"/>
                <a:sym typeface="Garet Bold"/>
              </a:rPr>
              <a:t>02</a:t>
            </a:r>
            <a:endParaRPr lang="en-US" sz="36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3951" y="6954065"/>
            <a:ext cx="5421286" cy="2799389"/>
            <a:chOff x="0" y="0"/>
            <a:chExt cx="1427828" cy="737288"/>
          </a:xfrm>
        </p:grpSpPr>
        <p:sp>
          <p:nvSpPr>
            <p:cNvPr id="3" name="Freeform 3"/>
            <p:cNvSpPr/>
            <p:nvPr/>
          </p:nvSpPr>
          <p:spPr>
            <a:xfrm>
              <a:off x="0" y="0"/>
              <a:ext cx="1427828" cy="737288"/>
            </a:xfrm>
            <a:custGeom>
              <a:avLst/>
              <a:gdLst/>
              <a:ahLst/>
              <a:cxnLst/>
              <a:rect l="l" t="t" r="r" b="b"/>
              <a:pathLst>
                <a:path w="1427828" h="73728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7ED957"/>
            </a:solidFill>
          </p:spPr>
        </p:sp>
        <p:sp>
          <p:nvSpPr>
            <p:cNvPr id="4" name="TextBox 4"/>
            <p:cNvSpPr txBox="1"/>
            <p:nvPr/>
          </p:nvSpPr>
          <p:spPr>
            <a:xfrm>
              <a:off x="0" y="-38100"/>
              <a:ext cx="1427828" cy="775388"/>
            </a:xfrm>
            <a:prstGeom prst="rect">
              <a:avLst/>
            </a:prstGeom>
          </p:spPr>
          <p:txBody>
            <a:bodyPr lIns="50800" tIns="50800" rIns="50800" bIns="50800" rtlCol="0" anchor="ctr"/>
            <a:lstStyle/>
            <a:p>
              <a:pPr algn="ctr">
                <a:lnSpc>
                  <a:spcPts val="2659"/>
                </a:lnSpc>
              </a:pPr>
              <a:endParaRPr dirty="0"/>
            </a:p>
          </p:txBody>
        </p:sp>
      </p:grpSp>
      <p:grpSp>
        <p:nvGrpSpPr>
          <p:cNvPr id="5" name="Group 5"/>
          <p:cNvGrpSpPr/>
          <p:nvPr/>
        </p:nvGrpSpPr>
        <p:grpSpPr>
          <a:xfrm>
            <a:off x="919853" y="3187935"/>
            <a:ext cx="5089482" cy="6417970"/>
            <a:chOff x="0" y="0"/>
            <a:chExt cx="1340440" cy="1690329"/>
          </a:xfrm>
        </p:grpSpPr>
        <p:sp>
          <p:nvSpPr>
            <p:cNvPr id="6" name="Freeform 6"/>
            <p:cNvSpPr/>
            <p:nvPr/>
          </p:nvSpPr>
          <p:spPr>
            <a:xfrm>
              <a:off x="0" y="0"/>
              <a:ext cx="1340440" cy="1690329"/>
            </a:xfrm>
            <a:custGeom>
              <a:avLst/>
              <a:gdLst/>
              <a:ahLst/>
              <a:cxnLst/>
              <a:rect l="l" t="t" r="r" b="b"/>
              <a:pathLst>
                <a:path w="1340440" h="1690329">
                  <a:moveTo>
                    <a:pt x="77579" y="0"/>
                  </a:moveTo>
                  <a:lnTo>
                    <a:pt x="1262861" y="0"/>
                  </a:lnTo>
                  <a:cubicBezTo>
                    <a:pt x="1305707" y="0"/>
                    <a:pt x="1340440" y="34733"/>
                    <a:pt x="1340440" y="77579"/>
                  </a:cubicBezTo>
                  <a:lnTo>
                    <a:pt x="1340440" y="1612750"/>
                  </a:lnTo>
                  <a:cubicBezTo>
                    <a:pt x="1340440" y="1633325"/>
                    <a:pt x="1332266" y="1653058"/>
                    <a:pt x="1317717" y="1667607"/>
                  </a:cubicBezTo>
                  <a:cubicBezTo>
                    <a:pt x="1303169" y="1682156"/>
                    <a:pt x="1283436" y="1690329"/>
                    <a:pt x="1262861" y="1690329"/>
                  </a:cubicBezTo>
                  <a:lnTo>
                    <a:pt x="77579" y="1690329"/>
                  </a:lnTo>
                  <a:cubicBezTo>
                    <a:pt x="34733" y="1690329"/>
                    <a:pt x="0" y="1655596"/>
                    <a:pt x="0" y="1612750"/>
                  </a:cubicBezTo>
                  <a:lnTo>
                    <a:pt x="0" y="77579"/>
                  </a:lnTo>
                  <a:cubicBezTo>
                    <a:pt x="0" y="57004"/>
                    <a:pt x="8173" y="37271"/>
                    <a:pt x="22722" y="22722"/>
                  </a:cubicBezTo>
                  <a:cubicBezTo>
                    <a:pt x="37271" y="8173"/>
                    <a:pt x="57004" y="0"/>
                    <a:pt x="77579" y="0"/>
                  </a:cubicBezTo>
                  <a:close/>
                </a:path>
              </a:pathLst>
            </a:custGeom>
            <a:solidFill>
              <a:srgbClr val="E8ECEC"/>
            </a:solidFill>
          </p:spPr>
          <p:txBody>
            <a:bodyPr/>
            <a:lstStyle/>
            <a:p>
              <a:endParaRPr lang="en-US" dirty="0"/>
            </a:p>
          </p:txBody>
        </p:sp>
        <p:sp>
          <p:nvSpPr>
            <p:cNvPr id="7" name="TextBox 7"/>
            <p:cNvSpPr txBox="1"/>
            <p:nvPr/>
          </p:nvSpPr>
          <p:spPr>
            <a:xfrm>
              <a:off x="0" y="-38100"/>
              <a:ext cx="1340440" cy="1728429"/>
            </a:xfrm>
            <a:prstGeom prst="rect">
              <a:avLst/>
            </a:prstGeom>
          </p:spPr>
          <p:txBody>
            <a:bodyPr lIns="50800" tIns="50800" rIns="50800" bIns="50800" rtlCol="0" anchor="ctr"/>
            <a:lstStyle/>
            <a:p>
              <a:pPr algn="ctr">
                <a:lnSpc>
                  <a:spcPts val="2659"/>
                </a:lnSpc>
              </a:pPr>
              <a:endParaRPr dirty="0"/>
            </a:p>
          </p:txBody>
        </p:sp>
      </p:grpSp>
      <p:grpSp>
        <p:nvGrpSpPr>
          <p:cNvPr id="8" name="Group 8"/>
          <p:cNvGrpSpPr/>
          <p:nvPr/>
        </p:nvGrpSpPr>
        <p:grpSpPr>
          <a:xfrm>
            <a:off x="2358848" y="2082188"/>
            <a:ext cx="2211493" cy="221149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11" name="Group 11"/>
          <p:cNvGrpSpPr/>
          <p:nvPr/>
        </p:nvGrpSpPr>
        <p:grpSpPr>
          <a:xfrm>
            <a:off x="6434302" y="6954065"/>
            <a:ext cx="5421286" cy="2799389"/>
            <a:chOff x="0" y="0"/>
            <a:chExt cx="1427828" cy="737288"/>
          </a:xfrm>
        </p:grpSpPr>
        <p:sp>
          <p:nvSpPr>
            <p:cNvPr id="12" name="Freeform 12"/>
            <p:cNvSpPr/>
            <p:nvPr/>
          </p:nvSpPr>
          <p:spPr>
            <a:xfrm>
              <a:off x="0" y="0"/>
              <a:ext cx="1427828" cy="737288"/>
            </a:xfrm>
            <a:custGeom>
              <a:avLst/>
              <a:gdLst/>
              <a:ahLst/>
              <a:cxnLst/>
              <a:rect l="l" t="t" r="r" b="b"/>
              <a:pathLst>
                <a:path w="1427828" h="73728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7ED957"/>
            </a:solidFill>
          </p:spPr>
        </p:sp>
        <p:sp>
          <p:nvSpPr>
            <p:cNvPr id="13" name="TextBox 13"/>
            <p:cNvSpPr txBox="1"/>
            <p:nvPr/>
          </p:nvSpPr>
          <p:spPr>
            <a:xfrm>
              <a:off x="0" y="-38100"/>
              <a:ext cx="1427828" cy="775388"/>
            </a:xfrm>
            <a:prstGeom prst="rect">
              <a:avLst/>
            </a:prstGeom>
          </p:spPr>
          <p:txBody>
            <a:bodyPr lIns="50800" tIns="50800" rIns="50800" bIns="50800" rtlCol="0" anchor="ctr"/>
            <a:lstStyle/>
            <a:p>
              <a:pPr algn="ctr">
                <a:lnSpc>
                  <a:spcPts val="2659"/>
                </a:lnSpc>
              </a:pPr>
              <a:endParaRPr dirty="0"/>
            </a:p>
          </p:txBody>
        </p:sp>
      </p:grpSp>
      <p:grpSp>
        <p:nvGrpSpPr>
          <p:cNvPr id="14" name="Group 14"/>
          <p:cNvGrpSpPr/>
          <p:nvPr/>
        </p:nvGrpSpPr>
        <p:grpSpPr>
          <a:xfrm>
            <a:off x="6600203" y="3187935"/>
            <a:ext cx="5089482" cy="6417970"/>
            <a:chOff x="0" y="0"/>
            <a:chExt cx="1340440" cy="1690329"/>
          </a:xfrm>
        </p:grpSpPr>
        <p:sp>
          <p:nvSpPr>
            <p:cNvPr id="15" name="Freeform 15"/>
            <p:cNvSpPr/>
            <p:nvPr/>
          </p:nvSpPr>
          <p:spPr>
            <a:xfrm>
              <a:off x="0" y="0"/>
              <a:ext cx="1340440" cy="1690329"/>
            </a:xfrm>
            <a:custGeom>
              <a:avLst/>
              <a:gdLst/>
              <a:ahLst/>
              <a:cxnLst/>
              <a:rect l="l" t="t" r="r" b="b"/>
              <a:pathLst>
                <a:path w="1340440" h="1690329">
                  <a:moveTo>
                    <a:pt x="77579" y="0"/>
                  </a:moveTo>
                  <a:lnTo>
                    <a:pt x="1262861" y="0"/>
                  </a:lnTo>
                  <a:cubicBezTo>
                    <a:pt x="1305707" y="0"/>
                    <a:pt x="1340440" y="34733"/>
                    <a:pt x="1340440" y="77579"/>
                  </a:cubicBezTo>
                  <a:lnTo>
                    <a:pt x="1340440" y="1612750"/>
                  </a:lnTo>
                  <a:cubicBezTo>
                    <a:pt x="1340440" y="1633325"/>
                    <a:pt x="1332266" y="1653058"/>
                    <a:pt x="1317717" y="1667607"/>
                  </a:cubicBezTo>
                  <a:cubicBezTo>
                    <a:pt x="1303169" y="1682156"/>
                    <a:pt x="1283436" y="1690329"/>
                    <a:pt x="1262861" y="1690329"/>
                  </a:cubicBezTo>
                  <a:lnTo>
                    <a:pt x="77579" y="1690329"/>
                  </a:lnTo>
                  <a:cubicBezTo>
                    <a:pt x="34733" y="1690329"/>
                    <a:pt x="0" y="1655596"/>
                    <a:pt x="0" y="1612750"/>
                  </a:cubicBezTo>
                  <a:lnTo>
                    <a:pt x="0" y="77579"/>
                  </a:lnTo>
                  <a:cubicBezTo>
                    <a:pt x="0" y="57004"/>
                    <a:pt x="8173" y="37271"/>
                    <a:pt x="22722" y="22722"/>
                  </a:cubicBezTo>
                  <a:cubicBezTo>
                    <a:pt x="37271" y="8173"/>
                    <a:pt x="57004" y="0"/>
                    <a:pt x="77579" y="0"/>
                  </a:cubicBezTo>
                  <a:close/>
                </a:path>
              </a:pathLst>
            </a:custGeom>
            <a:solidFill>
              <a:srgbClr val="E8ECEC"/>
            </a:solidFill>
          </p:spPr>
          <p:txBody>
            <a:bodyPr/>
            <a:lstStyle/>
            <a:p>
              <a:endParaRPr lang="en-US" dirty="0"/>
            </a:p>
          </p:txBody>
        </p:sp>
        <p:sp>
          <p:nvSpPr>
            <p:cNvPr id="16" name="TextBox 16"/>
            <p:cNvSpPr txBox="1"/>
            <p:nvPr/>
          </p:nvSpPr>
          <p:spPr>
            <a:xfrm>
              <a:off x="0" y="-38100"/>
              <a:ext cx="1340440" cy="1728429"/>
            </a:xfrm>
            <a:prstGeom prst="rect">
              <a:avLst/>
            </a:prstGeom>
          </p:spPr>
          <p:txBody>
            <a:bodyPr lIns="50800" tIns="50800" rIns="50800" bIns="50800" rtlCol="0" anchor="ctr"/>
            <a:lstStyle/>
            <a:p>
              <a:pPr algn="ctr">
                <a:lnSpc>
                  <a:spcPts val="2659"/>
                </a:lnSpc>
              </a:pPr>
              <a:endParaRPr dirty="0"/>
            </a:p>
          </p:txBody>
        </p:sp>
      </p:grpSp>
      <p:grpSp>
        <p:nvGrpSpPr>
          <p:cNvPr id="17" name="Group 17"/>
          <p:cNvGrpSpPr/>
          <p:nvPr/>
        </p:nvGrpSpPr>
        <p:grpSpPr>
          <a:xfrm>
            <a:off x="8039198" y="2082188"/>
            <a:ext cx="2211493" cy="2211493"/>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20" name="Group 20"/>
          <p:cNvGrpSpPr/>
          <p:nvPr/>
        </p:nvGrpSpPr>
        <p:grpSpPr>
          <a:xfrm>
            <a:off x="12112763" y="6954065"/>
            <a:ext cx="5421286" cy="2799389"/>
            <a:chOff x="0" y="0"/>
            <a:chExt cx="1427828" cy="737288"/>
          </a:xfrm>
        </p:grpSpPr>
        <p:sp>
          <p:nvSpPr>
            <p:cNvPr id="21" name="Freeform 21"/>
            <p:cNvSpPr/>
            <p:nvPr/>
          </p:nvSpPr>
          <p:spPr>
            <a:xfrm>
              <a:off x="0" y="0"/>
              <a:ext cx="1427828" cy="737288"/>
            </a:xfrm>
            <a:custGeom>
              <a:avLst/>
              <a:gdLst/>
              <a:ahLst/>
              <a:cxnLst/>
              <a:rect l="l" t="t" r="r" b="b"/>
              <a:pathLst>
                <a:path w="1427828" h="737288">
                  <a:moveTo>
                    <a:pt x="72831" y="0"/>
                  </a:moveTo>
                  <a:lnTo>
                    <a:pt x="1354997" y="0"/>
                  </a:lnTo>
                  <a:cubicBezTo>
                    <a:pt x="1374313" y="0"/>
                    <a:pt x="1392838" y="7673"/>
                    <a:pt x="1406497" y="21332"/>
                  </a:cubicBezTo>
                  <a:cubicBezTo>
                    <a:pt x="1420155" y="34990"/>
                    <a:pt x="1427828" y="53515"/>
                    <a:pt x="1427828" y="72831"/>
                  </a:cubicBezTo>
                  <a:lnTo>
                    <a:pt x="1427828" y="664457"/>
                  </a:lnTo>
                  <a:cubicBezTo>
                    <a:pt x="1427828" y="704680"/>
                    <a:pt x="1395221" y="737288"/>
                    <a:pt x="1354997" y="737288"/>
                  </a:cubicBezTo>
                  <a:lnTo>
                    <a:pt x="72831" y="737288"/>
                  </a:lnTo>
                  <a:cubicBezTo>
                    <a:pt x="32608" y="737288"/>
                    <a:pt x="0" y="704680"/>
                    <a:pt x="0" y="664457"/>
                  </a:cubicBezTo>
                  <a:lnTo>
                    <a:pt x="0" y="72831"/>
                  </a:lnTo>
                  <a:cubicBezTo>
                    <a:pt x="0" y="32608"/>
                    <a:pt x="32608" y="0"/>
                    <a:pt x="72831" y="0"/>
                  </a:cubicBezTo>
                  <a:close/>
                </a:path>
              </a:pathLst>
            </a:custGeom>
            <a:solidFill>
              <a:srgbClr val="7ED957"/>
            </a:solidFill>
          </p:spPr>
        </p:sp>
        <p:sp>
          <p:nvSpPr>
            <p:cNvPr id="22" name="TextBox 22"/>
            <p:cNvSpPr txBox="1"/>
            <p:nvPr/>
          </p:nvSpPr>
          <p:spPr>
            <a:xfrm>
              <a:off x="0" y="-38100"/>
              <a:ext cx="1427828" cy="775388"/>
            </a:xfrm>
            <a:prstGeom prst="rect">
              <a:avLst/>
            </a:prstGeom>
          </p:spPr>
          <p:txBody>
            <a:bodyPr lIns="50800" tIns="50800" rIns="50800" bIns="50800" rtlCol="0" anchor="ctr"/>
            <a:lstStyle/>
            <a:p>
              <a:pPr algn="ctr">
                <a:lnSpc>
                  <a:spcPts val="2659"/>
                </a:lnSpc>
              </a:pPr>
              <a:endParaRPr dirty="0"/>
            </a:p>
          </p:txBody>
        </p:sp>
      </p:grpSp>
      <p:grpSp>
        <p:nvGrpSpPr>
          <p:cNvPr id="23" name="Group 23"/>
          <p:cNvGrpSpPr/>
          <p:nvPr/>
        </p:nvGrpSpPr>
        <p:grpSpPr>
          <a:xfrm>
            <a:off x="12278664" y="3187935"/>
            <a:ext cx="5089482" cy="6417970"/>
            <a:chOff x="0" y="0"/>
            <a:chExt cx="1340440" cy="1690329"/>
          </a:xfrm>
        </p:grpSpPr>
        <p:sp>
          <p:nvSpPr>
            <p:cNvPr id="24" name="Freeform 24"/>
            <p:cNvSpPr/>
            <p:nvPr/>
          </p:nvSpPr>
          <p:spPr>
            <a:xfrm>
              <a:off x="0" y="0"/>
              <a:ext cx="1340440" cy="1690329"/>
            </a:xfrm>
            <a:custGeom>
              <a:avLst/>
              <a:gdLst/>
              <a:ahLst/>
              <a:cxnLst/>
              <a:rect l="l" t="t" r="r" b="b"/>
              <a:pathLst>
                <a:path w="1340440" h="1690329">
                  <a:moveTo>
                    <a:pt x="77579" y="0"/>
                  </a:moveTo>
                  <a:lnTo>
                    <a:pt x="1262861" y="0"/>
                  </a:lnTo>
                  <a:cubicBezTo>
                    <a:pt x="1305707" y="0"/>
                    <a:pt x="1340440" y="34733"/>
                    <a:pt x="1340440" y="77579"/>
                  </a:cubicBezTo>
                  <a:lnTo>
                    <a:pt x="1340440" y="1612750"/>
                  </a:lnTo>
                  <a:cubicBezTo>
                    <a:pt x="1340440" y="1633325"/>
                    <a:pt x="1332266" y="1653058"/>
                    <a:pt x="1317717" y="1667607"/>
                  </a:cubicBezTo>
                  <a:cubicBezTo>
                    <a:pt x="1303169" y="1682156"/>
                    <a:pt x="1283436" y="1690329"/>
                    <a:pt x="1262861" y="1690329"/>
                  </a:cubicBezTo>
                  <a:lnTo>
                    <a:pt x="77579" y="1690329"/>
                  </a:lnTo>
                  <a:cubicBezTo>
                    <a:pt x="34733" y="1690329"/>
                    <a:pt x="0" y="1655596"/>
                    <a:pt x="0" y="1612750"/>
                  </a:cubicBezTo>
                  <a:lnTo>
                    <a:pt x="0" y="77579"/>
                  </a:lnTo>
                  <a:cubicBezTo>
                    <a:pt x="0" y="57004"/>
                    <a:pt x="8173" y="37271"/>
                    <a:pt x="22722" y="22722"/>
                  </a:cubicBezTo>
                  <a:cubicBezTo>
                    <a:pt x="37271" y="8173"/>
                    <a:pt x="57004" y="0"/>
                    <a:pt x="77579" y="0"/>
                  </a:cubicBezTo>
                  <a:close/>
                </a:path>
              </a:pathLst>
            </a:custGeom>
            <a:solidFill>
              <a:srgbClr val="E8ECEC"/>
            </a:solidFill>
          </p:spPr>
        </p:sp>
        <p:sp>
          <p:nvSpPr>
            <p:cNvPr id="25" name="TextBox 25"/>
            <p:cNvSpPr txBox="1"/>
            <p:nvPr/>
          </p:nvSpPr>
          <p:spPr>
            <a:xfrm>
              <a:off x="0" y="-38100"/>
              <a:ext cx="1340440" cy="1728429"/>
            </a:xfrm>
            <a:prstGeom prst="rect">
              <a:avLst/>
            </a:prstGeom>
          </p:spPr>
          <p:txBody>
            <a:bodyPr lIns="50800" tIns="50800" rIns="50800" bIns="50800" rtlCol="0" anchor="ctr"/>
            <a:lstStyle/>
            <a:p>
              <a:pPr algn="ctr">
                <a:lnSpc>
                  <a:spcPts val="2659"/>
                </a:lnSpc>
              </a:pPr>
              <a:endParaRPr dirty="0"/>
            </a:p>
          </p:txBody>
        </p:sp>
      </p:grpSp>
      <p:grpSp>
        <p:nvGrpSpPr>
          <p:cNvPr id="26" name="Group 26"/>
          <p:cNvGrpSpPr/>
          <p:nvPr/>
        </p:nvGrpSpPr>
        <p:grpSpPr>
          <a:xfrm>
            <a:off x="13717659" y="2082188"/>
            <a:ext cx="2211493" cy="2211493"/>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id="28" name="TextBox 2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29" name="Group 29"/>
          <p:cNvGrpSpPr/>
          <p:nvPr/>
        </p:nvGrpSpPr>
        <p:grpSpPr>
          <a:xfrm>
            <a:off x="0" y="0"/>
            <a:ext cx="18288000" cy="1543194"/>
            <a:chOff x="0" y="0"/>
            <a:chExt cx="4574327" cy="406438"/>
          </a:xfrm>
        </p:grpSpPr>
        <p:sp>
          <p:nvSpPr>
            <p:cNvPr id="30" name="Freeform 30"/>
            <p:cNvSpPr/>
            <p:nvPr/>
          </p:nvSpPr>
          <p:spPr>
            <a:xfrm>
              <a:off x="0" y="0"/>
              <a:ext cx="4574327" cy="406438"/>
            </a:xfrm>
            <a:custGeom>
              <a:avLst/>
              <a:gdLst/>
              <a:ahLst/>
              <a:cxnLst/>
              <a:rect l="l" t="t" r="r" b="b"/>
              <a:pathLst>
                <a:path w="4574327" h="406438">
                  <a:moveTo>
                    <a:pt x="0" y="0"/>
                  </a:moveTo>
                  <a:lnTo>
                    <a:pt x="4574327" y="0"/>
                  </a:lnTo>
                  <a:lnTo>
                    <a:pt x="4574327" y="406438"/>
                  </a:lnTo>
                  <a:lnTo>
                    <a:pt x="0" y="406438"/>
                  </a:lnTo>
                  <a:close/>
                </a:path>
              </a:pathLst>
            </a:custGeom>
            <a:solidFill>
              <a:srgbClr val="7ED957"/>
            </a:solidFill>
          </p:spPr>
        </p:sp>
        <p:sp>
          <p:nvSpPr>
            <p:cNvPr id="31" name="TextBox 31"/>
            <p:cNvSpPr txBox="1"/>
            <p:nvPr/>
          </p:nvSpPr>
          <p:spPr>
            <a:xfrm>
              <a:off x="0" y="-38100"/>
              <a:ext cx="4574327" cy="444538"/>
            </a:xfrm>
            <a:prstGeom prst="rect">
              <a:avLst/>
            </a:prstGeom>
          </p:spPr>
          <p:txBody>
            <a:bodyPr lIns="50800" tIns="50800" rIns="50800" bIns="50800" rtlCol="0" anchor="ctr"/>
            <a:lstStyle/>
            <a:p>
              <a:pPr algn="ctr">
                <a:lnSpc>
                  <a:spcPts val="2659"/>
                </a:lnSpc>
              </a:pPr>
              <a:endParaRPr dirty="0"/>
            </a:p>
          </p:txBody>
        </p:sp>
      </p:grpSp>
      <p:sp>
        <p:nvSpPr>
          <p:cNvPr id="32" name="Freeform 32"/>
          <p:cNvSpPr/>
          <p:nvPr/>
        </p:nvSpPr>
        <p:spPr>
          <a:xfrm>
            <a:off x="2783603" y="2688954"/>
            <a:ext cx="1361983" cy="997962"/>
          </a:xfrm>
          <a:custGeom>
            <a:avLst/>
            <a:gdLst/>
            <a:ahLst/>
            <a:cxnLst/>
            <a:rect l="l" t="t" r="r" b="b"/>
            <a:pathLst>
              <a:path w="1361983" h="997962">
                <a:moveTo>
                  <a:pt x="0" y="0"/>
                </a:moveTo>
                <a:lnTo>
                  <a:pt x="1361983" y="0"/>
                </a:lnTo>
                <a:lnTo>
                  <a:pt x="1361983" y="997962"/>
                </a:lnTo>
                <a:lnTo>
                  <a:pt x="0" y="9979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3" name="Freeform 33"/>
          <p:cNvSpPr/>
          <p:nvPr/>
        </p:nvSpPr>
        <p:spPr>
          <a:xfrm>
            <a:off x="8444462" y="2837693"/>
            <a:ext cx="1400966" cy="700483"/>
          </a:xfrm>
          <a:custGeom>
            <a:avLst/>
            <a:gdLst/>
            <a:ahLst/>
            <a:cxnLst/>
            <a:rect l="l" t="t" r="r" b="b"/>
            <a:pathLst>
              <a:path w="1400966" h="700483">
                <a:moveTo>
                  <a:pt x="0" y="0"/>
                </a:moveTo>
                <a:lnTo>
                  <a:pt x="1400965" y="0"/>
                </a:lnTo>
                <a:lnTo>
                  <a:pt x="1400965" y="700483"/>
                </a:lnTo>
                <a:lnTo>
                  <a:pt x="0" y="7004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4" name="Freeform 34"/>
          <p:cNvSpPr/>
          <p:nvPr/>
        </p:nvSpPr>
        <p:spPr>
          <a:xfrm>
            <a:off x="14291591" y="2562271"/>
            <a:ext cx="1063628" cy="1251327"/>
          </a:xfrm>
          <a:custGeom>
            <a:avLst/>
            <a:gdLst/>
            <a:ahLst/>
            <a:cxnLst/>
            <a:rect l="l" t="t" r="r" b="b"/>
            <a:pathLst>
              <a:path w="1063628" h="1251327">
                <a:moveTo>
                  <a:pt x="0" y="0"/>
                </a:moveTo>
                <a:lnTo>
                  <a:pt x="1063629" y="0"/>
                </a:lnTo>
                <a:lnTo>
                  <a:pt x="1063629" y="1251328"/>
                </a:lnTo>
                <a:lnTo>
                  <a:pt x="0" y="125132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5" name="TextBox 35"/>
          <p:cNvSpPr txBox="1"/>
          <p:nvPr/>
        </p:nvSpPr>
        <p:spPr>
          <a:xfrm>
            <a:off x="919852" y="296934"/>
            <a:ext cx="7995547" cy="842475"/>
          </a:xfrm>
          <a:prstGeom prst="rect">
            <a:avLst/>
          </a:prstGeom>
        </p:spPr>
        <p:txBody>
          <a:bodyPr wrap="square" lIns="0" tIns="0" rIns="0" bIns="0" rtlCol="0" anchor="t">
            <a:spAutoFit/>
          </a:bodyPr>
          <a:lstStyle/>
          <a:p>
            <a:pPr algn="l">
              <a:lnSpc>
                <a:spcPts val="6999"/>
              </a:lnSpc>
            </a:pPr>
            <a:r>
              <a:rPr lang="en-US" sz="4999" b="1" spc="99" dirty="0">
                <a:solidFill>
                  <a:srgbClr val="FFFFFF"/>
                </a:solidFill>
                <a:ea typeface="Garet Bold"/>
                <a:cs typeface="Garet Bold"/>
                <a:sym typeface="Garet Bold"/>
              </a:rPr>
              <a:t>MOTIVATION FOR PROJECT</a:t>
            </a:r>
          </a:p>
        </p:txBody>
      </p:sp>
      <p:sp>
        <p:nvSpPr>
          <p:cNvPr id="36" name="TextBox 36"/>
          <p:cNvSpPr txBox="1"/>
          <p:nvPr/>
        </p:nvSpPr>
        <p:spPr>
          <a:xfrm>
            <a:off x="1382359" y="4696903"/>
            <a:ext cx="4112433" cy="908582"/>
          </a:xfrm>
          <a:prstGeom prst="rect">
            <a:avLst/>
          </a:prstGeom>
        </p:spPr>
        <p:txBody>
          <a:bodyPr lIns="0" tIns="0" rIns="0" bIns="0" rtlCol="0" anchor="t">
            <a:spAutoFit/>
          </a:bodyPr>
          <a:lstStyle/>
          <a:p>
            <a:pPr algn="ctr">
              <a:lnSpc>
                <a:spcPts val="3499"/>
              </a:lnSpc>
            </a:pPr>
            <a:r>
              <a:rPr lang="en-US" sz="3200" b="1" dirty="0"/>
              <a:t>Inefficient Agricultural Marketing Systems</a:t>
            </a:r>
            <a:endParaRPr lang="en-US" sz="2800" b="1" dirty="0">
              <a:solidFill>
                <a:srgbClr val="000000"/>
              </a:solidFill>
              <a:latin typeface="Garet Bold"/>
              <a:ea typeface="Garet Bold"/>
              <a:cs typeface="Garet Bold"/>
              <a:sym typeface="Garet Bold"/>
            </a:endParaRPr>
          </a:p>
        </p:txBody>
      </p:sp>
      <p:sp>
        <p:nvSpPr>
          <p:cNvPr id="37" name="TextBox 37"/>
          <p:cNvSpPr txBox="1"/>
          <p:nvPr/>
        </p:nvSpPr>
        <p:spPr>
          <a:xfrm>
            <a:off x="6915332" y="4569094"/>
            <a:ext cx="4365663" cy="908582"/>
          </a:xfrm>
          <a:prstGeom prst="rect">
            <a:avLst/>
          </a:prstGeom>
        </p:spPr>
        <p:txBody>
          <a:bodyPr wrap="square" lIns="0" tIns="0" rIns="0" bIns="0" rtlCol="0" anchor="t">
            <a:spAutoFit/>
          </a:bodyPr>
          <a:lstStyle/>
          <a:p>
            <a:pPr algn="ctr">
              <a:lnSpc>
                <a:spcPts val="3499"/>
              </a:lnSpc>
            </a:pPr>
            <a:r>
              <a:rPr lang="en-US" sz="3200" b="1" dirty="0"/>
              <a:t>Excessive and Risky Travel for Agricultural Trade</a:t>
            </a:r>
            <a:endParaRPr lang="en-US" sz="3200" b="1" dirty="0">
              <a:solidFill>
                <a:srgbClr val="000000"/>
              </a:solidFill>
              <a:latin typeface="Garet Bold"/>
              <a:ea typeface="Garet Bold"/>
              <a:cs typeface="Garet Bold"/>
              <a:sym typeface="Garet Bold"/>
            </a:endParaRPr>
          </a:p>
        </p:txBody>
      </p:sp>
      <p:sp>
        <p:nvSpPr>
          <p:cNvPr id="38" name="TextBox 38"/>
          <p:cNvSpPr txBox="1"/>
          <p:nvPr/>
        </p:nvSpPr>
        <p:spPr>
          <a:xfrm>
            <a:off x="12793208" y="4597124"/>
            <a:ext cx="4112433" cy="908582"/>
          </a:xfrm>
          <a:prstGeom prst="rect">
            <a:avLst/>
          </a:prstGeom>
        </p:spPr>
        <p:txBody>
          <a:bodyPr lIns="0" tIns="0" rIns="0" bIns="0" rtlCol="0" anchor="t">
            <a:spAutoFit/>
          </a:bodyPr>
          <a:lstStyle/>
          <a:p>
            <a:pPr algn="ctr">
              <a:lnSpc>
                <a:spcPts val="3499"/>
              </a:lnSpc>
            </a:pPr>
            <a:r>
              <a:rPr lang="en-US" sz="3200" b="1" dirty="0"/>
              <a:t>Unfair Pricing in Agricultural Markets</a:t>
            </a:r>
            <a:endParaRPr lang="en-US" sz="2800" b="1" dirty="0">
              <a:solidFill>
                <a:srgbClr val="000000"/>
              </a:solidFill>
              <a:latin typeface="Garet Bold"/>
              <a:ea typeface="Garet Bold"/>
              <a:cs typeface="Garet Bold"/>
              <a:sym typeface="Garet Bold"/>
            </a:endParaRPr>
          </a:p>
        </p:txBody>
      </p:sp>
      <p:sp>
        <p:nvSpPr>
          <p:cNvPr id="39" name="TextBox 39"/>
          <p:cNvSpPr txBox="1"/>
          <p:nvPr/>
        </p:nvSpPr>
        <p:spPr>
          <a:xfrm>
            <a:off x="1198365" y="5666687"/>
            <a:ext cx="4702323" cy="3909468"/>
          </a:xfrm>
          <a:prstGeom prst="rect">
            <a:avLst/>
          </a:prstGeom>
        </p:spPr>
        <p:txBody>
          <a:bodyPr wrap="square" lIns="0" tIns="0" rIns="0" bIns="0" rtlCol="0" anchor="t">
            <a:spAutoFit/>
          </a:bodyPr>
          <a:lstStyle/>
          <a:p>
            <a:pPr marL="0" lvl="0" indent="0" algn="just">
              <a:lnSpc>
                <a:spcPts val="3410"/>
              </a:lnSpc>
            </a:pPr>
            <a:r>
              <a:rPr lang="en-US" sz="2800" dirty="0"/>
              <a:t>Despite high agricultural production in many rural and high-productivity communities, farmers face serious challenges in effectively marketing and selling their produce due to poor market access, limited buyer reach, and inefficient distribution systems.</a:t>
            </a:r>
            <a:endParaRPr lang="en-US" sz="2800" dirty="0">
              <a:solidFill>
                <a:srgbClr val="000000"/>
              </a:solidFill>
              <a:latin typeface="Open Sans"/>
              <a:ea typeface="Open Sans"/>
              <a:cs typeface="Open Sans"/>
              <a:sym typeface="Open Sans"/>
            </a:endParaRPr>
          </a:p>
        </p:txBody>
      </p:sp>
      <p:sp>
        <p:nvSpPr>
          <p:cNvPr id="40" name="TextBox 40"/>
          <p:cNvSpPr txBox="1"/>
          <p:nvPr/>
        </p:nvSpPr>
        <p:spPr>
          <a:xfrm>
            <a:off x="6834553" y="5753089"/>
            <a:ext cx="4618892" cy="3909468"/>
          </a:xfrm>
          <a:prstGeom prst="rect">
            <a:avLst/>
          </a:prstGeom>
        </p:spPr>
        <p:txBody>
          <a:bodyPr wrap="square" lIns="0" tIns="0" rIns="0" bIns="0" rtlCol="0" anchor="t">
            <a:spAutoFit/>
          </a:bodyPr>
          <a:lstStyle/>
          <a:p>
            <a:pPr marL="0" lvl="0" indent="0" algn="just">
              <a:lnSpc>
                <a:spcPts val="3410"/>
              </a:lnSpc>
            </a:pPr>
            <a:r>
              <a:rPr lang="en-US" sz="2800" dirty="0"/>
              <a:t>Business people and buyers are often required to travel frequently over long distances to purchase agricultural products, exposing them to safety risks, high transportation costs, and time loss due to the absence of a reliable digital marketplace.</a:t>
            </a:r>
            <a:endParaRPr lang="en-US" sz="2400" dirty="0">
              <a:solidFill>
                <a:srgbClr val="000000"/>
              </a:solidFill>
              <a:latin typeface="Open Sans"/>
              <a:ea typeface="Open Sans"/>
              <a:cs typeface="Open Sans"/>
              <a:sym typeface="Open Sans"/>
            </a:endParaRPr>
          </a:p>
        </p:txBody>
      </p:sp>
      <p:sp>
        <p:nvSpPr>
          <p:cNvPr id="41" name="TextBox 41"/>
          <p:cNvSpPr txBox="1"/>
          <p:nvPr/>
        </p:nvSpPr>
        <p:spPr>
          <a:xfrm>
            <a:off x="12793208" y="5793761"/>
            <a:ext cx="4112433" cy="3023969"/>
          </a:xfrm>
          <a:prstGeom prst="rect">
            <a:avLst/>
          </a:prstGeom>
        </p:spPr>
        <p:txBody>
          <a:bodyPr lIns="0" tIns="0" rIns="0" bIns="0" rtlCol="0" anchor="t">
            <a:spAutoFit/>
          </a:bodyPr>
          <a:lstStyle/>
          <a:p>
            <a:pPr marL="0" lvl="0" indent="0" algn="just">
              <a:lnSpc>
                <a:spcPts val="3410"/>
              </a:lnSpc>
            </a:pPr>
            <a:r>
              <a:rPr lang="en-US" sz="2400" dirty="0"/>
              <a:t>Agricultural products are often sold to consumers at high and inconsistent prices due to the dominance of middlemen and inefficient market structures, despite farmers receiving low payments for their produce.</a:t>
            </a:r>
            <a:endParaRPr lang="en-US" sz="2200" dirty="0">
              <a:solidFill>
                <a:srgbClr val="000000"/>
              </a:solidFill>
              <a:latin typeface="Open Sans"/>
              <a:ea typeface="Open Sans"/>
              <a:cs typeface="Open Sans"/>
              <a:sym typeface="Open Sans"/>
            </a:endParaRPr>
          </a:p>
        </p:txBody>
      </p:sp>
      <p:sp>
        <p:nvSpPr>
          <p:cNvPr id="42" name="TextBox 41">
            <a:extLst>
              <a:ext uri="{FF2B5EF4-FFF2-40B4-BE49-F238E27FC236}">
                <a16:creationId xmlns:a16="http://schemas.microsoft.com/office/drawing/2014/main" id="{585BCE7B-C8E7-4BDC-B100-8FEC68F9C7F2}"/>
              </a:ext>
            </a:extLst>
          </p:cNvPr>
          <p:cNvSpPr txBox="1"/>
          <p:nvPr/>
        </p:nvSpPr>
        <p:spPr>
          <a:xfrm>
            <a:off x="40891" y="9212049"/>
            <a:ext cx="755331" cy="901016"/>
          </a:xfrm>
          <a:prstGeom prst="rect">
            <a:avLst/>
          </a:prstGeom>
          <a:noFill/>
        </p:spPr>
        <p:txBody>
          <a:bodyPr wrap="square">
            <a:spAutoFit/>
          </a:bodyPr>
          <a:lstStyle/>
          <a:p>
            <a:pPr algn="l">
              <a:lnSpc>
                <a:spcPts val="6999"/>
              </a:lnSpc>
            </a:pPr>
            <a:r>
              <a:rPr lang="en-US" sz="4000" b="1" spc="99" dirty="0">
                <a:solidFill>
                  <a:schemeClr val="tx1">
                    <a:lumMod val="95000"/>
                    <a:lumOff val="5000"/>
                  </a:schemeClr>
                </a:solidFill>
                <a:latin typeface="+mj-lt"/>
                <a:ea typeface="Garet Bold"/>
                <a:cs typeface="Garet Bold"/>
                <a:sym typeface="Garet Bold"/>
              </a:rPr>
              <a:t>03</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ED957"/>
        </a:solidFill>
        <a:effectLst/>
      </p:bgPr>
    </p:bg>
    <p:spTree>
      <p:nvGrpSpPr>
        <p:cNvPr id="1" name=""/>
        <p:cNvGrpSpPr/>
        <p:nvPr/>
      </p:nvGrpSpPr>
      <p:grpSpPr>
        <a:xfrm>
          <a:off x="0" y="0"/>
          <a:ext cx="0" cy="0"/>
          <a:chOff x="0" y="0"/>
          <a:chExt cx="0" cy="0"/>
        </a:xfrm>
      </p:grpSpPr>
      <p:sp>
        <p:nvSpPr>
          <p:cNvPr id="2" name="TextBox 2"/>
          <p:cNvSpPr txBox="1"/>
          <p:nvPr/>
        </p:nvSpPr>
        <p:spPr>
          <a:xfrm>
            <a:off x="2557722" y="-92541"/>
            <a:ext cx="12756192" cy="1785104"/>
          </a:xfrm>
          <a:prstGeom prst="rect">
            <a:avLst/>
          </a:prstGeom>
        </p:spPr>
        <p:txBody>
          <a:bodyPr lIns="0" tIns="0" rIns="0" bIns="0" rtlCol="0" anchor="t">
            <a:spAutoFit/>
          </a:bodyPr>
          <a:lstStyle/>
          <a:p>
            <a:pPr algn="ctr">
              <a:lnSpc>
                <a:spcPts val="16800"/>
              </a:lnSpc>
            </a:pPr>
            <a:r>
              <a:rPr lang="en-US" sz="5000" b="1" dirty="0">
                <a:solidFill>
                  <a:srgbClr val="FFFFFF"/>
                </a:solidFill>
                <a:latin typeface="+mj-lt"/>
                <a:ea typeface="Garet Bold"/>
                <a:cs typeface="Garet Bold"/>
                <a:sym typeface="Garet Bold"/>
              </a:rPr>
              <a:t>PROJECT AIM and OBJECTIVE</a:t>
            </a:r>
          </a:p>
        </p:txBody>
      </p:sp>
      <p:sp>
        <p:nvSpPr>
          <p:cNvPr id="3" name="TextBox 3"/>
          <p:cNvSpPr txBox="1"/>
          <p:nvPr/>
        </p:nvSpPr>
        <p:spPr>
          <a:xfrm>
            <a:off x="3214237" y="2060167"/>
            <a:ext cx="12908192" cy="7290586"/>
          </a:xfrm>
          <a:prstGeom prst="rect">
            <a:avLst/>
          </a:prstGeom>
        </p:spPr>
        <p:txBody>
          <a:bodyPr lIns="0" tIns="0" rIns="0" bIns="0" rtlCol="0" anchor="t">
            <a:spAutoFit/>
          </a:bodyPr>
          <a:lstStyle/>
          <a:p>
            <a:pPr marL="0" lvl="0" indent="0" algn="just">
              <a:lnSpc>
                <a:spcPct val="150000"/>
              </a:lnSpc>
            </a:pPr>
            <a:r>
              <a:rPr lang="en-US" sz="4000" dirty="0">
                <a:solidFill>
                  <a:schemeClr val="bg1"/>
                </a:solidFill>
              </a:rPr>
              <a:t>The aim of this is to build a mobile application (</a:t>
            </a:r>
            <a:r>
              <a:rPr lang="en-US" sz="4000" b="1" dirty="0" err="1">
                <a:solidFill>
                  <a:schemeClr val="bg1"/>
                </a:solidFill>
              </a:rPr>
              <a:t>Agrinexa</a:t>
            </a:r>
            <a:r>
              <a:rPr lang="en-US" sz="4000" b="1" dirty="0">
                <a:solidFill>
                  <a:schemeClr val="bg1"/>
                </a:solidFill>
              </a:rPr>
              <a:t>)</a:t>
            </a:r>
            <a:r>
              <a:rPr lang="en-US" sz="4000" dirty="0">
                <a:solidFill>
                  <a:schemeClr val="bg1"/>
                </a:solidFill>
              </a:rPr>
              <a:t> that provides a structured digital marketplace for agricultural products, allows farmers to list their produce, buyers to place orders, and both parties to communicate directly there by solving the issue of unfair market price, risky traveling for agricultural product and many more. The system also supports delivery options, payment confirmation, and seller verification to ensure trust and transparency.</a:t>
            </a:r>
            <a:endParaRPr lang="en-US" sz="4000" dirty="0">
              <a:solidFill>
                <a:schemeClr val="bg1"/>
              </a:solidFill>
              <a:latin typeface="Open Sans"/>
              <a:ea typeface="Open Sans"/>
              <a:cs typeface="Open Sans"/>
              <a:sym typeface="Open Sans"/>
            </a:endParaRPr>
          </a:p>
        </p:txBody>
      </p:sp>
      <p:sp>
        <p:nvSpPr>
          <p:cNvPr id="4" name="AutoShape 4"/>
          <p:cNvSpPr/>
          <p:nvPr/>
        </p:nvSpPr>
        <p:spPr>
          <a:xfrm flipV="1">
            <a:off x="6858000" y="1692563"/>
            <a:ext cx="4267200" cy="0"/>
          </a:xfrm>
          <a:prstGeom prst="line">
            <a:avLst/>
          </a:prstGeom>
          <a:ln w="95250" cap="flat">
            <a:solidFill>
              <a:srgbClr val="FFFFFF"/>
            </a:solidFill>
            <a:prstDash val="solid"/>
            <a:headEnd type="none" w="sm" len="sm"/>
            <a:tailEnd type="none" w="sm" len="sm"/>
          </a:ln>
        </p:spPr>
        <p:txBody>
          <a:bodyPr/>
          <a:lstStyle/>
          <a:p>
            <a:endParaRPr lang="en-US" dirty="0"/>
          </a:p>
        </p:txBody>
      </p:sp>
      <p:grpSp>
        <p:nvGrpSpPr>
          <p:cNvPr id="8" name="Group 8"/>
          <p:cNvGrpSpPr/>
          <p:nvPr/>
        </p:nvGrpSpPr>
        <p:grpSpPr>
          <a:xfrm>
            <a:off x="15664971" y="-782737"/>
            <a:ext cx="3744615" cy="374461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FFFFFF">
                  <a:alpha val="19608"/>
                </a:srgbClr>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11" name="Group 11"/>
          <p:cNvGrpSpPr/>
          <p:nvPr/>
        </p:nvGrpSpPr>
        <p:grpSpPr>
          <a:xfrm>
            <a:off x="755020" y="7356528"/>
            <a:ext cx="2350854" cy="235085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FFFFFF">
                  <a:alpha val="19608"/>
                </a:srgbClr>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sp>
        <p:nvSpPr>
          <p:cNvPr id="14" name="TextBox 13">
            <a:extLst>
              <a:ext uri="{FF2B5EF4-FFF2-40B4-BE49-F238E27FC236}">
                <a16:creationId xmlns:a16="http://schemas.microsoft.com/office/drawing/2014/main" id="{0029B396-C430-4B10-A988-2768C70B86C6}"/>
              </a:ext>
            </a:extLst>
          </p:cNvPr>
          <p:cNvSpPr txBox="1"/>
          <p:nvPr/>
        </p:nvSpPr>
        <p:spPr>
          <a:xfrm>
            <a:off x="377354" y="9056408"/>
            <a:ext cx="755331" cy="901016"/>
          </a:xfrm>
          <a:prstGeom prst="rect">
            <a:avLst/>
          </a:prstGeom>
          <a:noFill/>
        </p:spPr>
        <p:txBody>
          <a:bodyPr wrap="square">
            <a:spAutoFit/>
          </a:bodyPr>
          <a:lstStyle/>
          <a:p>
            <a:pPr algn="l">
              <a:lnSpc>
                <a:spcPts val="6999"/>
              </a:lnSpc>
            </a:pPr>
            <a:r>
              <a:rPr lang="en-US" sz="4000" b="1" spc="99" dirty="0">
                <a:solidFill>
                  <a:schemeClr val="tx1">
                    <a:lumMod val="95000"/>
                    <a:lumOff val="5000"/>
                  </a:schemeClr>
                </a:solidFill>
                <a:latin typeface="+mj-lt"/>
                <a:ea typeface="Garet Bold"/>
                <a:cs typeface="Garet Bold"/>
                <a:sym typeface="Garet Bold"/>
              </a:rPr>
              <a:t>04</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93899" y="2862483"/>
            <a:ext cx="16865576" cy="1696142"/>
          </a:xfrm>
          <a:custGeom>
            <a:avLst/>
            <a:gdLst/>
            <a:ahLst/>
            <a:cxnLst/>
            <a:rect l="l" t="t" r="r" b="b"/>
            <a:pathLst>
              <a:path w="16484814" h="1696142">
                <a:moveTo>
                  <a:pt x="0" y="0"/>
                </a:moveTo>
                <a:lnTo>
                  <a:pt x="16484814" y="0"/>
                </a:lnTo>
                <a:lnTo>
                  <a:pt x="16484814" y="1696142"/>
                </a:lnTo>
                <a:lnTo>
                  <a:pt x="0" y="1696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2000" dirty="0"/>
          </a:p>
        </p:txBody>
      </p:sp>
      <p:grpSp>
        <p:nvGrpSpPr>
          <p:cNvPr id="3" name="Group 3"/>
          <p:cNvGrpSpPr/>
          <p:nvPr/>
        </p:nvGrpSpPr>
        <p:grpSpPr>
          <a:xfrm>
            <a:off x="-523581" y="-141108"/>
            <a:ext cx="18811582" cy="2372092"/>
            <a:chOff x="-1" y="-38100"/>
            <a:chExt cx="4816594" cy="624748"/>
          </a:xfrm>
        </p:grpSpPr>
        <p:sp>
          <p:nvSpPr>
            <p:cNvPr id="4" name="Freeform 4"/>
            <p:cNvSpPr/>
            <p:nvPr/>
          </p:nvSpPr>
          <p:spPr>
            <a:xfrm>
              <a:off x="-1" y="-6579"/>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7ED957"/>
            </a:solidFill>
          </p:spPr>
          <p:txBody>
            <a:bodyPr/>
            <a:lstStyle/>
            <a:p>
              <a:endParaRPr lang="en-US" sz="2000" dirty="0"/>
            </a:p>
          </p:txBody>
        </p:sp>
        <p:sp>
          <p:nvSpPr>
            <p:cNvPr id="5" name="TextBox 5"/>
            <p:cNvSpPr txBox="1"/>
            <p:nvPr/>
          </p:nvSpPr>
          <p:spPr>
            <a:xfrm>
              <a:off x="0" y="-38100"/>
              <a:ext cx="4816593" cy="624748"/>
            </a:xfrm>
            <a:prstGeom prst="rect">
              <a:avLst/>
            </a:prstGeom>
          </p:spPr>
          <p:txBody>
            <a:bodyPr lIns="50800" tIns="50800" rIns="50800" bIns="50800" rtlCol="0" anchor="ctr"/>
            <a:lstStyle/>
            <a:p>
              <a:pPr algn="ctr">
                <a:lnSpc>
                  <a:spcPts val="2659"/>
                </a:lnSpc>
              </a:pPr>
              <a:endParaRPr sz="2000" dirty="0"/>
            </a:p>
          </p:txBody>
        </p:sp>
      </p:grpSp>
      <p:sp>
        <p:nvSpPr>
          <p:cNvPr id="6" name="TextBox 6"/>
          <p:cNvSpPr txBox="1"/>
          <p:nvPr/>
        </p:nvSpPr>
        <p:spPr>
          <a:xfrm>
            <a:off x="840814" y="794265"/>
            <a:ext cx="4588107" cy="904094"/>
          </a:xfrm>
          <a:prstGeom prst="rect">
            <a:avLst/>
          </a:prstGeom>
        </p:spPr>
        <p:txBody>
          <a:bodyPr lIns="0" tIns="0" rIns="0" bIns="0" rtlCol="0" anchor="t">
            <a:spAutoFit/>
          </a:bodyPr>
          <a:lstStyle/>
          <a:p>
            <a:pPr algn="l">
              <a:lnSpc>
                <a:spcPts val="6999"/>
              </a:lnSpc>
            </a:pPr>
            <a:r>
              <a:rPr lang="en-US" sz="5400" b="1" spc="99" dirty="0">
                <a:solidFill>
                  <a:srgbClr val="FFFFFF"/>
                </a:solidFill>
                <a:latin typeface="Garet Bold"/>
                <a:ea typeface="Garet Bold"/>
                <a:cs typeface="Garet Bold"/>
                <a:sym typeface="Garet Bold"/>
              </a:rPr>
              <a:t>TIMELINE</a:t>
            </a:r>
          </a:p>
        </p:txBody>
      </p:sp>
      <p:grpSp>
        <p:nvGrpSpPr>
          <p:cNvPr id="12" name="Group 12"/>
          <p:cNvGrpSpPr/>
          <p:nvPr/>
        </p:nvGrpSpPr>
        <p:grpSpPr>
          <a:xfrm rot="5400000">
            <a:off x="369398" y="4966156"/>
            <a:ext cx="2119916" cy="2350388"/>
            <a:chOff x="0" y="0"/>
            <a:chExt cx="812800" cy="812800"/>
          </a:xfrm>
        </p:grpSpPr>
        <p:sp>
          <p:nvSpPr>
            <p:cNvPr id="13" name="Freeform 13"/>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7ED957">
                <a:alpha val="29804"/>
              </a:srgbClr>
            </a:solidFill>
          </p:spPr>
        </p:sp>
        <p:sp>
          <p:nvSpPr>
            <p:cNvPr id="14" name="TextBox 14"/>
            <p:cNvSpPr txBox="1"/>
            <p:nvPr/>
          </p:nvSpPr>
          <p:spPr>
            <a:xfrm>
              <a:off x="0" y="-38100"/>
              <a:ext cx="812800" cy="850900"/>
            </a:xfrm>
            <a:prstGeom prst="rect">
              <a:avLst/>
            </a:prstGeom>
          </p:spPr>
          <p:txBody>
            <a:bodyPr lIns="50800" tIns="50800" rIns="50800" bIns="50800" rtlCol="0" anchor="ctr"/>
            <a:lstStyle/>
            <a:p>
              <a:pPr algn="ctr">
                <a:lnSpc>
                  <a:spcPts val="2659"/>
                </a:lnSpc>
              </a:pPr>
              <a:endParaRPr sz="2000" dirty="0"/>
            </a:p>
          </p:txBody>
        </p:sp>
      </p:grpSp>
      <p:grpSp>
        <p:nvGrpSpPr>
          <p:cNvPr id="15" name="Group 15"/>
          <p:cNvGrpSpPr/>
          <p:nvPr/>
        </p:nvGrpSpPr>
        <p:grpSpPr>
          <a:xfrm rot="5400000">
            <a:off x="1873801" y="6350508"/>
            <a:ext cx="1105900" cy="122613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7ED957">
                  <a:alpha val="40000"/>
                </a:srgbClr>
              </a:solidFill>
              <a:prstDash val="solid"/>
              <a:miter/>
            </a:ln>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000" dirty="0"/>
            </a:p>
          </p:txBody>
        </p:sp>
      </p:grpSp>
      <p:grpSp>
        <p:nvGrpSpPr>
          <p:cNvPr id="18" name="Group 18"/>
          <p:cNvGrpSpPr/>
          <p:nvPr/>
        </p:nvGrpSpPr>
        <p:grpSpPr>
          <a:xfrm>
            <a:off x="16287059" y="8247665"/>
            <a:ext cx="2954728" cy="295472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7ED957">
                  <a:alpha val="19608"/>
                </a:srgbClr>
              </a:solidFill>
              <a:prstDash val="solid"/>
              <a:miter/>
            </a:ln>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000" dirty="0"/>
            </a:p>
          </p:txBody>
        </p:sp>
      </p:grpSp>
      <p:sp>
        <p:nvSpPr>
          <p:cNvPr id="22" name="TextBox 22"/>
          <p:cNvSpPr txBox="1"/>
          <p:nvPr/>
        </p:nvSpPr>
        <p:spPr>
          <a:xfrm>
            <a:off x="14365225" y="3411283"/>
            <a:ext cx="2438329" cy="473206"/>
          </a:xfrm>
          <a:prstGeom prst="rect">
            <a:avLst/>
          </a:prstGeom>
        </p:spPr>
        <p:txBody>
          <a:bodyPr wrap="square" lIns="0" tIns="0" rIns="0" bIns="0" rtlCol="0" anchor="t">
            <a:spAutoFit/>
          </a:bodyPr>
          <a:lstStyle/>
          <a:p>
            <a:pPr algn="ctr">
              <a:lnSpc>
                <a:spcPts val="3779"/>
              </a:lnSpc>
            </a:pPr>
            <a:r>
              <a:rPr lang="en-US" sz="2800" b="1" dirty="0">
                <a:solidFill>
                  <a:srgbClr val="FFFFFF"/>
                </a:solidFill>
                <a:latin typeface="Garet Bold"/>
                <a:ea typeface="Garet Bold"/>
                <a:cs typeface="Garet Bold"/>
                <a:sym typeface="Garet Bold"/>
              </a:rPr>
              <a:t>Deployment</a:t>
            </a:r>
          </a:p>
        </p:txBody>
      </p:sp>
      <p:sp>
        <p:nvSpPr>
          <p:cNvPr id="23" name="TextBox 23"/>
          <p:cNvSpPr txBox="1"/>
          <p:nvPr/>
        </p:nvSpPr>
        <p:spPr>
          <a:xfrm>
            <a:off x="7905429" y="3526421"/>
            <a:ext cx="2823589" cy="473206"/>
          </a:xfrm>
          <a:prstGeom prst="rect">
            <a:avLst/>
          </a:prstGeom>
        </p:spPr>
        <p:txBody>
          <a:bodyPr wrap="square" lIns="0" tIns="0" rIns="0" bIns="0" rtlCol="0" anchor="t">
            <a:spAutoFit/>
          </a:bodyPr>
          <a:lstStyle/>
          <a:p>
            <a:pPr algn="ctr">
              <a:lnSpc>
                <a:spcPts val="3779"/>
              </a:lnSpc>
            </a:pPr>
            <a:r>
              <a:rPr lang="en-US" sz="2800" b="1" dirty="0">
                <a:solidFill>
                  <a:srgbClr val="FFFFFF"/>
                </a:solidFill>
                <a:latin typeface="Garet Bold"/>
                <a:ea typeface="Garet Bold"/>
                <a:cs typeface="Garet Bold"/>
                <a:sym typeface="Garet Bold"/>
              </a:rPr>
              <a:t>Development</a:t>
            </a:r>
          </a:p>
        </p:txBody>
      </p:sp>
      <p:sp>
        <p:nvSpPr>
          <p:cNvPr id="24" name="TextBox 24"/>
          <p:cNvSpPr txBox="1"/>
          <p:nvPr/>
        </p:nvSpPr>
        <p:spPr>
          <a:xfrm>
            <a:off x="1484443" y="3526421"/>
            <a:ext cx="1752139" cy="473206"/>
          </a:xfrm>
          <a:prstGeom prst="rect">
            <a:avLst/>
          </a:prstGeom>
        </p:spPr>
        <p:txBody>
          <a:bodyPr wrap="square" lIns="0" tIns="0" rIns="0" bIns="0" rtlCol="0" anchor="t">
            <a:spAutoFit/>
          </a:bodyPr>
          <a:lstStyle/>
          <a:p>
            <a:pPr algn="ctr">
              <a:lnSpc>
                <a:spcPts val="3779"/>
              </a:lnSpc>
            </a:pPr>
            <a:r>
              <a:rPr lang="en-US" sz="2800" b="1" dirty="0">
                <a:solidFill>
                  <a:srgbClr val="FFFFFF"/>
                </a:solidFill>
                <a:latin typeface="Garet Bold"/>
                <a:ea typeface="Garet Bold"/>
                <a:cs typeface="Garet Bold"/>
                <a:sym typeface="Garet Bold"/>
              </a:rPr>
              <a:t>Planning</a:t>
            </a:r>
          </a:p>
        </p:txBody>
      </p:sp>
      <p:sp>
        <p:nvSpPr>
          <p:cNvPr id="26" name="TextBox 26"/>
          <p:cNvSpPr txBox="1"/>
          <p:nvPr/>
        </p:nvSpPr>
        <p:spPr>
          <a:xfrm>
            <a:off x="14046090" y="5487773"/>
            <a:ext cx="2783835" cy="488595"/>
          </a:xfrm>
          <a:prstGeom prst="rect">
            <a:avLst/>
          </a:prstGeom>
        </p:spPr>
        <p:txBody>
          <a:bodyPr wrap="square" lIns="0" tIns="0" rIns="0" bIns="0" rtlCol="0" anchor="t">
            <a:spAutoFit/>
          </a:bodyPr>
          <a:lstStyle/>
          <a:p>
            <a:pPr algn="ctr">
              <a:lnSpc>
                <a:spcPts val="3779"/>
              </a:lnSpc>
            </a:pPr>
            <a:r>
              <a:rPr lang="en-US" sz="2800" b="1" dirty="0">
                <a:solidFill>
                  <a:srgbClr val="FFFFFF"/>
                </a:solidFill>
                <a:latin typeface="Garet Bold"/>
                <a:ea typeface="Garet Bold"/>
                <a:cs typeface="Garet Bold"/>
                <a:sym typeface="Garet Bold"/>
              </a:rPr>
              <a:t>SOON</a:t>
            </a:r>
          </a:p>
        </p:txBody>
      </p:sp>
      <p:grpSp>
        <p:nvGrpSpPr>
          <p:cNvPr id="39" name="Group 12">
            <a:extLst>
              <a:ext uri="{FF2B5EF4-FFF2-40B4-BE49-F238E27FC236}">
                <a16:creationId xmlns:a16="http://schemas.microsoft.com/office/drawing/2014/main" id="{5796742E-5A5C-48B0-8E85-5406C95272BE}"/>
              </a:ext>
            </a:extLst>
          </p:cNvPr>
          <p:cNvGrpSpPr/>
          <p:nvPr/>
        </p:nvGrpSpPr>
        <p:grpSpPr>
          <a:xfrm rot="5400000">
            <a:off x="7240252" y="6697025"/>
            <a:ext cx="2244231" cy="2350388"/>
            <a:chOff x="0" y="0"/>
            <a:chExt cx="812800" cy="812800"/>
          </a:xfrm>
        </p:grpSpPr>
        <p:sp>
          <p:nvSpPr>
            <p:cNvPr id="40" name="Freeform 13">
              <a:extLst>
                <a:ext uri="{FF2B5EF4-FFF2-40B4-BE49-F238E27FC236}">
                  <a16:creationId xmlns:a16="http://schemas.microsoft.com/office/drawing/2014/main" id="{93AFAF98-E731-4012-BC10-24C1149EF664}"/>
                </a:ext>
              </a:extLst>
            </p:cNvPr>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7ED957">
                <a:alpha val="29804"/>
              </a:srgbClr>
            </a:solidFill>
          </p:spPr>
        </p:sp>
        <p:sp>
          <p:nvSpPr>
            <p:cNvPr id="41" name="TextBox 14">
              <a:extLst>
                <a:ext uri="{FF2B5EF4-FFF2-40B4-BE49-F238E27FC236}">
                  <a16:creationId xmlns:a16="http://schemas.microsoft.com/office/drawing/2014/main" id="{ABB4CA2C-8110-4D9D-A1E1-983485055177}"/>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pPr>
              <a:endParaRPr sz="2000" dirty="0"/>
            </a:p>
          </p:txBody>
        </p:sp>
      </p:grpSp>
      <p:grpSp>
        <p:nvGrpSpPr>
          <p:cNvPr id="42" name="Group 15">
            <a:extLst>
              <a:ext uri="{FF2B5EF4-FFF2-40B4-BE49-F238E27FC236}">
                <a16:creationId xmlns:a16="http://schemas.microsoft.com/office/drawing/2014/main" id="{7D266C45-102C-45D8-84F3-AF3B40D20497}"/>
              </a:ext>
            </a:extLst>
          </p:cNvPr>
          <p:cNvGrpSpPr/>
          <p:nvPr/>
        </p:nvGrpSpPr>
        <p:grpSpPr>
          <a:xfrm rot="5400000">
            <a:off x="9061223" y="7913155"/>
            <a:ext cx="989225" cy="1548672"/>
            <a:chOff x="0" y="0"/>
            <a:chExt cx="812800" cy="812800"/>
          </a:xfrm>
        </p:grpSpPr>
        <p:sp>
          <p:nvSpPr>
            <p:cNvPr id="43" name="Freeform 16">
              <a:extLst>
                <a:ext uri="{FF2B5EF4-FFF2-40B4-BE49-F238E27FC236}">
                  <a16:creationId xmlns:a16="http://schemas.microsoft.com/office/drawing/2014/main" id="{BDAFC486-2DFF-4F7C-8231-964BD4EFAC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7ED957">
                  <a:alpha val="40000"/>
                </a:srgbClr>
              </a:solidFill>
              <a:prstDash val="solid"/>
              <a:miter/>
            </a:ln>
          </p:spPr>
        </p:sp>
        <p:sp>
          <p:nvSpPr>
            <p:cNvPr id="44" name="TextBox 17">
              <a:extLst>
                <a:ext uri="{FF2B5EF4-FFF2-40B4-BE49-F238E27FC236}">
                  <a16:creationId xmlns:a16="http://schemas.microsoft.com/office/drawing/2014/main" id="{CB9B6F64-447E-43AB-AEF4-F60E94DE979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000" dirty="0"/>
            </a:p>
          </p:txBody>
        </p:sp>
      </p:grpSp>
      <p:grpSp>
        <p:nvGrpSpPr>
          <p:cNvPr id="45" name="Group 12">
            <a:extLst>
              <a:ext uri="{FF2B5EF4-FFF2-40B4-BE49-F238E27FC236}">
                <a16:creationId xmlns:a16="http://schemas.microsoft.com/office/drawing/2014/main" id="{C95479C6-2097-49A6-BAAE-ADB13C0ED99D}"/>
              </a:ext>
            </a:extLst>
          </p:cNvPr>
          <p:cNvGrpSpPr/>
          <p:nvPr/>
        </p:nvGrpSpPr>
        <p:grpSpPr>
          <a:xfrm rot="5400000">
            <a:off x="14297729" y="5288907"/>
            <a:ext cx="2119916" cy="2350388"/>
            <a:chOff x="0" y="0"/>
            <a:chExt cx="812800" cy="812800"/>
          </a:xfrm>
        </p:grpSpPr>
        <p:sp>
          <p:nvSpPr>
            <p:cNvPr id="46" name="Freeform 13">
              <a:extLst>
                <a:ext uri="{FF2B5EF4-FFF2-40B4-BE49-F238E27FC236}">
                  <a16:creationId xmlns:a16="http://schemas.microsoft.com/office/drawing/2014/main" id="{0D15CA52-9C40-47CE-97F3-6F33866A8BDE}"/>
                </a:ext>
              </a:extLst>
            </p:cNvPr>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7ED957">
                <a:alpha val="29804"/>
              </a:srgbClr>
            </a:solidFill>
          </p:spPr>
        </p:sp>
        <p:sp>
          <p:nvSpPr>
            <p:cNvPr id="47" name="TextBox 14">
              <a:extLst>
                <a:ext uri="{FF2B5EF4-FFF2-40B4-BE49-F238E27FC236}">
                  <a16:creationId xmlns:a16="http://schemas.microsoft.com/office/drawing/2014/main" id="{4F65CCD8-8B32-43DD-8F3F-56FBC80B62E2}"/>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pPr>
              <a:endParaRPr sz="2000" dirty="0"/>
            </a:p>
          </p:txBody>
        </p:sp>
      </p:grpSp>
      <p:sp>
        <p:nvSpPr>
          <p:cNvPr id="48" name="Freeform 16">
            <a:extLst>
              <a:ext uri="{FF2B5EF4-FFF2-40B4-BE49-F238E27FC236}">
                <a16:creationId xmlns:a16="http://schemas.microsoft.com/office/drawing/2014/main" id="{504DE78B-7618-42E8-B6F7-2551114742D2}"/>
              </a:ext>
            </a:extLst>
          </p:cNvPr>
          <p:cNvSpPr/>
          <p:nvPr/>
        </p:nvSpPr>
        <p:spPr>
          <a:xfrm rot="5400000" flipH="1">
            <a:off x="13308015" y="6350959"/>
            <a:ext cx="2244228" cy="190248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7ED957">
                <a:alpha val="40000"/>
              </a:srgbClr>
            </a:solidFill>
            <a:prstDash val="solid"/>
            <a:miter/>
          </a:ln>
        </p:spPr>
      </p:sp>
      <p:sp>
        <p:nvSpPr>
          <p:cNvPr id="49" name="TextBox 24">
            <a:extLst>
              <a:ext uri="{FF2B5EF4-FFF2-40B4-BE49-F238E27FC236}">
                <a16:creationId xmlns:a16="http://schemas.microsoft.com/office/drawing/2014/main" id="{8D1DBCFE-2840-476F-92ED-EE0F553CA294}"/>
              </a:ext>
            </a:extLst>
          </p:cNvPr>
          <p:cNvSpPr txBox="1"/>
          <p:nvPr/>
        </p:nvSpPr>
        <p:spPr>
          <a:xfrm>
            <a:off x="5004348" y="3561928"/>
            <a:ext cx="1752139" cy="488595"/>
          </a:xfrm>
          <a:prstGeom prst="rect">
            <a:avLst/>
          </a:prstGeom>
        </p:spPr>
        <p:txBody>
          <a:bodyPr lIns="0" tIns="0" rIns="0" bIns="0" rtlCol="0" anchor="t">
            <a:spAutoFit/>
          </a:bodyPr>
          <a:lstStyle/>
          <a:p>
            <a:pPr algn="ctr">
              <a:lnSpc>
                <a:spcPts val="3779"/>
              </a:lnSpc>
            </a:pPr>
            <a:r>
              <a:rPr lang="en-US" sz="2800" b="1" dirty="0">
                <a:solidFill>
                  <a:srgbClr val="FFFFFF"/>
                </a:solidFill>
                <a:latin typeface="Garet Bold"/>
                <a:ea typeface="Garet Bold"/>
                <a:cs typeface="Garet Bold"/>
                <a:sym typeface="Garet Bold"/>
              </a:rPr>
              <a:t>Design</a:t>
            </a:r>
          </a:p>
        </p:txBody>
      </p:sp>
      <p:sp>
        <p:nvSpPr>
          <p:cNvPr id="55" name="TextBox 24">
            <a:extLst>
              <a:ext uri="{FF2B5EF4-FFF2-40B4-BE49-F238E27FC236}">
                <a16:creationId xmlns:a16="http://schemas.microsoft.com/office/drawing/2014/main" id="{5843E054-A7EA-4BA2-94D2-47F562DA4448}"/>
              </a:ext>
            </a:extLst>
          </p:cNvPr>
          <p:cNvSpPr txBox="1"/>
          <p:nvPr/>
        </p:nvSpPr>
        <p:spPr>
          <a:xfrm>
            <a:off x="11700093" y="3518726"/>
            <a:ext cx="1752139" cy="488595"/>
          </a:xfrm>
          <a:prstGeom prst="rect">
            <a:avLst/>
          </a:prstGeom>
        </p:spPr>
        <p:txBody>
          <a:bodyPr wrap="square" lIns="0" tIns="0" rIns="0" bIns="0" rtlCol="0" anchor="t">
            <a:spAutoFit/>
          </a:bodyPr>
          <a:lstStyle/>
          <a:p>
            <a:pPr algn="ctr">
              <a:lnSpc>
                <a:spcPts val="3779"/>
              </a:lnSpc>
            </a:pPr>
            <a:r>
              <a:rPr lang="en-US" sz="2800" b="1" dirty="0">
                <a:solidFill>
                  <a:srgbClr val="FFFFFF"/>
                </a:solidFill>
                <a:latin typeface="Garet Bold"/>
                <a:ea typeface="Garet Bold"/>
                <a:cs typeface="Garet Bold"/>
                <a:sym typeface="Garet Bold"/>
              </a:rPr>
              <a:t>Testing</a:t>
            </a:r>
          </a:p>
        </p:txBody>
      </p:sp>
      <p:sp>
        <p:nvSpPr>
          <p:cNvPr id="56" name="Freeform 2">
            <a:extLst>
              <a:ext uri="{FF2B5EF4-FFF2-40B4-BE49-F238E27FC236}">
                <a16:creationId xmlns:a16="http://schemas.microsoft.com/office/drawing/2014/main" id="{30865A94-3AA4-446A-930E-093D3F37EA26}"/>
              </a:ext>
            </a:extLst>
          </p:cNvPr>
          <p:cNvSpPr/>
          <p:nvPr/>
        </p:nvSpPr>
        <p:spPr>
          <a:xfrm>
            <a:off x="317054" y="5663498"/>
            <a:ext cx="16865575" cy="1696142"/>
          </a:xfrm>
          <a:custGeom>
            <a:avLst/>
            <a:gdLst/>
            <a:ahLst/>
            <a:cxnLst/>
            <a:rect l="l" t="t" r="r" b="b"/>
            <a:pathLst>
              <a:path w="16484814" h="1696142">
                <a:moveTo>
                  <a:pt x="0" y="0"/>
                </a:moveTo>
                <a:lnTo>
                  <a:pt x="16484814" y="0"/>
                </a:lnTo>
                <a:lnTo>
                  <a:pt x="16484814" y="1696142"/>
                </a:lnTo>
                <a:lnTo>
                  <a:pt x="0" y="1696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2000" dirty="0"/>
          </a:p>
        </p:txBody>
      </p:sp>
      <p:sp>
        <p:nvSpPr>
          <p:cNvPr id="57" name="TextBox 24">
            <a:extLst>
              <a:ext uri="{FF2B5EF4-FFF2-40B4-BE49-F238E27FC236}">
                <a16:creationId xmlns:a16="http://schemas.microsoft.com/office/drawing/2014/main" id="{B9C87392-97E6-493B-A3AC-688C29B80D11}"/>
              </a:ext>
            </a:extLst>
          </p:cNvPr>
          <p:cNvSpPr txBox="1"/>
          <p:nvPr/>
        </p:nvSpPr>
        <p:spPr>
          <a:xfrm>
            <a:off x="143988" y="5139186"/>
            <a:ext cx="2218057" cy="514436"/>
          </a:xfrm>
          <a:prstGeom prst="rect">
            <a:avLst/>
          </a:prstGeom>
        </p:spPr>
        <p:txBody>
          <a:bodyPr wrap="square" lIns="0" tIns="0" rIns="0" bIns="0" rtlCol="0" anchor="t">
            <a:spAutoFit/>
          </a:bodyPr>
          <a:lstStyle/>
          <a:p>
            <a:pPr algn="ctr">
              <a:lnSpc>
                <a:spcPts val="3779"/>
              </a:lnSpc>
            </a:pPr>
            <a:r>
              <a:rPr lang="en-US" sz="4000" b="1" i="1" dirty="0">
                <a:latin typeface="+mj-lt"/>
                <a:ea typeface="Garet Bold"/>
                <a:cs typeface="Garet Bold"/>
                <a:sym typeface="Garet Bold"/>
              </a:rPr>
              <a:t>Activities</a:t>
            </a:r>
            <a:endParaRPr lang="en-US" sz="2800" b="1" i="1" dirty="0">
              <a:latin typeface="+mj-lt"/>
              <a:ea typeface="Garet Bold"/>
              <a:cs typeface="Garet Bold"/>
              <a:sym typeface="Garet Bold"/>
            </a:endParaRPr>
          </a:p>
        </p:txBody>
      </p:sp>
      <p:sp>
        <p:nvSpPr>
          <p:cNvPr id="58" name="TextBox 24">
            <a:extLst>
              <a:ext uri="{FF2B5EF4-FFF2-40B4-BE49-F238E27FC236}">
                <a16:creationId xmlns:a16="http://schemas.microsoft.com/office/drawing/2014/main" id="{D9157294-270E-499D-A81D-EF0B10097E16}"/>
              </a:ext>
            </a:extLst>
          </p:cNvPr>
          <p:cNvSpPr txBox="1"/>
          <p:nvPr/>
        </p:nvSpPr>
        <p:spPr>
          <a:xfrm>
            <a:off x="6503" y="2403426"/>
            <a:ext cx="2218057" cy="514436"/>
          </a:xfrm>
          <a:prstGeom prst="rect">
            <a:avLst/>
          </a:prstGeom>
        </p:spPr>
        <p:txBody>
          <a:bodyPr wrap="square" lIns="0" tIns="0" rIns="0" bIns="0" rtlCol="0" anchor="t">
            <a:spAutoFit/>
          </a:bodyPr>
          <a:lstStyle/>
          <a:p>
            <a:pPr algn="ctr">
              <a:lnSpc>
                <a:spcPts val="3779"/>
              </a:lnSpc>
            </a:pPr>
            <a:r>
              <a:rPr lang="en-US" sz="4000" b="1" i="1" dirty="0">
                <a:latin typeface="+mj-lt"/>
                <a:ea typeface="Garet Bold"/>
                <a:cs typeface="Garet Bold"/>
                <a:sym typeface="Garet Bold"/>
              </a:rPr>
              <a:t>Phases</a:t>
            </a:r>
            <a:endParaRPr lang="en-US" sz="2800" b="1" i="1" dirty="0">
              <a:latin typeface="+mj-lt"/>
              <a:ea typeface="Garet Bold"/>
              <a:cs typeface="Garet Bold"/>
              <a:sym typeface="Garet Bold"/>
            </a:endParaRPr>
          </a:p>
        </p:txBody>
      </p:sp>
      <p:sp>
        <p:nvSpPr>
          <p:cNvPr id="59" name="TextBox 24">
            <a:extLst>
              <a:ext uri="{FF2B5EF4-FFF2-40B4-BE49-F238E27FC236}">
                <a16:creationId xmlns:a16="http://schemas.microsoft.com/office/drawing/2014/main" id="{EF23EF96-ACB5-4A78-A3F3-67A77F57DDF8}"/>
              </a:ext>
            </a:extLst>
          </p:cNvPr>
          <p:cNvSpPr txBox="1"/>
          <p:nvPr/>
        </p:nvSpPr>
        <p:spPr>
          <a:xfrm>
            <a:off x="0" y="8106765"/>
            <a:ext cx="2218057" cy="514436"/>
          </a:xfrm>
          <a:prstGeom prst="rect">
            <a:avLst/>
          </a:prstGeom>
        </p:spPr>
        <p:txBody>
          <a:bodyPr wrap="square" lIns="0" tIns="0" rIns="0" bIns="0" rtlCol="0" anchor="t">
            <a:spAutoFit/>
          </a:bodyPr>
          <a:lstStyle/>
          <a:p>
            <a:pPr algn="ctr">
              <a:lnSpc>
                <a:spcPts val="3779"/>
              </a:lnSpc>
            </a:pPr>
            <a:r>
              <a:rPr lang="en-US" sz="4000" b="1" i="1" dirty="0">
                <a:latin typeface="+mj-lt"/>
                <a:ea typeface="Garet Bold"/>
                <a:cs typeface="Garet Bold"/>
                <a:sym typeface="Garet Bold"/>
              </a:rPr>
              <a:t>Duration</a:t>
            </a:r>
            <a:endParaRPr lang="en-US" sz="2800" b="1" i="1" dirty="0">
              <a:latin typeface="+mj-lt"/>
              <a:ea typeface="Garet Bold"/>
              <a:cs typeface="Garet Bold"/>
              <a:sym typeface="Garet Bold"/>
            </a:endParaRPr>
          </a:p>
        </p:txBody>
      </p:sp>
      <p:sp>
        <p:nvSpPr>
          <p:cNvPr id="60" name="Freeform 2">
            <a:extLst>
              <a:ext uri="{FF2B5EF4-FFF2-40B4-BE49-F238E27FC236}">
                <a16:creationId xmlns:a16="http://schemas.microsoft.com/office/drawing/2014/main" id="{4986EC83-0E3E-48CB-A45E-3C2299F1BA31}"/>
              </a:ext>
            </a:extLst>
          </p:cNvPr>
          <p:cNvSpPr/>
          <p:nvPr/>
        </p:nvSpPr>
        <p:spPr>
          <a:xfrm>
            <a:off x="317055" y="8622741"/>
            <a:ext cx="16865575" cy="1696142"/>
          </a:xfrm>
          <a:custGeom>
            <a:avLst/>
            <a:gdLst/>
            <a:ahLst/>
            <a:cxnLst/>
            <a:rect l="l" t="t" r="r" b="b"/>
            <a:pathLst>
              <a:path w="16484814" h="1696142">
                <a:moveTo>
                  <a:pt x="0" y="0"/>
                </a:moveTo>
                <a:lnTo>
                  <a:pt x="16484814" y="0"/>
                </a:lnTo>
                <a:lnTo>
                  <a:pt x="16484814" y="1696142"/>
                </a:lnTo>
                <a:lnTo>
                  <a:pt x="0" y="169614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sz="2000" dirty="0"/>
          </a:p>
        </p:txBody>
      </p:sp>
      <p:sp>
        <p:nvSpPr>
          <p:cNvPr id="61" name="TextBox 24">
            <a:extLst>
              <a:ext uri="{FF2B5EF4-FFF2-40B4-BE49-F238E27FC236}">
                <a16:creationId xmlns:a16="http://schemas.microsoft.com/office/drawing/2014/main" id="{7DD2F04E-2ABD-468D-A05A-455CC3A17E2E}"/>
              </a:ext>
            </a:extLst>
          </p:cNvPr>
          <p:cNvSpPr txBox="1"/>
          <p:nvPr/>
        </p:nvSpPr>
        <p:spPr>
          <a:xfrm>
            <a:off x="784480" y="5844643"/>
            <a:ext cx="2653420" cy="1478610"/>
          </a:xfrm>
          <a:prstGeom prst="rect">
            <a:avLst/>
          </a:prstGeom>
        </p:spPr>
        <p:txBody>
          <a:bodyPr wrap="square" lIns="0" tIns="0" rIns="0" bIns="0" rtlCol="0" anchor="t">
            <a:spAutoFit/>
          </a:bodyPr>
          <a:lstStyle/>
          <a:p>
            <a:pPr algn="ctr">
              <a:lnSpc>
                <a:spcPts val="3779"/>
              </a:lnSpc>
            </a:pPr>
            <a:r>
              <a:rPr lang="en-US" sz="3200" b="1" dirty="0">
                <a:solidFill>
                  <a:schemeClr val="bg1"/>
                </a:solidFill>
              </a:rPr>
              <a:t>Requirement analysis &amp; research</a:t>
            </a:r>
            <a:endParaRPr lang="en-US" sz="2800" b="1" dirty="0">
              <a:solidFill>
                <a:schemeClr val="bg1"/>
              </a:solidFill>
              <a:latin typeface="Garet Bold"/>
              <a:ea typeface="Garet Bold"/>
              <a:cs typeface="Garet Bold"/>
              <a:sym typeface="Garet Bold"/>
            </a:endParaRPr>
          </a:p>
        </p:txBody>
      </p:sp>
      <p:sp>
        <p:nvSpPr>
          <p:cNvPr id="62" name="TextBox 24">
            <a:extLst>
              <a:ext uri="{FF2B5EF4-FFF2-40B4-BE49-F238E27FC236}">
                <a16:creationId xmlns:a16="http://schemas.microsoft.com/office/drawing/2014/main" id="{A1B23DE1-691F-4743-886A-512C1ADAF66E}"/>
              </a:ext>
            </a:extLst>
          </p:cNvPr>
          <p:cNvSpPr txBox="1"/>
          <p:nvPr/>
        </p:nvSpPr>
        <p:spPr>
          <a:xfrm>
            <a:off x="7807531" y="6016000"/>
            <a:ext cx="2238311" cy="991297"/>
          </a:xfrm>
          <a:prstGeom prst="rect">
            <a:avLst/>
          </a:prstGeom>
        </p:spPr>
        <p:txBody>
          <a:bodyPr wrap="square" lIns="0" tIns="0" rIns="0" bIns="0" rtlCol="0" anchor="t">
            <a:spAutoFit/>
          </a:bodyPr>
          <a:lstStyle/>
          <a:p>
            <a:pPr algn="ctr">
              <a:lnSpc>
                <a:spcPts val="3779"/>
              </a:lnSpc>
            </a:pPr>
            <a:r>
              <a:rPr lang="en-US" sz="3200" b="1" dirty="0">
                <a:solidFill>
                  <a:schemeClr val="bg1"/>
                </a:solidFill>
              </a:rPr>
              <a:t>Application coding</a:t>
            </a:r>
            <a:endParaRPr lang="en-US" sz="2800" b="1" dirty="0">
              <a:solidFill>
                <a:schemeClr val="bg1"/>
              </a:solidFill>
              <a:latin typeface="Garet Bold"/>
              <a:ea typeface="Garet Bold"/>
              <a:cs typeface="Garet Bold"/>
              <a:sym typeface="Garet Bold"/>
            </a:endParaRPr>
          </a:p>
        </p:txBody>
      </p:sp>
      <p:sp>
        <p:nvSpPr>
          <p:cNvPr id="63" name="TextBox 24">
            <a:extLst>
              <a:ext uri="{FF2B5EF4-FFF2-40B4-BE49-F238E27FC236}">
                <a16:creationId xmlns:a16="http://schemas.microsoft.com/office/drawing/2014/main" id="{9A1E2206-9F80-41FD-A5A8-B4740A4B8ED5}"/>
              </a:ext>
            </a:extLst>
          </p:cNvPr>
          <p:cNvSpPr txBox="1"/>
          <p:nvPr/>
        </p:nvSpPr>
        <p:spPr>
          <a:xfrm>
            <a:off x="4241398" y="6088299"/>
            <a:ext cx="2594289" cy="975908"/>
          </a:xfrm>
          <a:prstGeom prst="rect">
            <a:avLst/>
          </a:prstGeom>
        </p:spPr>
        <p:txBody>
          <a:bodyPr wrap="square" lIns="0" tIns="0" rIns="0" bIns="0" rtlCol="0" anchor="t">
            <a:spAutoFit/>
          </a:bodyPr>
          <a:lstStyle/>
          <a:p>
            <a:pPr algn="ctr">
              <a:lnSpc>
                <a:spcPts val="3779"/>
              </a:lnSpc>
            </a:pPr>
            <a:r>
              <a:rPr lang="en-US" sz="3200" b="1" dirty="0">
                <a:solidFill>
                  <a:schemeClr val="bg1"/>
                </a:solidFill>
              </a:rPr>
              <a:t>UI/UX &amp; UML diagrams</a:t>
            </a:r>
            <a:endParaRPr lang="en-US" sz="2800" b="1" dirty="0">
              <a:solidFill>
                <a:schemeClr val="bg1"/>
              </a:solidFill>
              <a:latin typeface="Garet Bold"/>
              <a:ea typeface="Garet Bold"/>
              <a:cs typeface="Garet Bold"/>
              <a:sym typeface="Garet Bold"/>
            </a:endParaRPr>
          </a:p>
        </p:txBody>
      </p:sp>
      <p:sp>
        <p:nvSpPr>
          <p:cNvPr id="64" name="TextBox 24">
            <a:extLst>
              <a:ext uri="{FF2B5EF4-FFF2-40B4-BE49-F238E27FC236}">
                <a16:creationId xmlns:a16="http://schemas.microsoft.com/office/drawing/2014/main" id="{A38DD4BC-684E-4DC1-B990-5A5F3553C124}"/>
              </a:ext>
            </a:extLst>
          </p:cNvPr>
          <p:cNvSpPr txBox="1"/>
          <p:nvPr/>
        </p:nvSpPr>
        <p:spPr>
          <a:xfrm>
            <a:off x="11027778" y="5836948"/>
            <a:ext cx="2085584" cy="1478610"/>
          </a:xfrm>
          <a:prstGeom prst="rect">
            <a:avLst/>
          </a:prstGeom>
        </p:spPr>
        <p:txBody>
          <a:bodyPr wrap="square" lIns="0" tIns="0" rIns="0" bIns="0" rtlCol="0" anchor="t">
            <a:spAutoFit/>
          </a:bodyPr>
          <a:lstStyle/>
          <a:p>
            <a:pPr algn="ctr">
              <a:lnSpc>
                <a:spcPts val="3779"/>
              </a:lnSpc>
            </a:pPr>
            <a:r>
              <a:rPr lang="en-US" sz="3200" b="1" dirty="0">
                <a:solidFill>
                  <a:schemeClr val="bg1"/>
                </a:solidFill>
              </a:rPr>
              <a:t>Functional &amp; user testing</a:t>
            </a:r>
            <a:endParaRPr lang="en-US" sz="2800" b="1" dirty="0">
              <a:solidFill>
                <a:schemeClr val="bg1"/>
              </a:solidFill>
              <a:latin typeface="Garet Bold"/>
              <a:ea typeface="Garet Bold"/>
              <a:cs typeface="Garet Bold"/>
              <a:sym typeface="Garet Bold"/>
            </a:endParaRPr>
          </a:p>
        </p:txBody>
      </p:sp>
      <p:sp>
        <p:nvSpPr>
          <p:cNvPr id="65" name="TextBox 24">
            <a:extLst>
              <a:ext uri="{FF2B5EF4-FFF2-40B4-BE49-F238E27FC236}">
                <a16:creationId xmlns:a16="http://schemas.microsoft.com/office/drawing/2014/main" id="{C08BB18A-B1EC-4B84-985C-451B57DD6C4E}"/>
              </a:ext>
            </a:extLst>
          </p:cNvPr>
          <p:cNvSpPr txBox="1"/>
          <p:nvPr/>
        </p:nvSpPr>
        <p:spPr>
          <a:xfrm>
            <a:off x="14128031" y="5994991"/>
            <a:ext cx="2710525" cy="975908"/>
          </a:xfrm>
          <a:prstGeom prst="rect">
            <a:avLst/>
          </a:prstGeom>
        </p:spPr>
        <p:txBody>
          <a:bodyPr wrap="square" lIns="0" tIns="0" rIns="0" bIns="0" rtlCol="0" anchor="t">
            <a:spAutoFit/>
          </a:bodyPr>
          <a:lstStyle/>
          <a:p>
            <a:pPr algn="ctr">
              <a:lnSpc>
                <a:spcPts val="3779"/>
              </a:lnSpc>
            </a:pPr>
            <a:r>
              <a:rPr lang="en-US" sz="3200" b="1" dirty="0">
                <a:solidFill>
                  <a:schemeClr val="bg1"/>
                </a:solidFill>
              </a:rPr>
              <a:t>Hosting &amp; documentation</a:t>
            </a:r>
            <a:endParaRPr lang="en-US" sz="2800" b="1" dirty="0">
              <a:solidFill>
                <a:schemeClr val="bg1"/>
              </a:solidFill>
              <a:latin typeface="Garet Bold"/>
              <a:ea typeface="Garet Bold"/>
              <a:cs typeface="Garet Bold"/>
              <a:sym typeface="Garet Bold"/>
            </a:endParaRPr>
          </a:p>
        </p:txBody>
      </p:sp>
      <p:sp>
        <p:nvSpPr>
          <p:cNvPr id="66" name="TextBox 24">
            <a:extLst>
              <a:ext uri="{FF2B5EF4-FFF2-40B4-BE49-F238E27FC236}">
                <a16:creationId xmlns:a16="http://schemas.microsoft.com/office/drawing/2014/main" id="{EFAC77A2-9083-4784-96A5-6760DDD200A8}"/>
              </a:ext>
            </a:extLst>
          </p:cNvPr>
          <p:cNvSpPr txBox="1"/>
          <p:nvPr/>
        </p:nvSpPr>
        <p:spPr>
          <a:xfrm>
            <a:off x="1287678" y="9236134"/>
            <a:ext cx="1752139" cy="503984"/>
          </a:xfrm>
          <a:prstGeom prst="rect">
            <a:avLst/>
          </a:prstGeom>
        </p:spPr>
        <p:txBody>
          <a:bodyPr wrap="square" lIns="0" tIns="0" rIns="0" bIns="0" rtlCol="0" anchor="t">
            <a:spAutoFit/>
          </a:bodyPr>
          <a:lstStyle/>
          <a:p>
            <a:pPr algn="ctr">
              <a:lnSpc>
                <a:spcPts val="3779"/>
              </a:lnSpc>
            </a:pPr>
            <a:r>
              <a:rPr lang="en-US" sz="3200" b="1" dirty="0">
                <a:solidFill>
                  <a:schemeClr val="bg1"/>
                </a:solidFill>
              </a:rPr>
              <a:t>1 week</a:t>
            </a:r>
            <a:endParaRPr lang="en-US" sz="2800" b="1" dirty="0">
              <a:solidFill>
                <a:schemeClr val="bg1"/>
              </a:solidFill>
              <a:latin typeface="Garet Bold"/>
              <a:ea typeface="Garet Bold"/>
              <a:cs typeface="Garet Bold"/>
              <a:sym typeface="Garet Bold"/>
            </a:endParaRPr>
          </a:p>
        </p:txBody>
      </p:sp>
      <p:sp>
        <p:nvSpPr>
          <p:cNvPr id="67" name="TextBox 24">
            <a:extLst>
              <a:ext uri="{FF2B5EF4-FFF2-40B4-BE49-F238E27FC236}">
                <a16:creationId xmlns:a16="http://schemas.microsoft.com/office/drawing/2014/main" id="{57EB0435-A3B6-43A1-A7D7-4A78284605EF}"/>
              </a:ext>
            </a:extLst>
          </p:cNvPr>
          <p:cNvSpPr txBox="1"/>
          <p:nvPr/>
        </p:nvSpPr>
        <p:spPr>
          <a:xfrm>
            <a:off x="4461158" y="9268186"/>
            <a:ext cx="1752139" cy="503984"/>
          </a:xfrm>
          <a:prstGeom prst="rect">
            <a:avLst/>
          </a:prstGeom>
        </p:spPr>
        <p:txBody>
          <a:bodyPr wrap="square" lIns="0" tIns="0" rIns="0" bIns="0" rtlCol="0" anchor="t">
            <a:spAutoFit/>
          </a:bodyPr>
          <a:lstStyle/>
          <a:p>
            <a:pPr algn="ctr">
              <a:lnSpc>
                <a:spcPts val="3779"/>
              </a:lnSpc>
            </a:pPr>
            <a:r>
              <a:rPr lang="en-US" sz="3200" b="1" dirty="0">
                <a:solidFill>
                  <a:schemeClr val="bg1"/>
                </a:solidFill>
              </a:rPr>
              <a:t>2 week</a:t>
            </a:r>
            <a:endParaRPr lang="en-US" sz="3200" b="1" dirty="0">
              <a:solidFill>
                <a:schemeClr val="bg1"/>
              </a:solidFill>
              <a:latin typeface="Garet Bold"/>
              <a:ea typeface="Garet Bold"/>
              <a:cs typeface="Garet Bold"/>
              <a:sym typeface="Garet Bold"/>
            </a:endParaRPr>
          </a:p>
        </p:txBody>
      </p:sp>
      <p:sp>
        <p:nvSpPr>
          <p:cNvPr id="68" name="TextBox 24">
            <a:extLst>
              <a:ext uri="{FF2B5EF4-FFF2-40B4-BE49-F238E27FC236}">
                <a16:creationId xmlns:a16="http://schemas.microsoft.com/office/drawing/2014/main" id="{128DDA35-1E8C-4B3D-954F-5F8C7742F9A9}"/>
              </a:ext>
            </a:extLst>
          </p:cNvPr>
          <p:cNvSpPr txBox="1"/>
          <p:nvPr/>
        </p:nvSpPr>
        <p:spPr>
          <a:xfrm>
            <a:off x="7905429" y="9236134"/>
            <a:ext cx="1752139" cy="503984"/>
          </a:xfrm>
          <a:prstGeom prst="rect">
            <a:avLst/>
          </a:prstGeom>
        </p:spPr>
        <p:txBody>
          <a:bodyPr wrap="square" lIns="0" tIns="0" rIns="0" bIns="0" rtlCol="0" anchor="t">
            <a:spAutoFit/>
          </a:bodyPr>
          <a:lstStyle/>
          <a:p>
            <a:pPr algn="ctr">
              <a:lnSpc>
                <a:spcPts val="3779"/>
              </a:lnSpc>
            </a:pPr>
            <a:r>
              <a:rPr lang="en-US" sz="3200" b="1" dirty="0">
                <a:solidFill>
                  <a:schemeClr val="bg1"/>
                </a:solidFill>
              </a:rPr>
              <a:t>7 week</a:t>
            </a:r>
            <a:endParaRPr lang="en-US" sz="3200" b="1" dirty="0">
              <a:solidFill>
                <a:schemeClr val="bg1"/>
              </a:solidFill>
              <a:latin typeface="Garet Bold"/>
              <a:ea typeface="Garet Bold"/>
              <a:cs typeface="Garet Bold"/>
              <a:sym typeface="Garet Bold"/>
            </a:endParaRPr>
          </a:p>
        </p:txBody>
      </p:sp>
      <p:sp>
        <p:nvSpPr>
          <p:cNvPr id="69" name="TextBox 24">
            <a:extLst>
              <a:ext uri="{FF2B5EF4-FFF2-40B4-BE49-F238E27FC236}">
                <a16:creationId xmlns:a16="http://schemas.microsoft.com/office/drawing/2014/main" id="{A54535BF-2EE4-43CA-B5D3-E80AC1E6419B}"/>
              </a:ext>
            </a:extLst>
          </p:cNvPr>
          <p:cNvSpPr txBox="1"/>
          <p:nvPr/>
        </p:nvSpPr>
        <p:spPr>
          <a:xfrm>
            <a:off x="11556476" y="9236133"/>
            <a:ext cx="1752139" cy="488595"/>
          </a:xfrm>
          <a:prstGeom prst="rect">
            <a:avLst/>
          </a:prstGeom>
        </p:spPr>
        <p:txBody>
          <a:bodyPr wrap="square" lIns="0" tIns="0" rIns="0" bIns="0" rtlCol="0" anchor="t">
            <a:spAutoFit/>
          </a:bodyPr>
          <a:lstStyle/>
          <a:p>
            <a:pPr algn="ctr">
              <a:lnSpc>
                <a:spcPts val="3779"/>
              </a:lnSpc>
            </a:pPr>
            <a:r>
              <a:rPr lang="en-US" sz="2800" b="1" dirty="0">
                <a:solidFill>
                  <a:schemeClr val="bg1"/>
                </a:solidFill>
              </a:rPr>
              <a:t>1 week</a:t>
            </a:r>
            <a:endParaRPr lang="en-US" sz="2800" b="1" dirty="0">
              <a:solidFill>
                <a:schemeClr val="bg1"/>
              </a:solidFill>
              <a:latin typeface="Garet Bold"/>
              <a:ea typeface="Garet Bold"/>
              <a:cs typeface="Garet Bold"/>
              <a:sym typeface="Garet Bold"/>
            </a:endParaRPr>
          </a:p>
        </p:txBody>
      </p:sp>
      <p:sp>
        <p:nvSpPr>
          <p:cNvPr id="70" name="TextBox 24">
            <a:extLst>
              <a:ext uri="{FF2B5EF4-FFF2-40B4-BE49-F238E27FC236}">
                <a16:creationId xmlns:a16="http://schemas.microsoft.com/office/drawing/2014/main" id="{0B09DA0C-AE2E-4DBC-835C-FADCA6521D64}"/>
              </a:ext>
            </a:extLst>
          </p:cNvPr>
          <p:cNvSpPr txBox="1"/>
          <p:nvPr/>
        </p:nvSpPr>
        <p:spPr>
          <a:xfrm>
            <a:off x="14607225" y="9182104"/>
            <a:ext cx="1752139" cy="488595"/>
          </a:xfrm>
          <a:prstGeom prst="rect">
            <a:avLst/>
          </a:prstGeom>
        </p:spPr>
        <p:txBody>
          <a:bodyPr wrap="square" lIns="0" tIns="0" rIns="0" bIns="0" rtlCol="0" anchor="t">
            <a:spAutoFit/>
          </a:bodyPr>
          <a:lstStyle/>
          <a:p>
            <a:pPr algn="ctr">
              <a:lnSpc>
                <a:spcPts val="3779"/>
              </a:lnSpc>
            </a:pPr>
            <a:r>
              <a:rPr lang="en-US" sz="2800" b="1" dirty="0">
                <a:solidFill>
                  <a:schemeClr val="bg1"/>
                </a:solidFill>
              </a:rPr>
              <a:t>1 week</a:t>
            </a:r>
            <a:endParaRPr lang="en-US" sz="2800" b="1" dirty="0">
              <a:solidFill>
                <a:schemeClr val="bg1"/>
              </a:solidFill>
              <a:latin typeface="Garet Bold"/>
              <a:ea typeface="Garet Bold"/>
              <a:cs typeface="Garet Bold"/>
              <a:sym typeface="Garet Bold"/>
            </a:endParaRPr>
          </a:p>
        </p:txBody>
      </p:sp>
      <p:cxnSp>
        <p:nvCxnSpPr>
          <p:cNvPr id="72" name="Straight Connector 71">
            <a:extLst>
              <a:ext uri="{FF2B5EF4-FFF2-40B4-BE49-F238E27FC236}">
                <a16:creationId xmlns:a16="http://schemas.microsoft.com/office/drawing/2014/main" id="{C00E0425-F194-45CB-878C-06F0FAD72928}"/>
              </a:ext>
            </a:extLst>
          </p:cNvPr>
          <p:cNvCxnSpPr>
            <a:cxnSpLocks/>
          </p:cNvCxnSpPr>
          <p:nvPr/>
        </p:nvCxnSpPr>
        <p:spPr>
          <a:xfrm>
            <a:off x="2218057" y="4558625"/>
            <a:ext cx="0" cy="1067939"/>
          </a:xfrm>
          <a:prstGeom prst="line">
            <a:avLst/>
          </a:prstGeom>
          <a:ln/>
        </p:spPr>
        <p:style>
          <a:lnRef idx="3">
            <a:schemeClr val="dk1"/>
          </a:lnRef>
          <a:fillRef idx="0">
            <a:schemeClr val="dk1"/>
          </a:fillRef>
          <a:effectRef idx="2">
            <a:schemeClr val="dk1"/>
          </a:effectRef>
          <a:fontRef idx="minor">
            <a:schemeClr val="tx1"/>
          </a:fontRef>
        </p:style>
      </p:cxnSp>
      <p:cxnSp>
        <p:nvCxnSpPr>
          <p:cNvPr id="78" name="Straight Connector 77">
            <a:extLst>
              <a:ext uri="{FF2B5EF4-FFF2-40B4-BE49-F238E27FC236}">
                <a16:creationId xmlns:a16="http://schemas.microsoft.com/office/drawing/2014/main" id="{D971FEB8-9E19-4F6B-B097-6C275E906CFD}"/>
              </a:ext>
            </a:extLst>
          </p:cNvPr>
          <p:cNvCxnSpPr>
            <a:cxnSpLocks/>
          </p:cNvCxnSpPr>
          <p:nvPr/>
        </p:nvCxnSpPr>
        <p:spPr>
          <a:xfrm>
            <a:off x="5507960" y="4558624"/>
            <a:ext cx="0" cy="1067939"/>
          </a:xfrm>
          <a:prstGeom prst="line">
            <a:avLst/>
          </a:prstGeom>
          <a:ln/>
        </p:spPr>
        <p:style>
          <a:lnRef idx="3">
            <a:schemeClr val="dk1"/>
          </a:lnRef>
          <a:fillRef idx="0">
            <a:schemeClr val="dk1"/>
          </a:fillRef>
          <a:effectRef idx="2">
            <a:schemeClr val="dk1"/>
          </a:effectRef>
          <a:fontRef idx="minor">
            <a:schemeClr val="tx1"/>
          </a:fontRef>
        </p:style>
      </p:cxnSp>
      <p:cxnSp>
        <p:nvCxnSpPr>
          <p:cNvPr id="79" name="Straight Connector 78">
            <a:extLst>
              <a:ext uri="{FF2B5EF4-FFF2-40B4-BE49-F238E27FC236}">
                <a16:creationId xmlns:a16="http://schemas.microsoft.com/office/drawing/2014/main" id="{A06AD547-CF6C-44F4-9567-4D5E18674EC7}"/>
              </a:ext>
            </a:extLst>
          </p:cNvPr>
          <p:cNvCxnSpPr>
            <a:cxnSpLocks/>
          </p:cNvCxnSpPr>
          <p:nvPr/>
        </p:nvCxnSpPr>
        <p:spPr>
          <a:xfrm>
            <a:off x="8781498" y="4558623"/>
            <a:ext cx="0" cy="1067939"/>
          </a:xfrm>
          <a:prstGeom prst="line">
            <a:avLst/>
          </a:prstGeom>
          <a:ln/>
        </p:spPr>
        <p:style>
          <a:lnRef idx="3">
            <a:schemeClr val="dk1"/>
          </a:lnRef>
          <a:fillRef idx="0">
            <a:schemeClr val="dk1"/>
          </a:fillRef>
          <a:effectRef idx="2">
            <a:schemeClr val="dk1"/>
          </a:effectRef>
          <a:fontRef idx="minor">
            <a:schemeClr val="tx1"/>
          </a:fontRef>
        </p:style>
      </p:cxnSp>
      <p:cxnSp>
        <p:nvCxnSpPr>
          <p:cNvPr id="80" name="Straight Connector 79">
            <a:extLst>
              <a:ext uri="{FF2B5EF4-FFF2-40B4-BE49-F238E27FC236}">
                <a16:creationId xmlns:a16="http://schemas.microsoft.com/office/drawing/2014/main" id="{F23F8796-29AB-42B5-B76B-0A7A7A1B7955}"/>
              </a:ext>
            </a:extLst>
          </p:cNvPr>
          <p:cNvCxnSpPr>
            <a:cxnSpLocks/>
          </p:cNvCxnSpPr>
          <p:nvPr/>
        </p:nvCxnSpPr>
        <p:spPr>
          <a:xfrm>
            <a:off x="11922794" y="4547422"/>
            <a:ext cx="0" cy="1067939"/>
          </a:xfrm>
          <a:prstGeom prst="line">
            <a:avLst/>
          </a:prstGeom>
          <a:ln/>
        </p:spPr>
        <p:style>
          <a:lnRef idx="3">
            <a:schemeClr val="dk1"/>
          </a:lnRef>
          <a:fillRef idx="0">
            <a:schemeClr val="dk1"/>
          </a:fillRef>
          <a:effectRef idx="2">
            <a:schemeClr val="dk1"/>
          </a:effectRef>
          <a:fontRef idx="minor">
            <a:schemeClr val="tx1"/>
          </a:fontRef>
        </p:style>
      </p:cxnSp>
      <p:cxnSp>
        <p:nvCxnSpPr>
          <p:cNvPr id="81" name="Straight Connector 80">
            <a:extLst>
              <a:ext uri="{FF2B5EF4-FFF2-40B4-BE49-F238E27FC236}">
                <a16:creationId xmlns:a16="http://schemas.microsoft.com/office/drawing/2014/main" id="{9F0B7248-56F8-42D9-AEE5-30C954983AB5}"/>
              </a:ext>
            </a:extLst>
          </p:cNvPr>
          <p:cNvCxnSpPr>
            <a:cxnSpLocks/>
          </p:cNvCxnSpPr>
          <p:nvPr/>
        </p:nvCxnSpPr>
        <p:spPr>
          <a:xfrm>
            <a:off x="15262819" y="4547421"/>
            <a:ext cx="0" cy="1175031"/>
          </a:xfrm>
          <a:prstGeom prst="line">
            <a:avLst/>
          </a:prstGeom>
          <a:ln/>
        </p:spPr>
        <p:style>
          <a:lnRef idx="3">
            <a:schemeClr val="dk1"/>
          </a:lnRef>
          <a:fillRef idx="0">
            <a:schemeClr val="dk1"/>
          </a:fillRef>
          <a:effectRef idx="2">
            <a:schemeClr val="dk1"/>
          </a:effectRef>
          <a:fontRef idx="minor">
            <a:schemeClr val="tx1"/>
          </a:fontRef>
        </p:style>
      </p:cxnSp>
      <p:cxnSp>
        <p:nvCxnSpPr>
          <p:cNvPr id="83" name="Straight Connector 82">
            <a:extLst>
              <a:ext uri="{FF2B5EF4-FFF2-40B4-BE49-F238E27FC236}">
                <a16:creationId xmlns:a16="http://schemas.microsoft.com/office/drawing/2014/main" id="{DB93D256-0F91-4FBF-AFE2-EA448B0278E1}"/>
              </a:ext>
            </a:extLst>
          </p:cNvPr>
          <p:cNvCxnSpPr>
            <a:cxnSpLocks/>
          </p:cNvCxnSpPr>
          <p:nvPr/>
        </p:nvCxnSpPr>
        <p:spPr>
          <a:xfrm>
            <a:off x="15262819" y="7359640"/>
            <a:ext cx="0" cy="1327851"/>
          </a:xfrm>
          <a:prstGeom prst="line">
            <a:avLst/>
          </a:prstGeom>
          <a:ln/>
        </p:spPr>
        <p:style>
          <a:lnRef idx="3">
            <a:schemeClr val="dk1"/>
          </a:lnRef>
          <a:fillRef idx="0">
            <a:schemeClr val="dk1"/>
          </a:fillRef>
          <a:effectRef idx="2">
            <a:schemeClr val="dk1"/>
          </a:effectRef>
          <a:fontRef idx="minor">
            <a:schemeClr val="tx1"/>
          </a:fontRef>
        </p:style>
      </p:cxnSp>
      <p:cxnSp>
        <p:nvCxnSpPr>
          <p:cNvPr id="85" name="Straight Connector 84">
            <a:extLst>
              <a:ext uri="{FF2B5EF4-FFF2-40B4-BE49-F238E27FC236}">
                <a16:creationId xmlns:a16="http://schemas.microsoft.com/office/drawing/2014/main" id="{4A2CB7CD-F444-4568-A901-D1ED538F3796}"/>
              </a:ext>
            </a:extLst>
          </p:cNvPr>
          <p:cNvCxnSpPr>
            <a:cxnSpLocks/>
          </p:cNvCxnSpPr>
          <p:nvPr/>
        </p:nvCxnSpPr>
        <p:spPr>
          <a:xfrm>
            <a:off x="11904725" y="7302202"/>
            <a:ext cx="0" cy="1327851"/>
          </a:xfrm>
          <a:prstGeom prst="line">
            <a:avLst/>
          </a:prstGeom>
          <a:ln/>
        </p:spPr>
        <p:style>
          <a:lnRef idx="3">
            <a:schemeClr val="dk1"/>
          </a:lnRef>
          <a:fillRef idx="0">
            <a:schemeClr val="dk1"/>
          </a:fillRef>
          <a:effectRef idx="2">
            <a:schemeClr val="dk1"/>
          </a:effectRef>
          <a:fontRef idx="minor">
            <a:schemeClr val="tx1"/>
          </a:fontRef>
        </p:style>
      </p:cxnSp>
      <p:cxnSp>
        <p:nvCxnSpPr>
          <p:cNvPr id="86" name="Straight Connector 85">
            <a:extLst>
              <a:ext uri="{FF2B5EF4-FFF2-40B4-BE49-F238E27FC236}">
                <a16:creationId xmlns:a16="http://schemas.microsoft.com/office/drawing/2014/main" id="{0E2452B7-17FD-4506-AEBE-1B80F82D2C79}"/>
              </a:ext>
            </a:extLst>
          </p:cNvPr>
          <p:cNvCxnSpPr>
            <a:cxnSpLocks/>
          </p:cNvCxnSpPr>
          <p:nvPr/>
        </p:nvCxnSpPr>
        <p:spPr>
          <a:xfrm>
            <a:off x="8719571" y="7350963"/>
            <a:ext cx="0" cy="1327851"/>
          </a:xfrm>
          <a:prstGeom prst="line">
            <a:avLst/>
          </a:prstGeom>
          <a:ln/>
        </p:spPr>
        <p:style>
          <a:lnRef idx="3">
            <a:schemeClr val="dk1"/>
          </a:lnRef>
          <a:fillRef idx="0">
            <a:schemeClr val="dk1"/>
          </a:fillRef>
          <a:effectRef idx="2">
            <a:schemeClr val="dk1"/>
          </a:effectRef>
          <a:fontRef idx="minor">
            <a:schemeClr val="tx1"/>
          </a:fontRef>
        </p:style>
      </p:cxnSp>
      <p:cxnSp>
        <p:nvCxnSpPr>
          <p:cNvPr id="87" name="Straight Connector 86">
            <a:extLst>
              <a:ext uri="{FF2B5EF4-FFF2-40B4-BE49-F238E27FC236}">
                <a16:creationId xmlns:a16="http://schemas.microsoft.com/office/drawing/2014/main" id="{7387FE22-CA5F-44C6-94A3-5AEC785700A7}"/>
              </a:ext>
            </a:extLst>
          </p:cNvPr>
          <p:cNvCxnSpPr>
            <a:cxnSpLocks/>
          </p:cNvCxnSpPr>
          <p:nvPr/>
        </p:nvCxnSpPr>
        <p:spPr>
          <a:xfrm>
            <a:off x="5507960" y="7350962"/>
            <a:ext cx="0" cy="1327851"/>
          </a:xfrm>
          <a:prstGeom prst="line">
            <a:avLst/>
          </a:prstGeom>
          <a:ln/>
        </p:spPr>
        <p:style>
          <a:lnRef idx="3">
            <a:schemeClr val="dk1"/>
          </a:lnRef>
          <a:fillRef idx="0">
            <a:schemeClr val="dk1"/>
          </a:fillRef>
          <a:effectRef idx="2">
            <a:schemeClr val="dk1"/>
          </a:effectRef>
          <a:fontRef idx="minor">
            <a:schemeClr val="tx1"/>
          </a:fontRef>
        </p:style>
      </p:cxnSp>
      <p:cxnSp>
        <p:nvCxnSpPr>
          <p:cNvPr id="88" name="Straight Connector 87">
            <a:extLst>
              <a:ext uri="{FF2B5EF4-FFF2-40B4-BE49-F238E27FC236}">
                <a16:creationId xmlns:a16="http://schemas.microsoft.com/office/drawing/2014/main" id="{E57E58E9-D2D8-43E7-BD35-D2FDC265C5AD}"/>
              </a:ext>
            </a:extLst>
          </p:cNvPr>
          <p:cNvCxnSpPr>
            <a:cxnSpLocks/>
          </p:cNvCxnSpPr>
          <p:nvPr/>
        </p:nvCxnSpPr>
        <p:spPr>
          <a:xfrm>
            <a:off x="2163747" y="7362382"/>
            <a:ext cx="0" cy="1327851"/>
          </a:xfrm>
          <a:prstGeom prst="line">
            <a:avLst/>
          </a:prstGeom>
          <a:ln/>
        </p:spPr>
        <p:style>
          <a:lnRef idx="3">
            <a:schemeClr val="dk1"/>
          </a:lnRef>
          <a:fillRef idx="0">
            <a:schemeClr val="dk1"/>
          </a:fillRef>
          <a:effectRef idx="2">
            <a:schemeClr val="dk1"/>
          </a:effectRef>
          <a:fontRef idx="minor">
            <a:schemeClr val="tx1"/>
          </a:fontRef>
        </p:style>
      </p:cxnSp>
      <p:sp>
        <p:nvSpPr>
          <p:cNvPr id="71" name="TextBox 70">
            <a:extLst>
              <a:ext uri="{FF2B5EF4-FFF2-40B4-BE49-F238E27FC236}">
                <a16:creationId xmlns:a16="http://schemas.microsoft.com/office/drawing/2014/main" id="{FF80AED1-2EC2-47A8-B7B9-29326FEC8D30}"/>
              </a:ext>
            </a:extLst>
          </p:cNvPr>
          <p:cNvSpPr txBox="1"/>
          <p:nvPr/>
        </p:nvSpPr>
        <p:spPr>
          <a:xfrm>
            <a:off x="20896" y="9364838"/>
            <a:ext cx="763584" cy="646331"/>
          </a:xfrm>
          <a:prstGeom prst="rect">
            <a:avLst/>
          </a:prstGeom>
          <a:noFill/>
        </p:spPr>
        <p:txBody>
          <a:bodyPr wrap="square">
            <a:spAutoFit/>
          </a:bodyPr>
          <a:lstStyle/>
          <a:p>
            <a:r>
              <a:rPr lang="en-US" sz="3600" b="1" spc="99" dirty="0">
                <a:solidFill>
                  <a:schemeClr val="tx1">
                    <a:lumMod val="95000"/>
                    <a:lumOff val="5000"/>
                  </a:schemeClr>
                </a:solidFill>
                <a:latin typeface="+mj-lt"/>
                <a:ea typeface="Garet Bold"/>
                <a:cs typeface="Garet Bold"/>
                <a:sym typeface="Garet Bold"/>
              </a:rPr>
              <a:t>05</a:t>
            </a:r>
            <a:endParaRPr lang="en-US" sz="36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798572" y="-3621334"/>
            <a:ext cx="6460278" cy="646027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5" name="Group 5"/>
          <p:cNvGrpSpPr/>
          <p:nvPr/>
        </p:nvGrpSpPr>
        <p:grpSpPr>
          <a:xfrm>
            <a:off x="382639" y="1348816"/>
            <a:ext cx="8761361" cy="8651920"/>
            <a:chOff x="0" y="-46363"/>
            <a:chExt cx="1779264" cy="2755696"/>
          </a:xfrm>
        </p:grpSpPr>
        <p:sp>
          <p:nvSpPr>
            <p:cNvPr id="6" name="Freeform 6"/>
            <p:cNvSpPr/>
            <p:nvPr/>
          </p:nvSpPr>
          <p:spPr>
            <a:xfrm>
              <a:off x="58204" y="-46363"/>
              <a:ext cx="1721060" cy="2709333"/>
            </a:xfrm>
            <a:custGeom>
              <a:avLst/>
              <a:gdLst/>
              <a:ahLst/>
              <a:cxnLst/>
              <a:rect l="l" t="t" r="r" b="b"/>
              <a:pathLst>
                <a:path w="1721060" h="2709333">
                  <a:moveTo>
                    <a:pt x="0" y="0"/>
                  </a:moveTo>
                  <a:lnTo>
                    <a:pt x="1721060" y="0"/>
                  </a:lnTo>
                  <a:lnTo>
                    <a:pt x="1721060" y="2709333"/>
                  </a:lnTo>
                  <a:lnTo>
                    <a:pt x="0" y="2709333"/>
                  </a:lnTo>
                  <a:close/>
                </a:path>
              </a:pathLst>
            </a:custGeom>
            <a:solidFill>
              <a:srgbClr val="7ED957"/>
            </a:solidFill>
          </p:spPr>
          <p:txBody>
            <a:bodyPr/>
            <a:lstStyle/>
            <a:p>
              <a:endParaRPr lang="en-US" dirty="0"/>
            </a:p>
          </p:txBody>
        </p:sp>
        <p:sp>
          <p:nvSpPr>
            <p:cNvPr id="7" name="TextBox 7"/>
            <p:cNvSpPr txBox="1"/>
            <p:nvPr/>
          </p:nvSpPr>
          <p:spPr>
            <a:xfrm>
              <a:off x="0" y="-38100"/>
              <a:ext cx="1721060" cy="2747433"/>
            </a:xfrm>
            <a:prstGeom prst="rect">
              <a:avLst/>
            </a:prstGeom>
          </p:spPr>
          <p:txBody>
            <a:bodyPr lIns="50800" tIns="50800" rIns="50800" bIns="50800" rtlCol="0" anchor="ctr"/>
            <a:lstStyle/>
            <a:p>
              <a:pPr algn="ctr">
                <a:lnSpc>
                  <a:spcPts val="2659"/>
                </a:lnSpc>
              </a:pPr>
              <a:endParaRPr dirty="0"/>
            </a:p>
          </p:txBody>
        </p:sp>
      </p:grpSp>
      <p:sp>
        <p:nvSpPr>
          <p:cNvPr id="13" name="TextBox 13"/>
          <p:cNvSpPr txBox="1"/>
          <p:nvPr/>
        </p:nvSpPr>
        <p:spPr>
          <a:xfrm>
            <a:off x="1096774" y="1762469"/>
            <a:ext cx="6825306" cy="446276"/>
          </a:xfrm>
          <a:prstGeom prst="rect">
            <a:avLst/>
          </a:prstGeom>
        </p:spPr>
        <p:txBody>
          <a:bodyPr wrap="square" lIns="0" tIns="0" rIns="0" bIns="0" rtlCol="0" anchor="t">
            <a:spAutoFit/>
          </a:bodyPr>
          <a:lstStyle/>
          <a:p>
            <a:pPr algn="l">
              <a:lnSpc>
                <a:spcPts val="3220"/>
              </a:lnSpc>
            </a:pPr>
            <a:r>
              <a:rPr lang="en-US" sz="3600" b="1" dirty="0">
                <a:solidFill>
                  <a:srgbClr val="FFFFFF"/>
                </a:solidFill>
                <a:latin typeface="Garet Bold"/>
                <a:ea typeface="Garet Bold"/>
                <a:cs typeface="Garet Bold"/>
                <a:sym typeface="Garet Bold"/>
              </a:rPr>
              <a:t>Functional Requirements</a:t>
            </a:r>
            <a:endParaRPr lang="en-US" sz="2400" b="1" dirty="0">
              <a:solidFill>
                <a:srgbClr val="FFFFFF"/>
              </a:solidFill>
              <a:latin typeface="Garet Bold"/>
              <a:ea typeface="Garet Bold"/>
              <a:cs typeface="Garet Bold"/>
              <a:sym typeface="Garet Bold"/>
            </a:endParaRPr>
          </a:p>
        </p:txBody>
      </p:sp>
      <p:grpSp>
        <p:nvGrpSpPr>
          <p:cNvPr id="21" name="Group 21"/>
          <p:cNvGrpSpPr/>
          <p:nvPr/>
        </p:nvGrpSpPr>
        <p:grpSpPr>
          <a:xfrm>
            <a:off x="16184759" y="-171695"/>
            <a:ext cx="3277467" cy="327746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7ED957">
                  <a:alpha val="19608"/>
                </a:srgbClr>
              </a:solidFill>
              <a:prstDash val="solid"/>
              <a:miter/>
            </a:ln>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24" name="Group 29">
            <a:extLst>
              <a:ext uri="{FF2B5EF4-FFF2-40B4-BE49-F238E27FC236}">
                <a16:creationId xmlns:a16="http://schemas.microsoft.com/office/drawing/2014/main" id="{18EE6342-078C-4388-9855-C87A871BAE75}"/>
              </a:ext>
            </a:extLst>
          </p:cNvPr>
          <p:cNvGrpSpPr/>
          <p:nvPr/>
        </p:nvGrpSpPr>
        <p:grpSpPr>
          <a:xfrm>
            <a:off x="1859" y="-209538"/>
            <a:ext cx="18291717" cy="1401080"/>
            <a:chOff x="0" y="0"/>
            <a:chExt cx="4574327" cy="406438"/>
          </a:xfrm>
        </p:grpSpPr>
        <p:sp>
          <p:nvSpPr>
            <p:cNvPr id="25" name="Freeform 30">
              <a:extLst>
                <a:ext uri="{FF2B5EF4-FFF2-40B4-BE49-F238E27FC236}">
                  <a16:creationId xmlns:a16="http://schemas.microsoft.com/office/drawing/2014/main" id="{FC4A1DC0-B2A6-449F-86F4-AF3DCF206949}"/>
                </a:ext>
              </a:extLst>
            </p:cNvPr>
            <p:cNvSpPr/>
            <p:nvPr/>
          </p:nvSpPr>
          <p:spPr>
            <a:xfrm>
              <a:off x="0" y="0"/>
              <a:ext cx="4574327" cy="406438"/>
            </a:xfrm>
            <a:custGeom>
              <a:avLst/>
              <a:gdLst/>
              <a:ahLst/>
              <a:cxnLst/>
              <a:rect l="l" t="t" r="r" b="b"/>
              <a:pathLst>
                <a:path w="4574327" h="406438">
                  <a:moveTo>
                    <a:pt x="0" y="0"/>
                  </a:moveTo>
                  <a:lnTo>
                    <a:pt x="4574327" y="0"/>
                  </a:lnTo>
                  <a:lnTo>
                    <a:pt x="4574327" y="406438"/>
                  </a:lnTo>
                  <a:lnTo>
                    <a:pt x="0" y="406438"/>
                  </a:lnTo>
                  <a:close/>
                </a:path>
              </a:pathLst>
            </a:custGeom>
            <a:solidFill>
              <a:srgbClr val="7ED957"/>
            </a:solidFill>
          </p:spPr>
        </p:sp>
        <p:sp>
          <p:nvSpPr>
            <p:cNvPr id="26" name="TextBox 31">
              <a:extLst>
                <a:ext uri="{FF2B5EF4-FFF2-40B4-BE49-F238E27FC236}">
                  <a16:creationId xmlns:a16="http://schemas.microsoft.com/office/drawing/2014/main" id="{B64563E2-B54E-495B-848A-4145CE1CDD5B}"/>
                </a:ext>
              </a:extLst>
            </p:cNvPr>
            <p:cNvSpPr txBox="1"/>
            <p:nvPr/>
          </p:nvSpPr>
          <p:spPr>
            <a:xfrm>
              <a:off x="0" y="-38100"/>
              <a:ext cx="4574327" cy="444538"/>
            </a:xfrm>
            <a:prstGeom prst="rect">
              <a:avLst/>
            </a:prstGeom>
          </p:spPr>
          <p:txBody>
            <a:bodyPr lIns="50800" tIns="50800" rIns="50800" bIns="50800" rtlCol="0" anchor="ctr"/>
            <a:lstStyle/>
            <a:p>
              <a:pPr algn="ctr">
                <a:lnSpc>
                  <a:spcPts val="2659"/>
                </a:lnSpc>
              </a:pPr>
              <a:endParaRPr dirty="0"/>
            </a:p>
          </p:txBody>
        </p:sp>
      </p:grpSp>
      <p:sp>
        <p:nvSpPr>
          <p:cNvPr id="27" name="TextBox 11">
            <a:extLst>
              <a:ext uri="{FF2B5EF4-FFF2-40B4-BE49-F238E27FC236}">
                <a16:creationId xmlns:a16="http://schemas.microsoft.com/office/drawing/2014/main" id="{7C992FAD-8FDF-48B8-A64E-EE4260559BFF}"/>
              </a:ext>
            </a:extLst>
          </p:cNvPr>
          <p:cNvSpPr txBox="1"/>
          <p:nvPr/>
        </p:nvSpPr>
        <p:spPr>
          <a:xfrm>
            <a:off x="425906" y="57889"/>
            <a:ext cx="12573236" cy="865622"/>
          </a:xfrm>
          <a:prstGeom prst="rect">
            <a:avLst/>
          </a:prstGeom>
        </p:spPr>
        <p:txBody>
          <a:bodyPr wrap="square" lIns="0" tIns="0" rIns="0" bIns="0" rtlCol="0" anchor="t">
            <a:spAutoFit/>
          </a:bodyPr>
          <a:lstStyle/>
          <a:p>
            <a:pPr algn="l">
              <a:lnSpc>
                <a:spcPts val="6999"/>
              </a:lnSpc>
            </a:pPr>
            <a:r>
              <a:rPr lang="en-US" sz="5000" b="1" spc="99" dirty="0">
                <a:solidFill>
                  <a:srgbClr val="FFFFFF"/>
                </a:solidFill>
                <a:latin typeface="+mj-lt"/>
                <a:ea typeface="Garet Bold"/>
                <a:cs typeface="Garet Bold"/>
                <a:sym typeface="Garet Bold"/>
              </a:rPr>
              <a:t>REQUIREMENT ANALYSIS </a:t>
            </a:r>
          </a:p>
        </p:txBody>
      </p:sp>
      <p:grpSp>
        <p:nvGrpSpPr>
          <p:cNvPr id="28" name="Group 5">
            <a:extLst>
              <a:ext uri="{FF2B5EF4-FFF2-40B4-BE49-F238E27FC236}">
                <a16:creationId xmlns:a16="http://schemas.microsoft.com/office/drawing/2014/main" id="{7EC5CEC4-0904-4B77-9BD4-864282E6E83C}"/>
              </a:ext>
            </a:extLst>
          </p:cNvPr>
          <p:cNvGrpSpPr/>
          <p:nvPr/>
        </p:nvGrpSpPr>
        <p:grpSpPr>
          <a:xfrm>
            <a:off x="9587783" y="1352471"/>
            <a:ext cx="8140847" cy="8531939"/>
            <a:chOff x="0" y="0"/>
            <a:chExt cx="1721060" cy="2709333"/>
          </a:xfrm>
        </p:grpSpPr>
        <p:sp>
          <p:nvSpPr>
            <p:cNvPr id="29" name="Freeform 6">
              <a:extLst>
                <a:ext uri="{FF2B5EF4-FFF2-40B4-BE49-F238E27FC236}">
                  <a16:creationId xmlns:a16="http://schemas.microsoft.com/office/drawing/2014/main" id="{4A5FE6BD-C8A3-4D04-A8C9-C1EE72DDE6E5}"/>
                </a:ext>
              </a:extLst>
            </p:cNvPr>
            <p:cNvSpPr/>
            <p:nvPr/>
          </p:nvSpPr>
          <p:spPr>
            <a:xfrm>
              <a:off x="0" y="0"/>
              <a:ext cx="1721060" cy="2709333"/>
            </a:xfrm>
            <a:custGeom>
              <a:avLst/>
              <a:gdLst/>
              <a:ahLst/>
              <a:cxnLst/>
              <a:rect l="l" t="t" r="r" b="b"/>
              <a:pathLst>
                <a:path w="1721060" h="2709333">
                  <a:moveTo>
                    <a:pt x="0" y="0"/>
                  </a:moveTo>
                  <a:lnTo>
                    <a:pt x="1721060" y="0"/>
                  </a:lnTo>
                  <a:lnTo>
                    <a:pt x="1721060" y="2709333"/>
                  </a:lnTo>
                  <a:lnTo>
                    <a:pt x="0" y="2709333"/>
                  </a:lnTo>
                  <a:close/>
                </a:path>
              </a:pathLst>
            </a:custGeom>
            <a:solidFill>
              <a:srgbClr val="7ED957"/>
            </a:solidFill>
          </p:spPr>
        </p:sp>
        <p:sp>
          <p:nvSpPr>
            <p:cNvPr id="30" name="TextBox 7">
              <a:extLst>
                <a:ext uri="{FF2B5EF4-FFF2-40B4-BE49-F238E27FC236}">
                  <a16:creationId xmlns:a16="http://schemas.microsoft.com/office/drawing/2014/main" id="{A4EEAC73-30A8-4E04-B7E2-1CC30C6E9FB7}"/>
                </a:ext>
              </a:extLst>
            </p:cNvPr>
            <p:cNvSpPr txBox="1"/>
            <p:nvPr/>
          </p:nvSpPr>
          <p:spPr>
            <a:xfrm>
              <a:off x="0" y="-38100"/>
              <a:ext cx="1721060" cy="2747433"/>
            </a:xfrm>
            <a:prstGeom prst="rect">
              <a:avLst/>
            </a:prstGeom>
          </p:spPr>
          <p:txBody>
            <a:bodyPr lIns="50800" tIns="50800" rIns="50800" bIns="50800" rtlCol="0" anchor="ctr"/>
            <a:lstStyle/>
            <a:p>
              <a:pPr algn="ctr">
                <a:lnSpc>
                  <a:spcPts val="2659"/>
                </a:lnSpc>
              </a:pPr>
              <a:endParaRPr dirty="0"/>
            </a:p>
          </p:txBody>
        </p:sp>
      </p:grpSp>
      <p:sp>
        <p:nvSpPr>
          <p:cNvPr id="35" name="TextBox 13">
            <a:extLst>
              <a:ext uri="{FF2B5EF4-FFF2-40B4-BE49-F238E27FC236}">
                <a16:creationId xmlns:a16="http://schemas.microsoft.com/office/drawing/2014/main" id="{F6D18B39-81A9-429B-80A0-39A20251E6C7}"/>
              </a:ext>
            </a:extLst>
          </p:cNvPr>
          <p:cNvSpPr txBox="1"/>
          <p:nvPr/>
        </p:nvSpPr>
        <p:spPr>
          <a:xfrm>
            <a:off x="9779306" y="1913249"/>
            <a:ext cx="7298597" cy="446276"/>
          </a:xfrm>
          <a:prstGeom prst="rect">
            <a:avLst/>
          </a:prstGeom>
        </p:spPr>
        <p:txBody>
          <a:bodyPr wrap="square" lIns="0" tIns="0" rIns="0" bIns="0" rtlCol="0" anchor="t">
            <a:spAutoFit/>
          </a:bodyPr>
          <a:lstStyle/>
          <a:p>
            <a:pPr algn="l">
              <a:lnSpc>
                <a:spcPts val="3220"/>
              </a:lnSpc>
            </a:pPr>
            <a:r>
              <a:rPr lang="en-US" sz="3600" b="1" dirty="0">
                <a:solidFill>
                  <a:srgbClr val="FFFFFF"/>
                </a:solidFill>
                <a:latin typeface="Garet Bold"/>
                <a:ea typeface="Garet Bold"/>
                <a:cs typeface="Garet Bold"/>
                <a:sym typeface="Garet Bold"/>
              </a:rPr>
              <a:t>Non Functional Requirements</a:t>
            </a:r>
          </a:p>
        </p:txBody>
      </p:sp>
      <p:sp>
        <p:nvSpPr>
          <p:cNvPr id="36" name="TextBox 13">
            <a:extLst>
              <a:ext uri="{FF2B5EF4-FFF2-40B4-BE49-F238E27FC236}">
                <a16:creationId xmlns:a16="http://schemas.microsoft.com/office/drawing/2014/main" id="{E868E0C7-F225-4987-8F3A-0E1C84C37AF3}"/>
              </a:ext>
            </a:extLst>
          </p:cNvPr>
          <p:cNvSpPr txBox="1"/>
          <p:nvPr/>
        </p:nvSpPr>
        <p:spPr>
          <a:xfrm>
            <a:off x="1210097" y="2225369"/>
            <a:ext cx="7825079" cy="7402668"/>
          </a:xfrm>
          <a:prstGeom prst="rect">
            <a:avLst/>
          </a:prstGeom>
        </p:spPr>
        <p:txBody>
          <a:bodyPr wrap="square" lIns="0" tIns="0" rIns="0" bIns="0" rtlCol="0" anchor="t">
            <a:spAutoFit/>
          </a:bodyPr>
          <a:lstStyle/>
          <a:p>
            <a:pPr>
              <a:lnSpc>
                <a:spcPct val="150000"/>
              </a:lnSpc>
            </a:pPr>
            <a:r>
              <a:rPr kumimoji="0" lang="en-US" altLang="en-US" sz="3600" b="1" i="0" u="none" strike="noStrike" cap="none" normalizeH="0" dirty="0">
                <a:ln>
                  <a:noFill/>
                </a:ln>
                <a:solidFill>
                  <a:schemeClr val="bg1"/>
                </a:solidFill>
                <a:effectLst/>
                <a:latin typeface="+mj-lt"/>
              </a:rPr>
              <a:t>What the system should do:</a:t>
            </a:r>
          </a:p>
          <a:p>
            <a:pPr marL="342900" indent="-342900">
              <a:lnSpc>
                <a:spcPct val="150000"/>
              </a:lnSpc>
              <a:buFont typeface="Arial" panose="020B0604020202020204" pitchFamily="34" charset="0"/>
              <a:buChar char="•"/>
            </a:pPr>
            <a:r>
              <a:rPr kumimoji="0" lang="en-US" altLang="en-US" sz="3200" b="0" i="0" u="none" strike="noStrike" cap="none" normalizeH="0" dirty="0">
                <a:ln>
                  <a:noFill/>
                </a:ln>
                <a:solidFill>
                  <a:schemeClr val="bg1"/>
                </a:solidFill>
                <a:effectLst/>
                <a:latin typeface="+mj-lt"/>
              </a:rPr>
              <a:t>Allow users to register and log in securely</a:t>
            </a:r>
          </a:p>
          <a:p>
            <a:pPr marL="342900" indent="-342900">
              <a:lnSpc>
                <a:spcPct val="150000"/>
              </a:lnSpc>
              <a:buFont typeface="Arial" panose="020B0604020202020204" pitchFamily="34" charset="0"/>
              <a:buChar char="•"/>
            </a:pPr>
            <a:r>
              <a:rPr kumimoji="0" lang="en-US" altLang="en-US" sz="3200" b="0" i="0" u="none" strike="noStrike" cap="none" normalizeH="0" dirty="0">
                <a:ln>
                  <a:noFill/>
                </a:ln>
                <a:solidFill>
                  <a:schemeClr val="bg1"/>
                </a:solidFill>
                <a:effectLst/>
                <a:latin typeface="+mj-lt"/>
              </a:rPr>
              <a:t>Enable sellers to add, edit, and delete products</a:t>
            </a:r>
          </a:p>
          <a:p>
            <a:pPr marL="342900" indent="-342900">
              <a:lnSpc>
                <a:spcPct val="150000"/>
              </a:lnSpc>
              <a:buFont typeface="Arial" panose="020B0604020202020204" pitchFamily="34" charset="0"/>
              <a:buChar char="•"/>
            </a:pPr>
            <a:r>
              <a:rPr kumimoji="0" lang="en-US" altLang="en-US" sz="3200" b="0" i="0" u="none" strike="noStrike" cap="none" normalizeH="0" dirty="0">
                <a:ln>
                  <a:noFill/>
                </a:ln>
                <a:solidFill>
                  <a:schemeClr val="bg1"/>
                </a:solidFill>
                <a:effectLst/>
                <a:latin typeface="+mj-lt"/>
              </a:rPr>
              <a:t>Allow buyers to browse and search products</a:t>
            </a:r>
          </a:p>
          <a:p>
            <a:pPr marL="342900" indent="-342900">
              <a:lnSpc>
                <a:spcPct val="150000"/>
              </a:lnSpc>
              <a:buFont typeface="Arial" panose="020B0604020202020204" pitchFamily="34" charset="0"/>
              <a:buChar char="•"/>
            </a:pPr>
            <a:r>
              <a:rPr kumimoji="0" lang="en-US" altLang="en-US" sz="3200" b="0" i="0" u="none" strike="noStrike" cap="none" normalizeH="0" dirty="0">
                <a:ln>
                  <a:noFill/>
                </a:ln>
                <a:solidFill>
                  <a:schemeClr val="bg1"/>
                </a:solidFill>
                <a:effectLst/>
                <a:latin typeface="+mj-lt"/>
              </a:rPr>
              <a:t>Provide chat functionality between buyers and sellers</a:t>
            </a:r>
          </a:p>
          <a:p>
            <a:pPr marL="342900" indent="-342900">
              <a:lnSpc>
                <a:spcPct val="150000"/>
              </a:lnSpc>
              <a:buFont typeface="Arial" panose="020B0604020202020204" pitchFamily="34" charset="0"/>
              <a:buChar char="•"/>
            </a:pPr>
            <a:r>
              <a:rPr kumimoji="0" lang="en-US" altLang="en-US" sz="3200" b="0" i="0" u="none" strike="noStrike" cap="none" normalizeH="0" dirty="0">
                <a:ln>
                  <a:noFill/>
                </a:ln>
                <a:solidFill>
                  <a:schemeClr val="bg1"/>
                </a:solidFill>
                <a:effectLst/>
                <a:latin typeface="+mj-lt"/>
              </a:rPr>
              <a:t>Allow buyers to choose delivery or self-pickup</a:t>
            </a:r>
          </a:p>
          <a:p>
            <a:pPr marL="342900" indent="-342900">
              <a:lnSpc>
                <a:spcPct val="150000"/>
              </a:lnSpc>
              <a:buFont typeface="Arial" panose="020B0604020202020204" pitchFamily="34" charset="0"/>
              <a:buChar char="•"/>
            </a:pPr>
            <a:r>
              <a:rPr kumimoji="0" lang="en-US" altLang="en-US" sz="3200" b="0" i="0" u="none" strike="noStrike" cap="none" normalizeH="0" dirty="0">
                <a:ln>
                  <a:noFill/>
                </a:ln>
                <a:solidFill>
                  <a:schemeClr val="bg1"/>
                </a:solidFill>
                <a:effectLst/>
                <a:latin typeface="+mj-lt"/>
              </a:rPr>
              <a:t>Confirm payments and orders</a:t>
            </a:r>
          </a:p>
        </p:txBody>
      </p:sp>
      <p:sp>
        <p:nvSpPr>
          <p:cNvPr id="40" name="TextBox 39">
            <a:extLst>
              <a:ext uri="{FF2B5EF4-FFF2-40B4-BE49-F238E27FC236}">
                <a16:creationId xmlns:a16="http://schemas.microsoft.com/office/drawing/2014/main" id="{E8D1669F-385B-4BD7-A4C8-1BE16F33A2D3}"/>
              </a:ext>
            </a:extLst>
          </p:cNvPr>
          <p:cNvSpPr txBox="1"/>
          <p:nvPr/>
        </p:nvSpPr>
        <p:spPr>
          <a:xfrm>
            <a:off x="9813524" y="2480512"/>
            <a:ext cx="7298596" cy="6017673"/>
          </a:xfrm>
          <a:prstGeom prst="rect">
            <a:avLst/>
          </a:prstGeom>
          <a:noFill/>
        </p:spPr>
        <p:txBody>
          <a:bodyPr wrap="square">
            <a:spAutoFit/>
          </a:bodyPr>
          <a:lstStyle/>
          <a:p>
            <a:pPr>
              <a:lnSpc>
                <a:spcPct val="150000"/>
              </a:lnSpc>
            </a:pPr>
            <a:r>
              <a:rPr lang="en-US" altLang="en-US" sz="3600" b="1" dirty="0">
                <a:solidFill>
                  <a:schemeClr val="bg1"/>
                </a:solidFill>
                <a:latin typeface="+mj-lt"/>
              </a:rPr>
              <a:t>How the system should behave:</a:t>
            </a:r>
            <a:endParaRPr kumimoji="0" lang="en-US" altLang="en-US" sz="3600" b="1" i="0" u="none" strike="noStrike" cap="none" normalizeH="0" dirty="0">
              <a:ln>
                <a:noFill/>
              </a:ln>
              <a:solidFill>
                <a:schemeClr val="bg1"/>
              </a:solidFill>
              <a:effectLst/>
              <a:latin typeface="+mj-lt"/>
            </a:endParaRPr>
          </a:p>
          <a:p>
            <a:pPr marL="342900" indent="-342900">
              <a:lnSpc>
                <a:spcPct val="150000"/>
              </a:lnSpc>
              <a:buFont typeface="Arial" panose="020B0604020202020204" pitchFamily="34" charset="0"/>
              <a:buChar char="•"/>
            </a:pPr>
            <a:r>
              <a:rPr lang="en-US" sz="3200" dirty="0">
                <a:solidFill>
                  <a:schemeClr val="bg1"/>
                </a:solidFill>
              </a:rPr>
              <a:t>Be user-friendly and easy to navigate</a:t>
            </a:r>
          </a:p>
          <a:p>
            <a:pPr marL="342900" indent="-342900">
              <a:lnSpc>
                <a:spcPct val="150000"/>
              </a:lnSpc>
              <a:buFont typeface="Arial" panose="020B0604020202020204" pitchFamily="34" charset="0"/>
              <a:buChar char="•"/>
            </a:pPr>
            <a:r>
              <a:rPr lang="en-US" sz="3200" dirty="0">
                <a:solidFill>
                  <a:schemeClr val="bg1"/>
                </a:solidFill>
              </a:rPr>
              <a:t>Provide fast response time</a:t>
            </a:r>
          </a:p>
          <a:p>
            <a:pPr marL="342900" indent="-342900">
              <a:lnSpc>
                <a:spcPct val="150000"/>
              </a:lnSpc>
              <a:buFont typeface="Arial" panose="020B0604020202020204" pitchFamily="34" charset="0"/>
              <a:buChar char="•"/>
            </a:pPr>
            <a:r>
              <a:rPr lang="en-US" sz="3200" dirty="0">
                <a:solidFill>
                  <a:schemeClr val="bg1"/>
                </a:solidFill>
              </a:rPr>
              <a:t>Ensure data security and privacy</a:t>
            </a:r>
          </a:p>
          <a:p>
            <a:pPr marL="342900" indent="-342900">
              <a:lnSpc>
                <a:spcPct val="150000"/>
              </a:lnSpc>
              <a:buFont typeface="Arial" panose="020B0604020202020204" pitchFamily="34" charset="0"/>
              <a:buChar char="•"/>
            </a:pPr>
            <a:r>
              <a:rPr lang="en-US" sz="3200" dirty="0">
                <a:solidFill>
                  <a:schemeClr val="bg1"/>
                </a:solidFill>
              </a:rPr>
              <a:t>Be scalable for future</a:t>
            </a:r>
          </a:p>
          <a:p>
            <a:pPr marL="342900" indent="-342900">
              <a:lnSpc>
                <a:spcPct val="150000"/>
              </a:lnSpc>
              <a:buFont typeface="Arial" panose="020B0604020202020204" pitchFamily="34" charset="0"/>
              <a:buChar char="•"/>
            </a:pPr>
            <a:r>
              <a:rPr lang="en-US" sz="3200" dirty="0">
                <a:solidFill>
                  <a:schemeClr val="bg1"/>
                </a:solidFill>
              </a:rPr>
              <a:t>Work reliably on No or moderate internet connections</a:t>
            </a:r>
          </a:p>
          <a:p>
            <a:pPr marL="342900" indent="-342900">
              <a:lnSpc>
                <a:spcPct val="150000"/>
              </a:lnSpc>
              <a:buFont typeface="Arial" panose="020B0604020202020204" pitchFamily="34" charset="0"/>
              <a:buChar char="•"/>
            </a:pPr>
            <a:r>
              <a:rPr lang="en-US" sz="3200" dirty="0">
                <a:solidFill>
                  <a:schemeClr val="bg1"/>
                </a:solidFill>
              </a:rPr>
              <a:t>Be compatible with Android devices</a:t>
            </a:r>
            <a:endParaRPr kumimoji="0" lang="en-US" altLang="en-US" sz="3200" b="0" i="0" u="none" strike="noStrike" cap="none" normalizeH="0" dirty="0">
              <a:ln>
                <a:noFill/>
              </a:ln>
              <a:solidFill>
                <a:schemeClr val="bg1"/>
              </a:solidFill>
              <a:effectLst/>
              <a:latin typeface="+mj-lt"/>
            </a:endParaRPr>
          </a:p>
        </p:txBody>
      </p:sp>
      <p:sp>
        <p:nvSpPr>
          <p:cNvPr id="32" name="TextBox 10">
            <a:extLst>
              <a:ext uri="{FF2B5EF4-FFF2-40B4-BE49-F238E27FC236}">
                <a16:creationId xmlns:a16="http://schemas.microsoft.com/office/drawing/2014/main" id="{E5C2F8F1-1BD1-43F2-ACBD-EA52E484B3DE}"/>
              </a:ext>
            </a:extLst>
          </p:cNvPr>
          <p:cNvSpPr txBox="1"/>
          <p:nvPr/>
        </p:nvSpPr>
        <p:spPr>
          <a:xfrm>
            <a:off x="7303311" y="98838"/>
            <a:ext cx="4568944" cy="865622"/>
          </a:xfrm>
          <a:prstGeom prst="rect">
            <a:avLst/>
          </a:prstGeom>
        </p:spPr>
        <p:txBody>
          <a:bodyPr lIns="0" tIns="0" rIns="0" bIns="0" rtlCol="0" anchor="t">
            <a:spAutoFit/>
          </a:bodyPr>
          <a:lstStyle/>
          <a:p>
            <a:pPr algn="l">
              <a:lnSpc>
                <a:spcPts val="6999"/>
              </a:lnSpc>
            </a:pPr>
            <a:r>
              <a:rPr lang="en-US" sz="4999" b="1" spc="99" dirty="0">
                <a:solidFill>
                  <a:srgbClr val="FFFFFF"/>
                </a:solidFill>
                <a:latin typeface="Garet Bold"/>
                <a:ea typeface="Garet Bold"/>
                <a:cs typeface="Garet Bold"/>
                <a:sym typeface="Garet Bold"/>
              </a:rPr>
              <a:t>(STATISTIC)</a:t>
            </a:r>
          </a:p>
        </p:txBody>
      </p:sp>
      <p:sp>
        <p:nvSpPr>
          <p:cNvPr id="31" name="TextBox 30">
            <a:extLst>
              <a:ext uri="{FF2B5EF4-FFF2-40B4-BE49-F238E27FC236}">
                <a16:creationId xmlns:a16="http://schemas.microsoft.com/office/drawing/2014/main" id="{1F471E1E-3786-434A-9818-07C9E9BD7646}"/>
              </a:ext>
            </a:extLst>
          </p:cNvPr>
          <p:cNvSpPr txBox="1"/>
          <p:nvPr/>
        </p:nvSpPr>
        <p:spPr>
          <a:xfrm>
            <a:off x="3498" y="9234784"/>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ea typeface="Garet Bold"/>
                <a:cs typeface="Garet Bold"/>
                <a:sym typeface="Garet Bold"/>
              </a:rPr>
              <a:t>06</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21665" y="38100"/>
            <a:ext cx="5833966" cy="10287000"/>
            <a:chOff x="0" y="0"/>
            <a:chExt cx="4609553" cy="8128000"/>
          </a:xfrm>
        </p:grpSpPr>
        <p:sp>
          <p:nvSpPr>
            <p:cNvPr id="3" name="Freeform 3"/>
            <p:cNvSpPr/>
            <p:nvPr/>
          </p:nvSpPr>
          <p:spPr>
            <a:xfrm>
              <a:off x="0" y="0"/>
              <a:ext cx="4609553" cy="8128000"/>
            </a:xfrm>
            <a:custGeom>
              <a:avLst/>
              <a:gdLst/>
              <a:ahLst/>
              <a:cxnLst/>
              <a:rect l="l" t="t" r="r" b="b"/>
              <a:pathLst>
                <a:path w="4609553" h="8128000">
                  <a:moveTo>
                    <a:pt x="0" y="0"/>
                  </a:moveTo>
                  <a:lnTo>
                    <a:pt x="4609553" y="0"/>
                  </a:lnTo>
                  <a:lnTo>
                    <a:pt x="4609553" y="8128000"/>
                  </a:lnTo>
                  <a:lnTo>
                    <a:pt x="0" y="8128000"/>
                  </a:lnTo>
                  <a:close/>
                </a:path>
              </a:pathLst>
            </a:custGeom>
            <a:solidFill>
              <a:srgbClr val="F6F6F6"/>
            </a:solidFill>
          </p:spPr>
        </p:sp>
        <p:sp>
          <p:nvSpPr>
            <p:cNvPr id="4" name="TextBox 4"/>
            <p:cNvSpPr txBox="1"/>
            <p:nvPr/>
          </p:nvSpPr>
          <p:spPr>
            <a:xfrm>
              <a:off x="0" y="-38100"/>
              <a:ext cx="4609553" cy="8166100"/>
            </a:xfrm>
            <a:prstGeom prst="rect">
              <a:avLst/>
            </a:prstGeom>
          </p:spPr>
          <p:txBody>
            <a:bodyPr lIns="50800" tIns="50800" rIns="50800" bIns="50800" rtlCol="0" anchor="ctr"/>
            <a:lstStyle/>
            <a:p>
              <a:pPr algn="ctr">
                <a:lnSpc>
                  <a:spcPts val="2659"/>
                </a:lnSpc>
              </a:pPr>
              <a:endParaRPr sz="2400" dirty="0"/>
            </a:p>
          </p:txBody>
        </p:sp>
      </p:grpSp>
      <p:sp>
        <p:nvSpPr>
          <p:cNvPr id="5" name="AutoShape 5"/>
          <p:cNvSpPr/>
          <p:nvPr/>
        </p:nvSpPr>
        <p:spPr>
          <a:xfrm flipV="1">
            <a:off x="763347" y="5639843"/>
            <a:ext cx="17185873" cy="47625"/>
          </a:xfrm>
          <a:prstGeom prst="line">
            <a:avLst/>
          </a:prstGeom>
          <a:ln w="47625" cap="flat">
            <a:solidFill>
              <a:srgbClr val="000000">
                <a:alpha val="29804"/>
              </a:srgbClr>
            </a:solidFill>
            <a:prstDash val="solid"/>
            <a:headEnd type="none" w="sm" len="sm"/>
            <a:tailEnd type="none" w="sm" len="sm"/>
          </a:ln>
        </p:spPr>
      </p:sp>
      <p:sp>
        <p:nvSpPr>
          <p:cNvPr id="6" name="AutoShape 6"/>
          <p:cNvSpPr/>
          <p:nvPr/>
        </p:nvSpPr>
        <p:spPr>
          <a:xfrm flipH="1">
            <a:off x="9060477" y="2579553"/>
            <a:ext cx="0" cy="7222650"/>
          </a:xfrm>
          <a:prstGeom prst="line">
            <a:avLst/>
          </a:prstGeom>
          <a:ln w="47625" cap="flat">
            <a:solidFill>
              <a:srgbClr val="000000">
                <a:alpha val="29804"/>
              </a:srgbClr>
            </a:solidFill>
            <a:prstDash val="solid"/>
            <a:headEnd type="none" w="sm" len="sm"/>
            <a:tailEnd type="none" w="sm" len="sm"/>
          </a:ln>
        </p:spPr>
      </p:sp>
      <p:sp>
        <p:nvSpPr>
          <p:cNvPr id="7" name="AutoShape 7"/>
          <p:cNvSpPr/>
          <p:nvPr/>
        </p:nvSpPr>
        <p:spPr>
          <a:xfrm>
            <a:off x="551064" y="1522485"/>
            <a:ext cx="1310100" cy="0"/>
          </a:xfrm>
          <a:prstGeom prst="line">
            <a:avLst/>
          </a:prstGeom>
          <a:ln w="95250" cap="flat">
            <a:solidFill>
              <a:srgbClr val="7ED957"/>
            </a:solidFill>
            <a:prstDash val="solid"/>
            <a:headEnd type="none" w="sm" len="sm"/>
            <a:tailEnd type="none" w="sm" len="sm"/>
          </a:ln>
        </p:spPr>
      </p:sp>
      <p:grpSp>
        <p:nvGrpSpPr>
          <p:cNvPr id="9" name="Group 9"/>
          <p:cNvGrpSpPr/>
          <p:nvPr/>
        </p:nvGrpSpPr>
        <p:grpSpPr>
          <a:xfrm>
            <a:off x="1432799" y="2096429"/>
            <a:ext cx="4316989" cy="973883"/>
            <a:chOff x="0" y="0"/>
            <a:chExt cx="2746403" cy="425895"/>
          </a:xfrm>
        </p:grpSpPr>
        <p:sp>
          <p:nvSpPr>
            <p:cNvPr id="10" name="Freeform 10"/>
            <p:cNvSpPr/>
            <p:nvPr/>
          </p:nvSpPr>
          <p:spPr>
            <a:xfrm>
              <a:off x="0" y="0"/>
              <a:ext cx="2746403"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7ED957"/>
            </a:solidFill>
          </p:spPr>
        </p:sp>
        <p:sp>
          <p:nvSpPr>
            <p:cNvPr id="11" name="TextBox 11"/>
            <p:cNvSpPr txBox="1"/>
            <p:nvPr/>
          </p:nvSpPr>
          <p:spPr>
            <a:xfrm>
              <a:off x="0" y="-47625"/>
              <a:ext cx="2746403"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Strengths</a:t>
              </a:r>
            </a:p>
          </p:txBody>
        </p:sp>
      </p:grpSp>
      <p:grpSp>
        <p:nvGrpSpPr>
          <p:cNvPr id="12" name="Group 12"/>
          <p:cNvGrpSpPr/>
          <p:nvPr/>
        </p:nvGrpSpPr>
        <p:grpSpPr>
          <a:xfrm>
            <a:off x="1432799" y="6292651"/>
            <a:ext cx="4316989" cy="1020634"/>
            <a:chOff x="0" y="0"/>
            <a:chExt cx="2746403" cy="425895"/>
          </a:xfrm>
        </p:grpSpPr>
        <p:sp>
          <p:nvSpPr>
            <p:cNvPr id="13" name="Freeform 13"/>
            <p:cNvSpPr/>
            <p:nvPr/>
          </p:nvSpPr>
          <p:spPr>
            <a:xfrm>
              <a:off x="0" y="0"/>
              <a:ext cx="2746403"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000000"/>
            </a:solidFill>
          </p:spPr>
        </p:sp>
        <p:sp>
          <p:nvSpPr>
            <p:cNvPr id="14" name="TextBox 14"/>
            <p:cNvSpPr txBox="1"/>
            <p:nvPr/>
          </p:nvSpPr>
          <p:spPr>
            <a:xfrm>
              <a:off x="0" y="-47625"/>
              <a:ext cx="2746403"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Opportunities</a:t>
              </a:r>
            </a:p>
          </p:txBody>
        </p:sp>
      </p:grpSp>
      <p:grpSp>
        <p:nvGrpSpPr>
          <p:cNvPr id="15" name="Group 15"/>
          <p:cNvGrpSpPr/>
          <p:nvPr/>
        </p:nvGrpSpPr>
        <p:grpSpPr>
          <a:xfrm>
            <a:off x="10581726" y="2093561"/>
            <a:ext cx="4316989" cy="1067836"/>
            <a:chOff x="0" y="0"/>
            <a:chExt cx="2746403" cy="425895"/>
          </a:xfrm>
        </p:grpSpPr>
        <p:sp>
          <p:nvSpPr>
            <p:cNvPr id="16" name="Freeform 16"/>
            <p:cNvSpPr/>
            <p:nvPr/>
          </p:nvSpPr>
          <p:spPr>
            <a:xfrm>
              <a:off x="0" y="0"/>
              <a:ext cx="2746403"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000000"/>
            </a:solidFill>
          </p:spPr>
        </p:sp>
        <p:sp>
          <p:nvSpPr>
            <p:cNvPr id="17" name="TextBox 17"/>
            <p:cNvSpPr txBox="1"/>
            <p:nvPr/>
          </p:nvSpPr>
          <p:spPr>
            <a:xfrm>
              <a:off x="0" y="-47625"/>
              <a:ext cx="2746403"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Weaknesses</a:t>
              </a:r>
            </a:p>
          </p:txBody>
        </p:sp>
      </p:grpSp>
      <p:grpSp>
        <p:nvGrpSpPr>
          <p:cNvPr id="18" name="Group 18"/>
          <p:cNvGrpSpPr/>
          <p:nvPr/>
        </p:nvGrpSpPr>
        <p:grpSpPr>
          <a:xfrm>
            <a:off x="10563822" y="6322621"/>
            <a:ext cx="4316989" cy="990664"/>
            <a:chOff x="0" y="0"/>
            <a:chExt cx="2746403" cy="425895"/>
          </a:xfrm>
        </p:grpSpPr>
        <p:sp>
          <p:nvSpPr>
            <p:cNvPr id="19" name="Freeform 19"/>
            <p:cNvSpPr/>
            <p:nvPr/>
          </p:nvSpPr>
          <p:spPr>
            <a:xfrm>
              <a:off x="0" y="0"/>
              <a:ext cx="2746403"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7ED957"/>
            </a:solidFill>
          </p:spPr>
        </p:sp>
        <p:sp>
          <p:nvSpPr>
            <p:cNvPr id="20" name="TextBox 20"/>
            <p:cNvSpPr txBox="1"/>
            <p:nvPr/>
          </p:nvSpPr>
          <p:spPr>
            <a:xfrm>
              <a:off x="0" y="-47625"/>
              <a:ext cx="2746403"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Threats</a:t>
              </a:r>
            </a:p>
          </p:txBody>
        </p:sp>
      </p:grpSp>
      <p:sp>
        <p:nvSpPr>
          <p:cNvPr id="21" name="TextBox 21"/>
          <p:cNvSpPr txBox="1"/>
          <p:nvPr/>
        </p:nvSpPr>
        <p:spPr>
          <a:xfrm>
            <a:off x="512964" y="373134"/>
            <a:ext cx="10769833" cy="904094"/>
          </a:xfrm>
          <a:prstGeom prst="rect">
            <a:avLst/>
          </a:prstGeom>
        </p:spPr>
        <p:txBody>
          <a:bodyPr lIns="0" tIns="0" rIns="0" bIns="0" rtlCol="0" anchor="t">
            <a:spAutoFit/>
          </a:bodyPr>
          <a:lstStyle/>
          <a:p>
            <a:pPr algn="l">
              <a:lnSpc>
                <a:spcPts val="6999"/>
              </a:lnSpc>
            </a:pPr>
            <a:r>
              <a:rPr lang="en-US" sz="6000" b="1" spc="99" dirty="0">
                <a:solidFill>
                  <a:srgbClr val="000000"/>
                </a:solidFill>
                <a:latin typeface="Garet Bold"/>
                <a:ea typeface="Garet Bold"/>
                <a:cs typeface="Garet Bold"/>
                <a:sym typeface="Garet Bold"/>
              </a:rPr>
              <a:t>SWOT ANALYSIS</a:t>
            </a:r>
          </a:p>
        </p:txBody>
      </p:sp>
      <p:sp>
        <p:nvSpPr>
          <p:cNvPr id="23" name="TextBox 23"/>
          <p:cNvSpPr txBox="1"/>
          <p:nvPr/>
        </p:nvSpPr>
        <p:spPr>
          <a:xfrm>
            <a:off x="952658" y="3049048"/>
            <a:ext cx="7629377" cy="2054793"/>
          </a:xfrm>
          <a:prstGeom prst="rect">
            <a:avLst/>
          </a:prstGeom>
        </p:spPr>
        <p:txBody>
          <a:bodyPr lIns="0" tIns="0" rIns="0" bIns="0" rtlCol="0" anchor="t">
            <a:spAutoFit/>
          </a:bodyPr>
          <a:lstStyle/>
          <a:p>
            <a:pPr marL="342900" indent="-342900" algn="just">
              <a:lnSpc>
                <a:spcPct val="150000"/>
              </a:lnSpc>
              <a:buFont typeface="Arial" panose="020B0604020202020204" pitchFamily="34" charset="0"/>
              <a:buChar char="•"/>
            </a:pPr>
            <a:r>
              <a:rPr kumimoji="0" lang="en-US" altLang="en-US" sz="3200" b="0" i="0" u="none" strike="noStrike" cap="none" normalizeH="0" baseline="0" dirty="0">
                <a:ln>
                  <a:noFill/>
                </a:ln>
                <a:solidFill>
                  <a:schemeClr val="tx1"/>
                </a:solidFill>
                <a:effectLst/>
                <a:latin typeface="Arial" panose="020B0604020202020204" pitchFamily="34" charset="0"/>
              </a:rPr>
              <a:t>Direct farmer-to-buyer interaction</a:t>
            </a:r>
          </a:p>
          <a:p>
            <a:pPr marL="342900" indent="-342900" algn="just">
              <a:lnSpc>
                <a:spcPct val="150000"/>
              </a:lnSpc>
              <a:buFont typeface="Arial" panose="020B0604020202020204" pitchFamily="34" charset="0"/>
              <a:buChar char="•"/>
            </a:pPr>
            <a:r>
              <a:rPr kumimoji="0" lang="en-US" altLang="en-US" sz="3200" b="0" i="0" u="none" strike="noStrike" cap="none" normalizeH="0" baseline="0" dirty="0">
                <a:ln>
                  <a:noFill/>
                </a:ln>
                <a:solidFill>
                  <a:schemeClr val="tx1"/>
                </a:solidFill>
                <a:effectLst/>
                <a:latin typeface="Arial" panose="020B0604020202020204" pitchFamily="34" charset="0"/>
              </a:rPr>
              <a:t>Reduced middlemen</a:t>
            </a:r>
          </a:p>
          <a:p>
            <a:pPr marL="342900" lvl="0" indent="-342900" algn="just">
              <a:lnSpc>
                <a:spcPct val="150000"/>
              </a:lnSpc>
              <a:buFont typeface="Arial" panose="020B0604020202020204" pitchFamily="34" charset="0"/>
              <a:buChar char="•"/>
            </a:pPr>
            <a:r>
              <a:rPr lang="en-US" sz="2800" dirty="0">
                <a:solidFill>
                  <a:srgbClr val="000000"/>
                </a:solidFill>
                <a:latin typeface="Open Sans"/>
                <a:ea typeface="Open Sans"/>
                <a:cs typeface="Open Sans"/>
                <a:sym typeface="Open Sans"/>
              </a:rPr>
              <a:t>Reduce crops price for consumers.</a:t>
            </a:r>
          </a:p>
        </p:txBody>
      </p:sp>
      <p:grpSp>
        <p:nvGrpSpPr>
          <p:cNvPr id="24" name="Group 24"/>
          <p:cNvGrpSpPr/>
          <p:nvPr/>
        </p:nvGrpSpPr>
        <p:grpSpPr>
          <a:xfrm>
            <a:off x="763347" y="2400860"/>
            <a:ext cx="669452" cy="66945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grpSp>
        <p:nvGrpSpPr>
          <p:cNvPr id="27" name="Group 27"/>
          <p:cNvGrpSpPr/>
          <p:nvPr/>
        </p:nvGrpSpPr>
        <p:grpSpPr>
          <a:xfrm>
            <a:off x="9894370" y="2400860"/>
            <a:ext cx="669452" cy="66945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grpSp>
        <p:nvGrpSpPr>
          <p:cNvPr id="30" name="Group 30"/>
          <p:cNvGrpSpPr/>
          <p:nvPr/>
        </p:nvGrpSpPr>
        <p:grpSpPr>
          <a:xfrm>
            <a:off x="763347" y="6643833"/>
            <a:ext cx="669452" cy="669452"/>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D957"/>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grpSp>
        <p:nvGrpSpPr>
          <p:cNvPr id="33" name="Group 33"/>
          <p:cNvGrpSpPr/>
          <p:nvPr/>
        </p:nvGrpSpPr>
        <p:grpSpPr>
          <a:xfrm>
            <a:off x="9894370" y="6643833"/>
            <a:ext cx="669452" cy="669452"/>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sp>
        <p:nvSpPr>
          <p:cNvPr id="36" name="TextBox 36"/>
          <p:cNvSpPr txBox="1"/>
          <p:nvPr/>
        </p:nvSpPr>
        <p:spPr>
          <a:xfrm>
            <a:off x="952658" y="7250524"/>
            <a:ext cx="6184292" cy="3384003"/>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r>
              <a:rPr kumimoji="0" lang="en-US" altLang="en-US" sz="3200" b="0" i="0" u="none" strike="noStrike" cap="none" normalizeH="0" baseline="0" dirty="0">
                <a:ln>
                  <a:noFill/>
                </a:ln>
                <a:solidFill>
                  <a:schemeClr val="tx1"/>
                </a:solidFill>
                <a:effectLst/>
                <a:latin typeface="Arial" panose="020B0604020202020204" pitchFamily="34" charset="0"/>
              </a:rPr>
              <a:t>Growing smartphone usage in Cameroon</a:t>
            </a:r>
          </a:p>
          <a:p>
            <a:pPr marL="342900" indent="-342900" algn="just">
              <a:lnSpc>
                <a:spcPct val="150000"/>
              </a:lnSpc>
              <a:buFont typeface="Arial" panose="020B0604020202020204" pitchFamily="34" charset="0"/>
              <a:buChar char="•"/>
            </a:pPr>
            <a:r>
              <a:rPr kumimoji="0" lang="en-US" altLang="en-US" sz="3200" b="0" i="0" u="none" strike="noStrike" cap="none" normalizeH="0" baseline="0" dirty="0">
                <a:ln>
                  <a:noFill/>
                </a:ln>
                <a:solidFill>
                  <a:schemeClr val="tx1"/>
                </a:solidFill>
                <a:effectLst/>
                <a:latin typeface="Arial" panose="020B0604020202020204" pitchFamily="34" charset="0"/>
              </a:rPr>
              <a:t>Expansion to logistics and export markets</a:t>
            </a:r>
          </a:p>
          <a:p>
            <a:pPr marL="342900" lvl="0" indent="-342900" algn="just">
              <a:lnSpc>
                <a:spcPts val="3450"/>
              </a:lnSpc>
              <a:buFont typeface="Arial" panose="020B0604020202020204" pitchFamily="34" charset="0"/>
              <a:buChar char="•"/>
            </a:pPr>
            <a:endParaRPr lang="en-US" sz="2800" dirty="0">
              <a:solidFill>
                <a:srgbClr val="000000"/>
              </a:solidFill>
              <a:latin typeface="Open Sans"/>
              <a:ea typeface="Open Sans"/>
              <a:cs typeface="Open Sans"/>
              <a:sym typeface="Open Sans"/>
            </a:endParaRPr>
          </a:p>
        </p:txBody>
      </p:sp>
      <p:sp>
        <p:nvSpPr>
          <p:cNvPr id="37" name="TextBox 37"/>
          <p:cNvSpPr txBox="1"/>
          <p:nvPr/>
        </p:nvSpPr>
        <p:spPr>
          <a:xfrm>
            <a:off x="10229096" y="3121673"/>
            <a:ext cx="7629377" cy="3094180"/>
          </a:xfrm>
          <a:prstGeom prst="rect">
            <a:avLst/>
          </a:prstGeom>
        </p:spPr>
        <p:txBody>
          <a:bodyPr lIns="0" tIns="0" rIns="0" bIns="0" rtlCol="0" anchor="t">
            <a:spAutoFit/>
          </a:bodyPr>
          <a:lstStyle/>
          <a:p>
            <a:pPr marL="342900" indent="-342900" algn="just">
              <a:lnSpc>
                <a:spcPct val="150000"/>
              </a:lnSpc>
              <a:buFont typeface="Arial" panose="020B0604020202020204" pitchFamily="34" charset="0"/>
              <a:buChar char="•"/>
            </a:pPr>
            <a:r>
              <a:rPr kumimoji="0" lang="en-US" altLang="en-US" sz="3200" b="0" i="0" u="none" strike="noStrike" cap="none" normalizeH="0" baseline="0" dirty="0">
                <a:ln>
                  <a:noFill/>
                </a:ln>
                <a:solidFill>
                  <a:schemeClr val="tx1"/>
                </a:solidFill>
                <a:effectLst/>
                <a:latin typeface="Arial" panose="020B0604020202020204" pitchFamily="34" charset="0"/>
              </a:rPr>
              <a:t>Internet dependency</a:t>
            </a:r>
          </a:p>
          <a:p>
            <a:pPr marL="342900" indent="-342900" algn="just">
              <a:lnSpc>
                <a:spcPct val="150000"/>
              </a:lnSpc>
              <a:buFont typeface="Arial" panose="020B0604020202020204" pitchFamily="34" charset="0"/>
              <a:buChar char="•"/>
            </a:pPr>
            <a:r>
              <a:rPr kumimoji="0" lang="en-US" altLang="en-US" sz="3200" b="0" i="0" u="none" strike="noStrike" cap="none" normalizeH="0" baseline="0" dirty="0">
                <a:ln>
                  <a:noFill/>
                </a:ln>
                <a:solidFill>
                  <a:schemeClr val="tx1"/>
                </a:solidFill>
                <a:effectLst/>
                <a:latin typeface="Arial" panose="020B0604020202020204" pitchFamily="34" charset="0"/>
              </a:rPr>
              <a:t>Limited digital literacy among some farmers</a:t>
            </a:r>
          </a:p>
          <a:p>
            <a:pPr marL="342900" indent="-342900" algn="just">
              <a:lnSpc>
                <a:spcPts val="3450"/>
              </a:lnSpc>
              <a:buFont typeface="Arial" panose="020B0604020202020204" pitchFamily="34" charset="0"/>
              <a:buChar char="•"/>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342900" lvl="0" indent="-342900" algn="just">
              <a:lnSpc>
                <a:spcPts val="3450"/>
              </a:lnSpc>
              <a:buFont typeface="Arial" panose="020B0604020202020204" pitchFamily="34" charset="0"/>
              <a:buChar char="•"/>
            </a:pPr>
            <a:endParaRPr lang="en-US" sz="2800" dirty="0">
              <a:solidFill>
                <a:srgbClr val="000000"/>
              </a:solidFill>
              <a:latin typeface="Open Sans"/>
              <a:ea typeface="Open Sans"/>
              <a:cs typeface="Open Sans"/>
              <a:sym typeface="Open Sans"/>
            </a:endParaRPr>
          </a:p>
        </p:txBody>
      </p:sp>
      <p:sp>
        <p:nvSpPr>
          <p:cNvPr id="38" name="TextBox 38"/>
          <p:cNvSpPr txBox="1"/>
          <p:nvPr/>
        </p:nvSpPr>
        <p:spPr>
          <a:xfrm>
            <a:off x="10229095" y="7547573"/>
            <a:ext cx="7629377" cy="1316130"/>
          </a:xfrm>
          <a:prstGeom prst="rect">
            <a:avLst/>
          </a:prstGeom>
        </p:spPr>
        <p:txBody>
          <a:bodyPr lIns="0" tIns="0" rIns="0" bIns="0" rtlCol="0" anchor="t">
            <a:spAutoFit/>
          </a:bodyPr>
          <a:lstStyle/>
          <a:p>
            <a:pPr marL="342900" indent="-342900" algn="just">
              <a:lnSpc>
                <a:spcPct val="150000"/>
              </a:lnSpc>
              <a:buFont typeface="Arial" panose="020B0604020202020204" pitchFamily="34" charset="0"/>
              <a:buChar char="•"/>
            </a:pPr>
            <a:r>
              <a:rPr kumimoji="0" lang="en-US" altLang="en-US" sz="3200" b="0" i="0" u="none" strike="noStrike" cap="none" normalizeH="0" baseline="0" dirty="0">
                <a:ln>
                  <a:noFill/>
                </a:ln>
                <a:solidFill>
                  <a:schemeClr val="tx1"/>
                </a:solidFill>
                <a:effectLst/>
                <a:latin typeface="Arial" panose="020B0604020202020204" pitchFamily="34" charset="0"/>
              </a:rPr>
              <a:t>Network instability</a:t>
            </a:r>
          </a:p>
          <a:p>
            <a:pPr marL="342900" lvl="0" indent="-342900" algn="just">
              <a:lnSpc>
                <a:spcPct val="150000"/>
              </a:lnSpc>
              <a:buFont typeface="Arial" panose="020B0604020202020204" pitchFamily="34" charset="0"/>
              <a:buChar char="•"/>
            </a:pPr>
            <a:r>
              <a:rPr lang="en-US" sz="2800" dirty="0">
                <a:solidFill>
                  <a:srgbClr val="000000"/>
                </a:solidFill>
                <a:latin typeface="Open Sans"/>
                <a:ea typeface="Open Sans"/>
                <a:cs typeface="Open Sans"/>
                <a:sym typeface="Open Sans"/>
              </a:rPr>
              <a:t>Competition  with similar apps  or systems.</a:t>
            </a:r>
          </a:p>
        </p:txBody>
      </p:sp>
      <p:grpSp>
        <p:nvGrpSpPr>
          <p:cNvPr id="39" name="Group 39"/>
          <p:cNvGrpSpPr/>
          <p:nvPr/>
        </p:nvGrpSpPr>
        <p:grpSpPr>
          <a:xfrm>
            <a:off x="8709419" y="-2174505"/>
            <a:ext cx="3744615" cy="3744615"/>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7ED957">
                  <a:alpha val="19608"/>
                </a:srgbClr>
              </a:solidFill>
              <a:prstDash val="solid"/>
              <a:miter/>
            </a:ln>
          </p:spPr>
        </p:sp>
        <p:sp>
          <p:nvSpPr>
            <p:cNvPr id="41" name="TextBox 4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sp>
        <p:nvSpPr>
          <p:cNvPr id="42" name="TextBox 41">
            <a:extLst>
              <a:ext uri="{FF2B5EF4-FFF2-40B4-BE49-F238E27FC236}">
                <a16:creationId xmlns:a16="http://schemas.microsoft.com/office/drawing/2014/main" id="{2F63485B-3648-47F3-B406-CFF2B1BB2725}"/>
              </a:ext>
            </a:extLst>
          </p:cNvPr>
          <p:cNvSpPr txBox="1"/>
          <p:nvPr/>
        </p:nvSpPr>
        <p:spPr>
          <a:xfrm>
            <a:off x="3498" y="9234784"/>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ea typeface="Garet Bold"/>
                <a:cs typeface="Garet Bold"/>
                <a:sym typeface="Garet Bold"/>
              </a:rPr>
              <a:t>07</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
            <a:ext cx="18243687" cy="2060237"/>
            <a:chOff x="0" y="0"/>
            <a:chExt cx="4574327" cy="406438"/>
          </a:xfrm>
        </p:grpSpPr>
        <p:sp>
          <p:nvSpPr>
            <p:cNvPr id="3" name="Freeform 3"/>
            <p:cNvSpPr/>
            <p:nvPr/>
          </p:nvSpPr>
          <p:spPr>
            <a:xfrm>
              <a:off x="0" y="0"/>
              <a:ext cx="4574327" cy="406438"/>
            </a:xfrm>
            <a:custGeom>
              <a:avLst/>
              <a:gdLst/>
              <a:ahLst/>
              <a:cxnLst/>
              <a:rect l="l" t="t" r="r" b="b"/>
              <a:pathLst>
                <a:path w="4574327" h="406438">
                  <a:moveTo>
                    <a:pt x="0" y="0"/>
                  </a:moveTo>
                  <a:lnTo>
                    <a:pt x="4574327" y="0"/>
                  </a:lnTo>
                  <a:lnTo>
                    <a:pt x="4574327" y="406438"/>
                  </a:lnTo>
                  <a:lnTo>
                    <a:pt x="0" y="406438"/>
                  </a:lnTo>
                  <a:close/>
                </a:path>
              </a:pathLst>
            </a:custGeom>
            <a:solidFill>
              <a:srgbClr val="7ED957"/>
            </a:solidFill>
          </p:spPr>
          <p:txBody>
            <a:bodyPr/>
            <a:lstStyle/>
            <a:p>
              <a:endParaRPr lang="en-US" sz="2400" dirty="0"/>
            </a:p>
          </p:txBody>
        </p:sp>
        <p:sp>
          <p:nvSpPr>
            <p:cNvPr id="4" name="TextBox 4"/>
            <p:cNvSpPr txBox="1"/>
            <p:nvPr/>
          </p:nvSpPr>
          <p:spPr>
            <a:xfrm>
              <a:off x="0" y="-38100"/>
              <a:ext cx="4574327" cy="444538"/>
            </a:xfrm>
            <a:prstGeom prst="rect">
              <a:avLst/>
            </a:prstGeom>
          </p:spPr>
          <p:txBody>
            <a:bodyPr lIns="50800" tIns="50800" rIns="50800" bIns="50800" rtlCol="0" anchor="ctr"/>
            <a:lstStyle/>
            <a:p>
              <a:pPr algn="ctr">
                <a:lnSpc>
                  <a:spcPts val="2659"/>
                </a:lnSpc>
              </a:pPr>
              <a:endParaRPr sz="2400" dirty="0"/>
            </a:p>
          </p:txBody>
        </p:sp>
      </p:grpSp>
      <p:sp>
        <p:nvSpPr>
          <p:cNvPr id="5" name="TextBox 5"/>
          <p:cNvSpPr txBox="1"/>
          <p:nvPr/>
        </p:nvSpPr>
        <p:spPr>
          <a:xfrm>
            <a:off x="768951" y="296934"/>
            <a:ext cx="13251849" cy="1724831"/>
          </a:xfrm>
          <a:prstGeom prst="rect">
            <a:avLst/>
          </a:prstGeom>
        </p:spPr>
        <p:txBody>
          <a:bodyPr wrap="square" lIns="0" tIns="0" rIns="0" bIns="0" rtlCol="0" anchor="t">
            <a:spAutoFit/>
          </a:bodyPr>
          <a:lstStyle/>
          <a:p>
            <a:pPr algn="l">
              <a:lnSpc>
                <a:spcPts val="6999"/>
              </a:lnSpc>
            </a:pPr>
            <a:r>
              <a:rPr lang="en-US" sz="6000" b="1" spc="99" dirty="0">
                <a:solidFill>
                  <a:srgbClr val="FFFFFF"/>
                </a:solidFill>
                <a:latin typeface="Garet Bold"/>
                <a:ea typeface="Garet Bold"/>
                <a:cs typeface="Garet Bold"/>
                <a:sym typeface="Garet Bold"/>
              </a:rPr>
              <a:t>SOFTWARE ARCHITECTURE</a:t>
            </a:r>
          </a:p>
          <a:p>
            <a:pPr algn="l">
              <a:lnSpc>
                <a:spcPts val="6999"/>
              </a:lnSpc>
            </a:pPr>
            <a:r>
              <a:rPr lang="en-US" sz="4000" b="1" spc="99" dirty="0">
                <a:solidFill>
                  <a:srgbClr val="FFFFFF"/>
                </a:solidFill>
                <a:latin typeface="Garet Bold"/>
                <a:ea typeface="Garet Bold"/>
                <a:cs typeface="Garet Bold"/>
                <a:sym typeface="Garet Bold"/>
              </a:rPr>
              <a:t>(Tools)</a:t>
            </a:r>
          </a:p>
        </p:txBody>
      </p:sp>
      <p:grpSp>
        <p:nvGrpSpPr>
          <p:cNvPr id="11" name="Group 11"/>
          <p:cNvGrpSpPr/>
          <p:nvPr/>
        </p:nvGrpSpPr>
        <p:grpSpPr>
          <a:xfrm>
            <a:off x="13737795" y="5540274"/>
            <a:ext cx="3987330" cy="398733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sp>
        <p:nvSpPr>
          <p:cNvPr id="20" name="AutoShape 6">
            <a:extLst>
              <a:ext uri="{FF2B5EF4-FFF2-40B4-BE49-F238E27FC236}">
                <a16:creationId xmlns:a16="http://schemas.microsoft.com/office/drawing/2014/main" id="{52B0DA58-4195-4D5B-AC72-12100A929FEC}"/>
              </a:ext>
            </a:extLst>
          </p:cNvPr>
          <p:cNvSpPr/>
          <p:nvPr/>
        </p:nvSpPr>
        <p:spPr>
          <a:xfrm>
            <a:off x="3926932" y="2357171"/>
            <a:ext cx="22156" cy="6366207"/>
          </a:xfrm>
          <a:prstGeom prst="line">
            <a:avLst/>
          </a:prstGeom>
          <a:ln w="47625" cap="flat">
            <a:solidFill>
              <a:srgbClr val="000000">
                <a:alpha val="29804"/>
              </a:srgbClr>
            </a:solidFill>
            <a:prstDash val="solid"/>
            <a:headEnd type="none" w="sm" len="sm"/>
            <a:tailEnd type="none" w="sm" len="sm"/>
          </a:ln>
        </p:spPr>
      </p:sp>
      <p:grpSp>
        <p:nvGrpSpPr>
          <p:cNvPr id="21" name="Group 9">
            <a:extLst>
              <a:ext uri="{FF2B5EF4-FFF2-40B4-BE49-F238E27FC236}">
                <a16:creationId xmlns:a16="http://schemas.microsoft.com/office/drawing/2014/main" id="{B0113149-34A3-4BFA-B6EB-9DD325F158BD}"/>
              </a:ext>
            </a:extLst>
          </p:cNvPr>
          <p:cNvGrpSpPr/>
          <p:nvPr/>
        </p:nvGrpSpPr>
        <p:grpSpPr>
          <a:xfrm>
            <a:off x="847493" y="2454087"/>
            <a:ext cx="2824010" cy="1555268"/>
            <a:chOff x="-118801" y="-4791"/>
            <a:chExt cx="2815768" cy="557935"/>
          </a:xfrm>
        </p:grpSpPr>
        <p:sp>
          <p:nvSpPr>
            <p:cNvPr id="22" name="Freeform 10">
              <a:extLst>
                <a:ext uri="{FF2B5EF4-FFF2-40B4-BE49-F238E27FC236}">
                  <a16:creationId xmlns:a16="http://schemas.microsoft.com/office/drawing/2014/main" id="{D9C46869-2300-47D6-8827-7C3405085379}"/>
                </a:ext>
              </a:extLst>
            </p:cNvPr>
            <p:cNvSpPr/>
            <p:nvPr/>
          </p:nvSpPr>
          <p:spPr>
            <a:xfrm>
              <a:off x="27005" y="37483"/>
              <a:ext cx="2596108"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7ED957"/>
            </a:solidFill>
          </p:spPr>
        </p:sp>
        <p:sp>
          <p:nvSpPr>
            <p:cNvPr id="23" name="TextBox 11">
              <a:extLst>
                <a:ext uri="{FF2B5EF4-FFF2-40B4-BE49-F238E27FC236}">
                  <a16:creationId xmlns:a16="http://schemas.microsoft.com/office/drawing/2014/main" id="{96062E25-C423-4A59-AB9A-56BA3208178F}"/>
                </a:ext>
              </a:extLst>
            </p:cNvPr>
            <p:cNvSpPr txBox="1"/>
            <p:nvPr/>
          </p:nvSpPr>
          <p:spPr>
            <a:xfrm>
              <a:off x="-118801" y="-4791"/>
              <a:ext cx="2815768" cy="557935"/>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UI/UX Design</a:t>
              </a:r>
            </a:p>
          </p:txBody>
        </p:sp>
      </p:grpSp>
      <p:grpSp>
        <p:nvGrpSpPr>
          <p:cNvPr id="24" name="Group 24">
            <a:extLst>
              <a:ext uri="{FF2B5EF4-FFF2-40B4-BE49-F238E27FC236}">
                <a16:creationId xmlns:a16="http://schemas.microsoft.com/office/drawing/2014/main" id="{9D1B6A32-A3CE-4DE1-808D-BA0541E277FE}"/>
              </a:ext>
            </a:extLst>
          </p:cNvPr>
          <p:cNvGrpSpPr/>
          <p:nvPr/>
        </p:nvGrpSpPr>
        <p:grpSpPr>
          <a:xfrm>
            <a:off x="784395" y="6734805"/>
            <a:ext cx="2881719" cy="1212118"/>
            <a:chOff x="0" y="0"/>
            <a:chExt cx="812800" cy="812800"/>
          </a:xfrm>
        </p:grpSpPr>
        <p:sp>
          <p:nvSpPr>
            <p:cNvPr id="25" name="Freeform 25">
              <a:extLst>
                <a:ext uri="{FF2B5EF4-FFF2-40B4-BE49-F238E27FC236}">
                  <a16:creationId xmlns:a16="http://schemas.microsoft.com/office/drawing/2014/main" id="{B792AB16-697D-4A98-B00B-092DDCDB87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26" name="TextBox 26">
              <a:extLst>
                <a:ext uri="{FF2B5EF4-FFF2-40B4-BE49-F238E27FC236}">
                  <a16:creationId xmlns:a16="http://schemas.microsoft.com/office/drawing/2014/main" id="{5F48F7DE-0B1C-4145-97B9-D7391297237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sp>
        <p:nvSpPr>
          <p:cNvPr id="28" name="TextBox 27">
            <a:extLst>
              <a:ext uri="{FF2B5EF4-FFF2-40B4-BE49-F238E27FC236}">
                <a16:creationId xmlns:a16="http://schemas.microsoft.com/office/drawing/2014/main" id="{64874B2E-A3CF-41BF-8D43-FE3606D1C73F}"/>
              </a:ext>
            </a:extLst>
          </p:cNvPr>
          <p:cNvSpPr txBox="1"/>
          <p:nvPr/>
        </p:nvSpPr>
        <p:spPr>
          <a:xfrm>
            <a:off x="1305088" y="6849288"/>
            <a:ext cx="1758249" cy="646331"/>
          </a:xfrm>
          <a:prstGeom prst="rect">
            <a:avLst/>
          </a:prstGeom>
          <a:noFill/>
        </p:spPr>
        <p:txBody>
          <a:bodyPr wrap="square">
            <a:spAutoFit/>
          </a:bodyPr>
          <a:lstStyle/>
          <a:p>
            <a:pPr algn="ctr"/>
            <a:r>
              <a:rPr lang="en-US" sz="3600" b="1" dirty="0">
                <a:solidFill>
                  <a:schemeClr val="bg1"/>
                </a:solidFill>
              </a:rPr>
              <a:t>Figma</a:t>
            </a:r>
            <a:endParaRPr lang="en-US" sz="4000" b="1" dirty="0">
              <a:solidFill>
                <a:schemeClr val="bg1"/>
              </a:solidFill>
            </a:endParaRPr>
          </a:p>
        </p:txBody>
      </p:sp>
      <p:sp>
        <p:nvSpPr>
          <p:cNvPr id="33" name="Arrow: Down 32">
            <a:extLst>
              <a:ext uri="{FF2B5EF4-FFF2-40B4-BE49-F238E27FC236}">
                <a16:creationId xmlns:a16="http://schemas.microsoft.com/office/drawing/2014/main" id="{0A4EEEA5-BC61-4F88-8CC8-4B040DCC13A4}"/>
              </a:ext>
            </a:extLst>
          </p:cNvPr>
          <p:cNvSpPr/>
          <p:nvPr/>
        </p:nvSpPr>
        <p:spPr>
          <a:xfrm>
            <a:off x="2066983" y="3898716"/>
            <a:ext cx="457192" cy="2779271"/>
          </a:xfrm>
          <a:prstGeom prst="down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nvGrpSpPr>
          <p:cNvPr id="34" name="Group 9">
            <a:extLst>
              <a:ext uri="{FF2B5EF4-FFF2-40B4-BE49-F238E27FC236}">
                <a16:creationId xmlns:a16="http://schemas.microsoft.com/office/drawing/2014/main" id="{327E7C99-B59A-4793-991B-65194E0A9251}"/>
              </a:ext>
            </a:extLst>
          </p:cNvPr>
          <p:cNvGrpSpPr/>
          <p:nvPr/>
        </p:nvGrpSpPr>
        <p:grpSpPr>
          <a:xfrm>
            <a:off x="4415884" y="2631688"/>
            <a:ext cx="2943687" cy="1224813"/>
            <a:chOff x="3186304" y="104871"/>
            <a:chExt cx="2844270" cy="473520"/>
          </a:xfrm>
        </p:grpSpPr>
        <p:sp>
          <p:nvSpPr>
            <p:cNvPr id="35" name="Freeform 10">
              <a:extLst>
                <a:ext uri="{FF2B5EF4-FFF2-40B4-BE49-F238E27FC236}">
                  <a16:creationId xmlns:a16="http://schemas.microsoft.com/office/drawing/2014/main" id="{5E4D5C8D-7D22-4679-8653-CE24330259A4}"/>
                </a:ext>
              </a:extLst>
            </p:cNvPr>
            <p:cNvSpPr/>
            <p:nvPr/>
          </p:nvSpPr>
          <p:spPr>
            <a:xfrm>
              <a:off x="3261453" y="104871"/>
              <a:ext cx="2596107"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7ED957"/>
            </a:solidFill>
          </p:spPr>
          <p:txBody>
            <a:bodyPr/>
            <a:lstStyle/>
            <a:p>
              <a:endParaRPr lang="en-US" sz="2400" dirty="0"/>
            </a:p>
          </p:txBody>
        </p:sp>
        <p:sp>
          <p:nvSpPr>
            <p:cNvPr id="36" name="TextBox 11">
              <a:extLst>
                <a:ext uri="{FF2B5EF4-FFF2-40B4-BE49-F238E27FC236}">
                  <a16:creationId xmlns:a16="http://schemas.microsoft.com/office/drawing/2014/main" id="{698D04FC-6ADC-4BF8-A7CD-4DE84B216869}"/>
                </a:ext>
              </a:extLst>
            </p:cNvPr>
            <p:cNvSpPr txBox="1"/>
            <p:nvPr/>
          </p:nvSpPr>
          <p:spPr>
            <a:xfrm>
              <a:off x="3186304" y="104871"/>
              <a:ext cx="2844270"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UML Diagrams</a:t>
              </a:r>
            </a:p>
          </p:txBody>
        </p:sp>
      </p:grpSp>
      <p:grpSp>
        <p:nvGrpSpPr>
          <p:cNvPr id="37" name="Group 24">
            <a:extLst>
              <a:ext uri="{FF2B5EF4-FFF2-40B4-BE49-F238E27FC236}">
                <a16:creationId xmlns:a16="http://schemas.microsoft.com/office/drawing/2014/main" id="{1C7E1264-CE96-47EE-95C7-41AF82F6D949}"/>
              </a:ext>
            </a:extLst>
          </p:cNvPr>
          <p:cNvGrpSpPr/>
          <p:nvPr/>
        </p:nvGrpSpPr>
        <p:grpSpPr>
          <a:xfrm>
            <a:off x="4191238" y="6603272"/>
            <a:ext cx="2889744" cy="1330803"/>
            <a:chOff x="0" y="0"/>
            <a:chExt cx="812800" cy="812800"/>
          </a:xfrm>
        </p:grpSpPr>
        <p:sp>
          <p:nvSpPr>
            <p:cNvPr id="38" name="Freeform 25">
              <a:extLst>
                <a:ext uri="{FF2B5EF4-FFF2-40B4-BE49-F238E27FC236}">
                  <a16:creationId xmlns:a16="http://schemas.microsoft.com/office/drawing/2014/main" id="{8FB8061D-BB07-493A-8776-C0FC71C477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39" name="TextBox 26">
              <a:extLst>
                <a:ext uri="{FF2B5EF4-FFF2-40B4-BE49-F238E27FC236}">
                  <a16:creationId xmlns:a16="http://schemas.microsoft.com/office/drawing/2014/main" id="{5CF247A7-9B19-4032-AC4B-56D1FEBCA39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sp>
        <p:nvSpPr>
          <p:cNvPr id="42" name="Arrow: Down 41">
            <a:extLst>
              <a:ext uri="{FF2B5EF4-FFF2-40B4-BE49-F238E27FC236}">
                <a16:creationId xmlns:a16="http://schemas.microsoft.com/office/drawing/2014/main" id="{6C4C8E00-6BD9-4B16-AC95-11413ED65274}"/>
              </a:ext>
            </a:extLst>
          </p:cNvPr>
          <p:cNvSpPr/>
          <p:nvPr/>
        </p:nvSpPr>
        <p:spPr>
          <a:xfrm>
            <a:off x="5596389" y="3733314"/>
            <a:ext cx="457192" cy="2779271"/>
          </a:xfrm>
          <a:prstGeom prst="down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43" name="AutoShape 6">
            <a:extLst>
              <a:ext uri="{FF2B5EF4-FFF2-40B4-BE49-F238E27FC236}">
                <a16:creationId xmlns:a16="http://schemas.microsoft.com/office/drawing/2014/main" id="{EE4EB7E7-ABFE-4AEE-A7F3-248F0C52D328}"/>
              </a:ext>
            </a:extLst>
          </p:cNvPr>
          <p:cNvSpPr/>
          <p:nvPr/>
        </p:nvSpPr>
        <p:spPr>
          <a:xfrm flipH="1">
            <a:off x="7359571" y="2357171"/>
            <a:ext cx="0" cy="6366207"/>
          </a:xfrm>
          <a:prstGeom prst="line">
            <a:avLst/>
          </a:prstGeom>
          <a:ln w="47625" cap="flat">
            <a:solidFill>
              <a:srgbClr val="000000">
                <a:alpha val="29804"/>
              </a:srgbClr>
            </a:solidFill>
            <a:prstDash val="solid"/>
            <a:headEnd type="none" w="sm" len="sm"/>
            <a:tailEnd type="none" w="sm" len="sm"/>
          </a:ln>
        </p:spPr>
      </p:sp>
      <p:sp>
        <p:nvSpPr>
          <p:cNvPr id="47" name="Arrow: Down 46">
            <a:extLst>
              <a:ext uri="{FF2B5EF4-FFF2-40B4-BE49-F238E27FC236}">
                <a16:creationId xmlns:a16="http://schemas.microsoft.com/office/drawing/2014/main" id="{DF4BECAE-78FE-4E7A-A323-8A27165FD47A}"/>
              </a:ext>
            </a:extLst>
          </p:cNvPr>
          <p:cNvSpPr/>
          <p:nvPr/>
        </p:nvSpPr>
        <p:spPr>
          <a:xfrm>
            <a:off x="8796547" y="3790410"/>
            <a:ext cx="457192" cy="2779271"/>
          </a:xfrm>
          <a:prstGeom prst="down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51" name="Arrow: Down 50">
            <a:extLst>
              <a:ext uri="{FF2B5EF4-FFF2-40B4-BE49-F238E27FC236}">
                <a16:creationId xmlns:a16="http://schemas.microsoft.com/office/drawing/2014/main" id="{E8473249-D1BA-4472-A3F7-62EF90139C7D}"/>
              </a:ext>
            </a:extLst>
          </p:cNvPr>
          <p:cNvSpPr/>
          <p:nvPr/>
        </p:nvSpPr>
        <p:spPr>
          <a:xfrm>
            <a:off x="12186591" y="3742409"/>
            <a:ext cx="457192" cy="2779271"/>
          </a:xfrm>
          <a:prstGeom prst="down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nvGrpSpPr>
          <p:cNvPr id="53" name="Group 9">
            <a:extLst>
              <a:ext uri="{FF2B5EF4-FFF2-40B4-BE49-F238E27FC236}">
                <a16:creationId xmlns:a16="http://schemas.microsoft.com/office/drawing/2014/main" id="{5AB563C2-510B-4BD0-AE44-1B15F8AAD7FD}"/>
              </a:ext>
            </a:extLst>
          </p:cNvPr>
          <p:cNvGrpSpPr/>
          <p:nvPr/>
        </p:nvGrpSpPr>
        <p:grpSpPr>
          <a:xfrm>
            <a:off x="7543706" y="2564781"/>
            <a:ext cx="3027089" cy="1291678"/>
            <a:chOff x="3186304" y="104871"/>
            <a:chExt cx="2844270" cy="473520"/>
          </a:xfrm>
        </p:grpSpPr>
        <p:sp>
          <p:nvSpPr>
            <p:cNvPr id="54" name="Freeform 10">
              <a:extLst>
                <a:ext uri="{FF2B5EF4-FFF2-40B4-BE49-F238E27FC236}">
                  <a16:creationId xmlns:a16="http://schemas.microsoft.com/office/drawing/2014/main" id="{97B0A9AA-628F-471E-AB64-272A1BE3506B}"/>
                </a:ext>
              </a:extLst>
            </p:cNvPr>
            <p:cNvSpPr/>
            <p:nvPr/>
          </p:nvSpPr>
          <p:spPr>
            <a:xfrm>
              <a:off x="3261453" y="104871"/>
              <a:ext cx="2596107"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7ED957"/>
            </a:solidFill>
          </p:spPr>
          <p:txBody>
            <a:bodyPr/>
            <a:lstStyle/>
            <a:p>
              <a:endParaRPr lang="en-US" sz="2400" dirty="0"/>
            </a:p>
          </p:txBody>
        </p:sp>
        <p:sp>
          <p:nvSpPr>
            <p:cNvPr id="55" name="TextBox 11">
              <a:extLst>
                <a:ext uri="{FF2B5EF4-FFF2-40B4-BE49-F238E27FC236}">
                  <a16:creationId xmlns:a16="http://schemas.microsoft.com/office/drawing/2014/main" id="{25FCCEE4-9472-42B3-9E28-421F5BF43937}"/>
                </a:ext>
              </a:extLst>
            </p:cNvPr>
            <p:cNvSpPr txBox="1"/>
            <p:nvPr/>
          </p:nvSpPr>
          <p:spPr>
            <a:xfrm>
              <a:off x="3186304" y="104871"/>
              <a:ext cx="2844270"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Frontend</a:t>
              </a:r>
            </a:p>
          </p:txBody>
        </p:sp>
      </p:grpSp>
      <p:grpSp>
        <p:nvGrpSpPr>
          <p:cNvPr id="56" name="Group 24">
            <a:extLst>
              <a:ext uri="{FF2B5EF4-FFF2-40B4-BE49-F238E27FC236}">
                <a16:creationId xmlns:a16="http://schemas.microsoft.com/office/drawing/2014/main" id="{B9A7CFE0-8E08-4A0B-9673-FB04A6B89469}"/>
              </a:ext>
            </a:extLst>
          </p:cNvPr>
          <p:cNvGrpSpPr/>
          <p:nvPr/>
        </p:nvGrpSpPr>
        <p:grpSpPr>
          <a:xfrm>
            <a:off x="7620236" y="6655707"/>
            <a:ext cx="2797051" cy="1291678"/>
            <a:chOff x="0" y="0"/>
            <a:chExt cx="812800" cy="812800"/>
          </a:xfrm>
        </p:grpSpPr>
        <p:sp>
          <p:nvSpPr>
            <p:cNvPr id="57" name="Freeform 25">
              <a:extLst>
                <a:ext uri="{FF2B5EF4-FFF2-40B4-BE49-F238E27FC236}">
                  <a16:creationId xmlns:a16="http://schemas.microsoft.com/office/drawing/2014/main" id="{F183C385-2393-4D99-AEE2-CCD8C0641D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58" name="TextBox 26">
              <a:extLst>
                <a:ext uri="{FF2B5EF4-FFF2-40B4-BE49-F238E27FC236}">
                  <a16:creationId xmlns:a16="http://schemas.microsoft.com/office/drawing/2014/main" id="{72BA0D1C-1AFC-4C6A-8A91-DB769D21059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sp>
        <p:nvSpPr>
          <p:cNvPr id="62" name="TextBox 61">
            <a:extLst>
              <a:ext uri="{FF2B5EF4-FFF2-40B4-BE49-F238E27FC236}">
                <a16:creationId xmlns:a16="http://schemas.microsoft.com/office/drawing/2014/main" id="{14C25522-3C55-4C69-94A4-1B120CD03C89}"/>
              </a:ext>
            </a:extLst>
          </p:cNvPr>
          <p:cNvSpPr txBox="1"/>
          <p:nvPr/>
        </p:nvSpPr>
        <p:spPr>
          <a:xfrm>
            <a:off x="8381815" y="6888678"/>
            <a:ext cx="1701373" cy="646331"/>
          </a:xfrm>
          <a:prstGeom prst="rect">
            <a:avLst/>
          </a:prstGeom>
          <a:noFill/>
        </p:spPr>
        <p:txBody>
          <a:bodyPr wrap="square">
            <a:spAutoFit/>
          </a:bodyPr>
          <a:lstStyle/>
          <a:p>
            <a:r>
              <a:rPr lang="en-US" sz="3600" b="1" dirty="0">
                <a:solidFill>
                  <a:schemeClr val="bg1"/>
                </a:solidFill>
              </a:rPr>
              <a:t>Flutter</a:t>
            </a:r>
            <a:endParaRPr lang="en-US" sz="3200" dirty="0"/>
          </a:p>
        </p:txBody>
      </p:sp>
      <p:sp>
        <p:nvSpPr>
          <p:cNvPr id="63" name="TextBox 62">
            <a:extLst>
              <a:ext uri="{FF2B5EF4-FFF2-40B4-BE49-F238E27FC236}">
                <a16:creationId xmlns:a16="http://schemas.microsoft.com/office/drawing/2014/main" id="{C372D463-4DD2-48AA-9C67-A0A86C8FF2F0}"/>
              </a:ext>
            </a:extLst>
          </p:cNvPr>
          <p:cNvSpPr txBox="1"/>
          <p:nvPr/>
        </p:nvSpPr>
        <p:spPr>
          <a:xfrm>
            <a:off x="4847212" y="6902197"/>
            <a:ext cx="1993739" cy="646331"/>
          </a:xfrm>
          <a:prstGeom prst="rect">
            <a:avLst/>
          </a:prstGeom>
          <a:noFill/>
        </p:spPr>
        <p:txBody>
          <a:bodyPr wrap="square">
            <a:spAutoFit/>
          </a:bodyPr>
          <a:lstStyle/>
          <a:p>
            <a:r>
              <a:rPr lang="en-US" sz="3600" b="1" dirty="0">
                <a:solidFill>
                  <a:schemeClr val="bg1"/>
                </a:solidFill>
              </a:rPr>
              <a:t>StarUML</a:t>
            </a:r>
            <a:endParaRPr lang="en-US" sz="3200" dirty="0"/>
          </a:p>
        </p:txBody>
      </p:sp>
      <p:sp>
        <p:nvSpPr>
          <p:cNvPr id="64" name="AutoShape 6">
            <a:extLst>
              <a:ext uri="{FF2B5EF4-FFF2-40B4-BE49-F238E27FC236}">
                <a16:creationId xmlns:a16="http://schemas.microsoft.com/office/drawing/2014/main" id="{E5549F6C-4F50-4308-A6B6-B1D0E143EEF3}"/>
              </a:ext>
            </a:extLst>
          </p:cNvPr>
          <p:cNvSpPr/>
          <p:nvPr/>
        </p:nvSpPr>
        <p:spPr>
          <a:xfrm flipH="1">
            <a:off x="10591800" y="2282493"/>
            <a:ext cx="0" cy="6366207"/>
          </a:xfrm>
          <a:prstGeom prst="line">
            <a:avLst/>
          </a:prstGeom>
          <a:ln w="47625" cap="flat">
            <a:solidFill>
              <a:srgbClr val="000000">
                <a:alpha val="29804"/>
              </a:srgbClr>
            </a:solidFill>
            <a:prstDash val="solid"/>
            <a:headEnd type="none" w="sm" len="sm"/>
            <a:tailEnd type="none" w="sm" len="sm"/>
          </a:ln>
        </p:spPr>
      </p:sp>
      <p:grpSp>
        <p:nvGrpSpPr>
          <p:cNvPr id="65" name="Group 9">
            <a:extLst>
              <a:ext uri="{FF2B5EF4-FFF2-40B4-BE49-F238E27FC236}">
                <a16:creationId xmlns:a16="http://schemas.microsoft.com/office/drawing/2014/main" id="{ECB49E98-3A1C-440B-8928-D007C2167527}"/>
              </a:ext>
            </a:extLst>
          </p:cNvPr>
          <p:cNvGrpSpPr/>
          <p:nvPr/>
        </p:nvGrpSpPr>
        <p:grpSpPr>
          <a:xfrm>
            <a:off x="10953721" y="2564782"/>
            <a:ext cx="3027089" cy="1294422"/>
            <a:chOff x="3186304" y="104871"/>
            <a:chExt cx="2844270" cy="473520"/>
          </a:xfrm>
        </p:grpSpPr>
        <p:sp>
          <p:nvSpPr>
            <p:cNvPr id="66" name="Freeform 10">
              <a:extLst>
                <a:ext uri="{FF2B5EF4-FFF2-40B4-BE49-F238E27FC236}">
                  <a16:creationId xmlns:a16="http://schemas.microsoft.com/office/drawing/2014/main" id="{FB6A3D39-4871-41DB-9EFA-2B6B6A0D89C5}"/>
                </a:ext>
              </a:extLst>
            </p:cNvPr>
            <p:cNvSpPr/>
            <p:nvPr/>
          </p:nvSpPr>
          <p:spPr>
            <a:xfrm>
              <a:off x="3261453" y="104871"/>
              <a:ext cx="2596107"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7ED957"/>
            </a:solidFill>
          </p:spPr>
          <p:txBody>
            <a:bodyPr/>
            <a:lstStyle/>
            <a:p>
              <a:endParaRPr lang="en-US" sz="2400" dirty="0"/>
            </a:p>
          </p:txBody>
        </p:sp>
        <p:sp>
          <p:nvSpPr>
            <p:cNvPr id="67" name="TextBox 11">
              <a:extLst>
                <a:ext uri="{FF2B5EF4-FFF2-40B4-BE49-F238E27FC236}">
                  <a16:creationId xmlns:a16="http://schemas.microsoft.com/office/drawing/2014/main" id="{36ACE06D-B4C1-4490-B837-FB5686BA63CD}"/>
                </a:ext>
              </a:extLst>
            </p:cNvPr>
            <p:cNvSpPr txBox="1"/>
            <p:nvPr/>
          </p:nvSpPr>
          <p:spPr>
            <a:xfrm>
              <a:off x="3186304" y="104871"/>
              <a:ext cx="2844270"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Backend</a:t>
              </a:r>
            </a:p>
          </p:txBody>
        </p:sp>
      </p:grpSp>
      <p:grpSp>
        <p:nvGrpSpPr>
          <p:cNvPr id="68" name="Group 24">
            <a:extLst>
              <a:ext uri="{FF2B5EF4-FFF2-40B4-BE49-F238E27FC236}">
                <a16:creationId xmlns:a16="http://schemas.microsoft.com/office/drawing/2014/main" id="{BB7F9A17-9F82-44ED-BF88-8BBACD79FDB3}"/>
              </a:ext>
            </a:extLst>
          </p:cNvPr>
          <p:cNvGrpSpPr/>
          <p:nvPr/>
        </p:nvGrpSpPr>
        <p:grpSpPr>
          <a:xfrm>
            <a:off x="10865578" y="6541311"/>
            <a:ext cx="2931097" cy="1179003"/>
            <a:chOff x="0" y="0"/>
            <a:chExt cx="812800" cy="812800"/>
          </a:xfrm>
        </p:grpSpPr>
        <p:sp>
          <p:nvSpPr>
            <p:cNvPr id="69" name="Freeform 25">
              <a:extLst>
                <a:ext uri="{FF2B5EF4-FFF2-40B4-BE49-F238E27FC236}">
                  <a16:creationId xmlns:a16="http://schemas.microsoft.com/office/drawing/2014/main" id="{695FC946-B280-4889-839F-E19C1DAA7E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70" name="TextBox 26">
              <a:extLst>
                <a:ext uri="{FF2B5EF4-FFF2-40B4-BE49-F238E27FC236}">
                  <a16:creationId xmlns:a16="http://schemas.microsoft.com/office/drawing/2014/main" id="{E0BE54A3-22A0-45EA-977E-03A7B8C23A3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grpSp>
        <p:nvGrpSpPr>
          <p:cNvPr id="71" name="Group 24">
            <a:extLst>
              <a:ext uri="{FF2B5EF4-FFF2-40B4-BE49-F238E27FC236}">
                <a16:creationId xmlns:a16="http://schemas.microsoft.com/office/drawing/2014/main" id="{CE221003-5D31-4218-98D8-D77AD27AF9A7}"/>
              </a:ext>
            </a:extLst>
          </p:cNvPr>
          <p:cNvGrpSpPr/>
          <p:nvPr/>
        </p:nvGrpSpPr>
        <p:grpSpPr>
          <a:xfrm>
            <a:off x="14363164" y="6586034"/>
            <a:ext cx="2662530" cy="1251620"/>
            <a:chOff x="0" y="0"/>
            <a:chExt cx="812800" cy="812800"/>
          </a:xfrm>
        </p:grpSpPr>
        <p:sp>
          <p:nvSpPr>
            <p:cNvPr id="72" name="Freeform 25">
              <a:extLst>
                <a:ext uri="{FF2B5EF4-FFF2-40B4-BE49-F238E27FC236}">
                  <a16:creationId xmlns:a16="http://schemas.microsoft.com/office/drawing/2014/main" id="{6F920831-DF33-4EC6-8661-E9256C5752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73" name="TextBox 26">
              <a:extLst>
                <a:ext uri="{FF2B5EF4-FFF2-40B4-BE49-F238E27FC236}">
                  <a16:creationId xmlns:a16="http://schemas.microsoft.com/office/drawing/2014/main" id="{4CA93185-4B58-4417-B496-51AE3A98084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sz="2400" dirty="0"/>
            </a:p>
          </p:txBody>
        </p:sp>
      </p:grpSp>
      <p:sp>
        <p:nvSpPr>
          <p:cNvPr id="74" name="TextBox 73">
            <a:extLst>
              <a:ext uri="{FF2B5EF4-FFF2-40B4-BE49-F238E27FC236}">
                <a16:creationId xmlns:a16="http://schemas.microsoft.com/office/drawing/2014/main" id="{5792FF54-CBAA-48BA-BE3F-12B6019A9BA8}"/>
              </a:ext>
            </a:extLst>
          </p:cNvPr>
          <p:cNvSpPr txBox="1"/>
          <p:nvPr/>
        </p:nvSpPr>
        <p:spPr>
          <a:xfrm>
            <a:off x="11956355" y="6802912"/>
            <a:ext cx="1701373" cy="646331"/>
          </a:xfrm>
          <a:prstGeom prst="rect">
            <a:avLst/>
          </a:prstGeom>
          <a:noFill/>
        </p:spPr>
        <p:txBody>
          <a:bodyPr wrap="square">
            <a:spAutoFit/>
          </a:bodyPr>
          <a:lstStyle/>
          <a:p>
            <a:r>
              <a:rPr lang="en-US" sz="3600" b="1" dirty="0">
                <a:solidFill>
                  <a:schemeClr val="bg1"/>
                </a:solidFill>
              </a:rPr>
              <a:t>PHP</a:t>
            </a:r>
            <a:endParaRPr lang="en-US" sz="3200" dirty="0"/>
          </a:p>
        </p:txBody>
      </p:sp>
      <p:sp>
        <p:nvSpPr>
          <p:cNvPr id="75" name="AutoShape 6">
            <a:extLst>
              <a:ext uri="{FF2B5EF4-FFF2-40B4-BE49-F238E27FC236}">
                <a16:creationId xmlns:a16="http://schemas.microsoft.com/office/drawing/2014/main" id="{5A0A9FC6-95A2-402F-9D39-DD2EC1F92527}"/>
              </a:ext>
            </a:extLst>
          </p:cNvPr>
          <p:cNvSpPr/>
          <p:nvPr/>
        </p:nvSpPr>
        <p:spPr>
          <a:xfrm flipH="1">
            <a:off x="14020800" y="2282493"/>
            <a:ext cx="0" cy="6366207"/>
          </a:xfrm>
          <a:prstGeom prst="line">
            <a:avLst/>
          </a:prstGeom>
          <a:ln w="47625" cap="flat">
            <a:solidFill>
              <a:srgbClr val="000000">
                <a:alpha val="29804"/>
              </a:srgbClr>
            </a:solidFill>
            <a:prstDash val="solid"/>
            <a:headEnd type="none" w="sm" len="sm"/>
            <a:tailEnd type="none" w="sm" len="sm"/>
          </a:ln>
        </p:spPr>
      </p:sp>
      <p:grpSp>
        <p:nvGrpSpPr>
          <p:cNvPr id="76" name="Group 9">
            <a:extLst>
              <a:ext uri="{FF2B5EF4-FFF2-40B4-BE49-F238E27FC236}">
                <a16:creationId xmlns:a16="http://schemas.microsoft.com/office/drawing/2014/main" id="{6B5BF4EF-2ACF-4A22-A772-EBA8BB436EE8}"/>
              </a:ext>
            </a:extLst>
          </p:cNvPr>
          <p:cNvGrpSpPr/>
          <p:nvPr/>
        </p:nvGrpSpPr>
        <p:grpSpPr>
          <a:xfrm>
            <a:off x="14186082" y="2564781"/>
            <a:ext cx="3027089" cy="1294422"/>
            <a:chOff x="3186304" y="104871"/>
            <a:chExt cx="2844270" cy="473520"/>
          </a:xfrm>
        </p:grpSpPr>
        <p:sp>
          <p:nvSpPr>
            <p:cNvPr id="77" name="Freeform 10">
              <a:extLst>
                <a:ext uri="{FF2B5EF4-FFF2-40B4-BE49-F238E27FC236}">
                  <a16:creationId xmlns:a16="http://schemas.microsoft.com/office/drawing/2014/main" id="{22156725-75B2-40F6-8C58-773B68427AE9}"/>
                </a:ext>
              </a:extLst>
            </p:cNvPr>
            <p:cNvSpPr/>
            <p:nvPr/>
          </p:nvSpPr>
          <p:spPr>
            <a:xfrm>
              <a:off x="3261453" y="104871"/>
              <a:ext cx="2596107" cy="425895"/>
            </a:xfrm>
            <a:custGeom>
              <a:avLst/>
              <a:gdLst/>
              <a:ahLst/>
              <a:cxnLst/>
              <a:rect l="l" t="t" r="r" b="b"/>
              <a:pathLst>
                <a:path w="2746403" h="425895">
                  <a:moveTo>
                    <a:pt x="2543203" y="0"/>
                  </a:moveTo>
                  <a:cubicBezTo>
                    <a:pt x="2655427" y="0"/>
                    <a:pt x="2746403" y="95340"/>
                    <a:pt x="2746403" y="212948"/>
                  </a:cubicBezTo>
                  <a:cubicBezTo>
                    <a:pt x="2746403" y="330556"/>
                    <a:pt x="2655427" y="425895"/>
                    <a:pt x="2543203" y="425895"/>
                  </a:cubicBezTo>
                  <a:lnTo>
                    <a:pt x="203200" y="425895"/>
                  </a:lnTo>
                  <a:cubicBezTo>
                    <a:pt x="90976" y="425895"/>
                    <a:pt x="0" y="330556"/>
                    <a:pt x="0" y="212948"/>
                  </a:cubicBezTo>
                  <a:cubicBezTo>
                    <a:pt x="0" y="95340"/>
                    <a:pt x="90976" y="0"/>
                    <a:pt x="203200" y="0"/>
                  </a:cubicBezTo>
                  <a:close/>
                </a:path>
              </a:pathLst>
            </a:custGeom>
            <a:solidFill>
              <a:srgbClr val="7ED957"/>
            </a:solidFill>
          </p:spPr>
          <p:txBody>
            <a:bodyPr/>
            <a:lstStyle/>
            <a:p>
              <a:endParaRPr lang="en-US" sz="2400" dirty="0"/>
            </a:p>
          </p:txBody>
        </p:sp>
        <p:sp>
          <p:nvSpPr>
            <p:cNvPr id="78" name="TextBox 11">
              <a:extLst>
                <a:ext uri="{FF2B5EF4-FFF2-40B4-BE49-F238E27FC236}">
                  <a16:creationId xmlns:a16="http://schemas.microsoft.com/office/drawing/2014/main" id="{74FA6C8C-803D-4988-80F0-4739D8E4FF45}"/>
                </a:ext>
              </a:extLst>
            </p:cNvPr>
            <p:cNvSpPr txBox="1"/>
            <p:nvPr/>
          </p:nvSpPr>
          <p:spPr>
            <a:xfrm>
              <a:off x="3186304" y="104871"/>
              <a:ext cx="2844270" cy="473520"/>
            </a:xfrm>
            <a:prstGeom prst="rect">
              <a:avLst/>
            </a:prstGeom>
          </p:spPr>
          <p:txBody>
            <a:bodyPr lIns="50800" tIns="50800" rIns="50800" bIns="50800" rtlCol="0" anchor="ctr"/>
            <a:lstStyle/>
            <a:p>
              <a:pPr algn="ctr">
                <a:lnSpc>
                  <a:spcPts val="3499"/>
                </a:lnSpc>
              </a:pPr>
              <a:r>
                <a:rPr lang="en-US" sz="3200" b="1" dirty="0">
                  <a:solidFill>
                    <a:srgbClr val="FFFFFF"/>
                  </a:solidFill>
                  <a:latin typeface="Garet Bold"/>
                  <a:ea typeface="Garet Bold"/>
                  <a:cs typeface="Garet Bold"/>
                  <a:sym typeface="Garet Bold"/>
                </a:rPr>
                <a:t>Database</a:t>
              </a:r>
            </a:p>
          </p:txBody>
        </p:sp>
      </p:grpSp>
      <p:sp>
        <p:nvSpPr>
          <p:cNvPr id="79" name="Arrow: Down 78">
            <a:extLst>
              <a:ext uri="{FF2B5EF4-FFF2-40B4-BE49-F238E27FC236}">
                <a16:creationId xmlns:a16="http://schemas.microsoft.com/office/drawing/2014/main" id="{332E6F71-F696-4D2F-BF52-7A90C4955E47}"/>
              </a:ext>
            </a:extLst>
          </p:cNvPr>
          <p:cNvSpPr/>
          <p:nvPr/>
        </p:nvSpPr>
        <p:spPr>
          <a:xfrm>
            <a:off x="15418952" y="3762041"/>
            <a:ext cx="457192" cy="2779271"/>
          </a:xfrm>
          <a:prstGeom prst="downArrow">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80" name="TextBox 79">
            <a:extLst>
              <a:ext uri="{FF2B5EF4-FFF2-40B4-BE49-F238E27FC236}">
                <a16:creationId xmlns:a16="http://schemas.microsoft.com/office/drawing/2014/main" id="{B1AC6EC4-8275-4555-9951-41A2B7EA7A97}"/>
              </a:ext>
            </a:extLst>
          </p:cNvPr>
          <p:cNvSpPr txBox="1"/>
          <p:nvPr/>
        </p:nvSpPr>
        <p:spPr>
          <a:xfrm>
            <a:off x="14773199" y="6849289"/>
            <a:ext cx="2000305" cy="646331"/>
          </a:xfrm>
          <a:prstGeom prst="rect">
            <a:avLst/>
          </a:prstGeom>
          <a:noFill/>
        </p:spPr>
        <p:txBody>
          <a:bodyPr wrap="square">
            <a:spAutoFit/>
          </a:bodyPr>
          <a:lstStyle/>
          <a:p>
            <a:r>
              <a:rPr lang="en-US" sz="3600" b="1" dirty="0">
                <a:solidFill>
                  <a:schemeClr val="bg1"/>
                </a:solidFill>
              </a:rPr>
              <a:t>Firebase</a:t>
            </a:r>
            <a:endParaRPr lang="en-US" sz="3200" dirty="0"/>
          </a:p>
        </p:txBody>
      </p:sp>
      <p:sp>
        <p:nvSpPr>
          <p:cNvPr id="59" name="TextBox 58">
            <a:extLst>
              <a:ext uri="{FF2B5EF4-FFF2-40B4-BE49-F238E27FC236}">
                <a16:creationId xmlns:a16="http://schemas.microsoft.com/office/drawing/2014/main" id="{C97F32A1-920B-44C4-B42D-751406C56999}"/>
              </a:ext>
            </a:extLst>
          </p:cNvPr>
          <p:cNvSpPr txBox="1"/>
          <p:nvPr/>
        </p:nvSpPr>
        <p:spPr>
          <a:xfrm>
            <a:off x="175370" y="9333513"/>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ea typeface="Garet Bold"/>
                <a:cs typeface="Garet Bold"/>
                <a:sym typeface="Garet Bold"/>
              </a:rPr>
              <a:t>08</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46BB6C26-8777-4863-843F-D0F44EBCDE66}"/>
              </a:ext>
            </a:extLst>
          </p:cNvPr>
          <p:cNvGrpSpPr/>
          <p:nvPr/>
        </p:nvGrpSpPr>
        <p:grpSpPr>
          <a:xfrm>
            <a:off x="0" y="1"/>
            <a:ext cx="18288000" cy="1493848"/>
            <a:chOff x="0" y="0"/>
            <a:chExt cx="4816593" cy="586648"/>
          </a:xfrm>
        </p:grpSpPr>
        <p:sp>
          <p:nvSpPr>
            <p:cNvPr id="3" name="Freeform 4">
              <a:extLst>
                <a:ext uri="{FF2B5EF4-FFF2-40B4-BE49-F238E27FC236}">
                  <a16:creationId xmlns:a16="http://schemas.microsoft.com/office/drawing/2014/main" id="{6D65BFBF-A591-45FB-BF31-5FA8DF7ABF14}"/>
                </a:ext>
              </a:extLst>
            </p:cNvPr>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7ED957"/>
            </a:solidFill>
          </p:spPr>
        </p:sp>
        <p:sp>
          <p:nvSpPr>
            <p:cNvPr id="4" name="TextBox 5">
              <a:extLst>
                <a:ext uri="{FF2B5EF4-FFF2-40B4-BE49-F238E27FC236}">
                  <a16:creationId xmlns:a16="http://schemas.microsoft.com/office/drawing/2014/main" id="{66BC2A79-9C47-4AEA-8391-FDBCD5166AEF}"/>
                </a:ext>
              </a:extLst>
            </p:cNvPr>
            <p:cNvSpPr txBox="1"/>
            <p:nvPr/>
          </p:nvSpPr>
          <p:spPr>
            <a:xfrm>
              <a:off x="0" y="-38100"/>
              <a:ext cx="4816593" cy="624748"/>
            </a:xfrm>
            <a:prstGeom prst="rect">
              <a:avLst/>
            </a:prstGeom>
          </p:spPr>
          <p:txBody>
            <a:bodyPr lIns="50800" tIns="50800" rIns="50800" bIns="50800" rtlCol="0" anchor="ctr"/>
            <a:lstStyle/>
            <a:p>
              <a:pPr algn="ctr">
                <a:lnSpc>
                  <a:spcPts val="2659"/>
                </a:lnSpc>
              </a:pPr>
              <a:endParaRPr dirty="0"/>
            </a:p>
          </p:txBody>
        </p:sp>
      </p:grpSp>
      <p:sp>
        <p:nvSpPr>
          <p:cNvPr id="6" name="TextBox 5">
            <a:extLst>
              <a:ext uri="{FF2B5EF4-FFF2-40B4-BE49-F238E27FC236}">
                <a16:creationId xmlns:a16="http://schemas.microsoft.com/office/drawing/2014/main" id="{A7562BB0-1F6E-4FF4-B332-65F88E8E5934}"/>
              </a:ext>
            </a:extLst>
          </p:cNvPr>
          <p:cNvSpPr txBox="1"/>
          <p:nvPr/>
        </p:nvSpPr>
        <p:spPr>
          <a:xfrm>
            <a:off x="685798" y="212827"/>
            <a:ext cx="11734800" cy="996427"/>
          </a:xfrm>
          <a:prstGeom prst="rect">
            <a:avLst/>
          </a:prstGeom>
          <a:noFill/>
        </p:spPr>
        <p:txBody>
          <a:bodyPr wrap="square">
            <a:spAutoFit/>
          </a:bodyPr>
          <a:lstStyle/>
          <a:p>
            <a:pPr algn="l">
              <a:lnSpc>
                <a:spcPts val="6999"/>
              </a:lnSpc>
            </a:pPr>
            <a:r>
              <a:rPr lang="en-US" sz="5000" b="1" spc="99" dirty="0">
                <a:solidFill>
                  <a:srgbClr val="FFFFFF"/>
                </a:solidFill>
                <a:latin typeface="Garet Bold"/>
                <a:ea typeface="Garet Bold"/>
                <a:cs typeface="Garet Bold"/>
                <a:sym typeface="Garet Bold"/>
              </a:rPr>
              <a:t>SOFTWARE</a:t>
            </a:r>
            <a:r>
              <a:rPr lang="en-US" sz="6000" b="1" spc="99" dirty="0">
                <a:solidFill>
                  <a:srgbClr val="FFFFFF"/>
                </a:solidFill>
                <a:latin typeface="Garet Bold"/>
                <a:ea typeface="Garet Bold"/>
                <a:cs typeface="Garet Bold"/>
                <a:sym typeface="Garet Bold"/>
              </a:rPr>
              <a:t> ARCHITECTURE</a:t>
            </a:r>
          </a:p>
        </p:txBody>
      </p:sp>
      <p:sp>
        <p:nvSpPr>
          <p:cNvPr id="7" name="Rectangle 6">
            <a:extLst>
              <a:ext uri="{FF2B5EF4-FFF2-40B4-BE49-F238E27FC236}">
                <a16:creationId xmlns:a16="http://schemas.microsoft.com/office/drawing/2014/main" id="{497D21EA-620E-4DBF-B987-551260734BBE}"/>
              </a:ext>
            </a:extLst>
          </p:cNvPr>
          <p:cNvSpPr/>
          <p:nvPr/>
        </p:nvSpPr>
        <p:spPr>
          <a:xfrm>
            <a:off x="5232651" y="2320758"/>
            <a:ext cx="5257800" cy="1752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B6E49252-1F7C-4A86-9CD2-5977176F19A2}"/>
              </a:ext>
            </a:extLst>
          </p:cNvPr>
          <p:cNvSpPr txBox="1"/>
          <p:nvPr/>
        </p:nvSpPr>
        <p:spPr>
          <a:xfrm>
            <a:off x="2729818" y="2967876"/>
            <a:ext cx="2667002" cy="369332"/>
          </a:xfrm>
          <a:prstGeom prst="rect">
            <a:avLst/>
          </a:prstGeom>
          <a:noFill/>
        </p:spPr>
        <p:txBody>
          <a:bodyPr wrap="square">
            <a:spAutoFit/>
          </a:bodyPr>
          <a:lstStyle/>
          <a:p>
            <a:r>
              <a:rPr lang="en-US" b="1" spc="99" dirty="0">
                <a:latin typeface="Garet Bold"/>
                <a:sym typeface="Garet Bold"/>
              </a:rPr>
              <a:t>Presentation tier</a:t>
            </a:r>
            <a:endParaRPr lang="en-US" dirty="0"/>
          </a:p>
        </p:txBody>
      </p:sp>
      <p:sp>
        <p:nvSpPr>
          <p:cNvPr id="10" name="Rectangle 9">
            <a:extLst>
              <a:ext uri="{FF2B5EF4-FFF2-40B4-BE49-F238E27FC236}">
                <a16:creationId xmlns:a16="http://schemas.microsoft.com/office/drawing/2014/main" id="{99C49F60-AD09-4FFE-B7D8-75AE00B98C62}"/>
              </a:ext>
            </a:extLst>
          </p:cNvPr>
          <p:cNvSpPr/>
          <p:nvPr/>
        </p:nvSpPr>
        <p:spPr>
          <a:xfrm>
            <a:off x="5232651" y="1885947"/>
            <a:ext cx="5257800" cy="417242"/>
          </a:xfrm>
          <a:prstGeom prst="rect">
            <a:avLst/>
          </a:prstGeom>
          <a:solidFill>
            <a:srgbClr val="6CD4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spc="99" dirty="0">
                <a:latin typeface="Garet Bold"/>
                <a:sym typeface="Garet Bold"/>
              </a:rPr>
              <a:t>User interface</a:t>
            </a:r>
            <a:endParaRPr lang="en-US" sz="2400" dirty="0"/>
          </a:p>
        </p:txBody>
      </p:sp>
      <p:pic>
        <p:nvPicPr>
          <p:cNvPr id="12" name="Picture 11">
            <a:extLst>
              <a:ext uri="{FF2B5EF4-FFF2-40B4-BE49-F238E27FC236}">
                <a16:creationId xmlns:a16="http://schemas.microsoft.com/office/drawing/2014/main" id="{98484796-6456-4083-A6E1-87634B2AF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7570" y="2455646"/>
            <a:ext cx="2667002" cy="1512795"/>
          </a:xfrm>
          <a:prstGeom prst="rect">
            <a:avLst/>
          </a:prstGeom>
        </p:spPr>
      </p:pic>
      <p:sp>
        <p:nvSpPr>
          <p:cNvPr id="13" name="Arrow: Left 12">
            <a:extLst>
              <a:ext uri="{FF2B5EF4-FFF2-40B4-BE49-F238E27FC236}">
                <a16:creationId xmlns:a16="http://schemas.microsoft.com/office/drawing/2014/main" id="{FB5156E5-BCFF-436B-98C2-A41EF710FA15}"/>
              </a:ext>
            </a:extLst>
          </p:cNvPr>
          <p:cNvSpPr/>
          <p:nvPr/>
        </p:nvSpPr>
        <p:spPr>
          <a:xfrm rot="16200000">
            <a:off x="5434767" y="4284184"/>
            <a:ext cx="919046" cy="4701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1418FCA-B081-44DA-9CEA-CA97BF79E48C}"/>
              </a:ext>
            </a:extLst>
          </p:cNvPr>
          <p:cNvSpPr txBox="1"/>
          <p:nvPr/>
        </p:nvSpPr>
        <p:spPr>
          <a:xfrm>
            <a:off x="5335742" y="4308932"/>
            <a:ext cx="1587249" cy="369332"/>
          </a:xfrm>
          <a:prstGeom prst="rect">
            <a:avLst/>
          </a:prstGeom>
          <a:noFill/>
        </p:spPr>
        <p:txBody>
          <a:bodyPr wrap="square">
            <a:spAutoFit/>
          </a:bodyPr>
          <a:lstStyle/>
          <a:p>
            <a:r>
              <a:rPr lang="en-US" b="1" spc="99" dirty="0">
                <a:latin typeface="Garet Bold"/>
                <a:sym typeface="Garet Bold"/>
              </a:rPr>
              <a:t>Request</a:t>
            </a:r>
            <a:endParaRPr lang="en-US" dirty="0"/>
          </a:p>
        </p:txBody>
      </p:sp>
      <p:sp>
        <p:nvSpPr>
          <p:cNvPr id="16" name="Rectangle 15">
            <a:extLst>
              <a:ext uri="{FF2B5EF4-FFF2-40B4-BE49-F238E27FC236}">
                <a16:creationId xmlns:a16="http://schemas.microsoft.com/office/drawing/2014/main" id="{3089CB03-BF17-46A2-AA70-68C601E72056}"/>
              </a:ext>
            </a:extLst>
          </p:cNvPr>
          <p:cNvSpPr/>
          <p:nvPr/>
        </p:nvSpPr>
        <p:spPr>
          <a:xfrm>
            <a:off x="5232651" y="5396215"/>
            <a:ext cx="5257800" cy="1752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DED6D582-312E-4628-861A-3D143055EBD1}"/>
              </a:ext>
            </a:extLst>
          </p:cNvPr>
          <p:cNvSpPr txBox="1"/>
          <p:nvPr/>
        </p:nvSpPr>
        <p:spPr>
          <a:xfrm>
            <a:off x="2996605" y="5979414"/>
            <a:ext cx="2603872" cy="369332"/>
          </a:xfrm>
          <a:prstGeom prst="rect">
            <a:avLst/>
          </a:prstGeom>
          <a:noFill/>
        </p:spPr>
        <p:txBody>
          <a:bodyPr wrap="square">
            <a:spAutoFit/>
          </a:bodyPr>
          <a:lstStyle/>
          <a:p>
            <a:r>
              <a:rPr lang="en-US" b="1" spc="99" dirty="0">
                <a:latin typeface="Garet Bold"/>
                <a:sym typeface="Garet Bold"/>
              </a:rPr>
              <a:t>Application tier</a:t>
            </a:r>
            <a:endParaRPr lang="en-US" dirty="0"/>
          </a:p>
        </p:txBody>
      </p:sp>
      <p:sp>
        <p:nvSpPr>
          <p:cNvPr id="18" name="Rectangle 17">
            <a:extLst>
              <a:ext uri="{FF2B5EF4-FFF2-40B4-BE49-F238E27FC236}">
                <a16:creationId xmlns:a16="http://schemas.microsoft.com/office/drawing/2014/main" id="{4594FAE1-4C64-4458-9F0D-A89CF6F0DED4}"/>
              </a:ext>
            </a:extLst>
          </p:cNvPr>
          <p:cNvSpPr/>
          <p:nvPr/>
        </p:nvSpPr>
        <p:spPr>
          <a:xfrm>
            <a:off x="5232651" y="5002431"/>
            <a:ext cx="5257800" cy="417242"/>
          </a:xfrm>
          <a:prstGeom prst="rect">
            <a:avLst/>
          </a:prstGeom>
          <a:solidFill>
            <a:srgbClr val="6CD4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spc="99" dirty="0">
                <a:latin typeface="Garet Bold"/>
                <a:sym typeface="Garet Bold"/>
              </a:rPr>
              <a:t>Backend</a:t>
            </a:r>
            <a:endParaRPr lang="en-US" sz="2400" dirty="0"/>
          </a:p>
        </p:txBody>
      </p:sp>
      <p:pic>
        <p:nvPicPr>
          <p:cNvPr id="20" name="Picture 19">
            <a:extLst>
              <a:ext uri="{FF2B5EF4-FFF2-40B4-BE49-F238E27FC236}">
                <a16:creationId xmlns:a16="http://schemas.microsoft.com/office/drawing/2014/main" id="{23C53EAA-5F53-4B0D-B35F-2E450FC74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4678" y="5508824"/>
            <a:ext cx="2388144" cy="1606707"/>
          </a:xfrm>
          <a:prstGeom prst="rect">
            <a:avLst/>
          </a:prstGeom>
        </p:spPr>
      </p:pic>
      <p:pic>
        <p:nvPicPr>
          <p:cNvPr id="22" name="Picture 21">
            <a:extLst>
              <a:ext uri="{FF2B5EF4-FFF2-40B4-BE49-F238E27FC236}">
                <a16:creationId xmlns:a16="http://schemas.microsoft.com/office/drawing/2014/main" id="{7E4898FF-B952-4DE5-A8D4-EEB2D961C4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7534" y="5585219"/>
            <a:ext cx="1690340" cy="1374593"/>
          </a:xfrm>
          <a:prstGeom prst="rect">
            <a:avLst/>
          </a:prstGeom>
        </p:spPr>
      </p:pic>
      <p:pic>
        <p:nvPicPr>
          <p:cNvPr id="24" name="Picture 23">
            <a:extLst>
              <a:ext uri="{FF2B5EF4-FFF2-40B4-BE49-F238E27FC236}">
                <a16:creationId xmlns:a16="http://schemas.microsoft.com/office/drawing/2014/main" id="{40F9A0F3-3CE7-4730-95D9-39C3D85C26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43998" y="5991514"/>
            <a:ext cx="1307598" cy="919047"/>
          </a:xfrm>
          <a:prstGeom prst="rect">
            <a:avLst/>
          </a:prstGeom>
        </p:spPr>
      </p:pic>
      <p:sp>
        <p:nvSpPr>
          <p:cNvPr id="25" name="Arrow: Left 24">
            <a:extLst>
              <a:ext uri="{FF2B5EF4-FFF2-40B4-BE49-F238E27FC236}">
                <a16:creationId xmlns:a16="http://schemas.microsoft.com/office/drawing/2014/main" id="{DC190C96-C17D-43A5-B7AC-20CEACDC894C}"/>
              </a:ext>
            </a:extLst>
          </p:cNvPr>
          <p:cNvSpPr/>
          <p:nvPr/>
        </p:nvSpPr>
        <p:spPr>
          <a:xfrm rot="16200000">
            <a:off x="5424475" y="7449656"/>
            <a:ext cx="919046" cy="4701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966F46D-7FDD-47F5-B7BC-27A9345C6BEC}"/>
              </a:ext>
            </a:extLst>
          </p:cNvPr>
          <p:cNvSpPr/>
          <p:nvPr/>
        </p:nvSpPr>
        <p:spPr>
          <a:xfrm>
            <a:off x="5198533" y="8142699"/>
            <a:ext cx="5257800" cy="417242"/>
          </a:xfrm>
          <a:prstGeom prst="rect">
            <a:avLst/>
          </a:prstGeom>
          <a:solidFill>
            <a:srgbClr val="6CD4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spc="99" dirty="0">
                <a:latin typeface="Garet Bold"/>
                <a:sym typeface="Garet Bold"/>
              </a:rPr>
              <a:t>Database</a:t>
            </a:r>
            <a:endParaRPr lang="en-US" sz="2400" dirty="0"/>
          </a:p>
        </p:txBody>
      </p:sp>
      <p:sp>
        <p:nvSpPr>
          <p:cNvPr id="27" name="Rectangle 26">
            <a:extLst>
              <a:ext uri="{FF2B5EF4-FFF2-40B4-BE49-F238E27FC236}">
                <a16:creationId xmlns:a16="http://schemas.microsoft.com/office/drawing/2014/main" id="{B87B9E27-171E-499B-BD91-A173CAEFA77C}"/>
              </a:ext>
            </a:extLst>
          </p:cNvPr>
          <p:cNvSpPr/>
          <p:nvPr/>
        </p:nvSpPr>
        <p:spPr>
          <a:xfrm>
            <a:off x="5193796" y="8533618"/>
            <a:ext cx="5257800" cy="154055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265AEE00-BD72-4A62-B7CC-FFFCD9A921C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57679" y="8601942"/>
            <a:ext cx="2057521" cy="1403460"/>
          </a:xfrm>
          <a:prstGeom prst="rect">
            <a:avLst/>
          </a:prstGeom>
        </p:spPr>
      </p:pic>
      <p:sp>
        <p:nvSpPr>
          <p:cNvPr id="30" name="Arrow: Left 29">
            <a:extLst>
              <a:ext uri="{FF2B5EF4-FFF2-40B4-BE49-F238E27FC236}">
                <a16:creationId xmlns:a16="http://schemas.microsoft.com/office/drawing/2014/main" id="{D03F2BA1-C75E-4E33-96D5-F88908D82898}"/>
              </a:ext>
            </a:extLst>
          </p:cNvPr>
          <p:cNvSpPr/>
          <p:nvPr/>
        </p:nvSpPr>
        <p:spPr>
          <a:xfrm rot="5400000">
            <a:off x="9032381" y="7448100"/>
            <a:ext cx="919046" cy="4701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5CCAF0F2-0155-4323-8D28-8EB17656E3C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75442" y="8704514"/>
            <a:ext cx="2383260" cy="1300888"/>
          </a:xfrm>
          <a:prstGeom prst="rect">
            <a:avLst/>
          </a:prstGeom>
        </p:spPr>
      </p:pic>
      <p:sp>
        <p:nvSpPr>
          <p:cNvPr id="33" name="Arrow: Left 32">
            <a:extLst>
              <a:ext uri="{FF2B5EF4-FFF2-40B4-BE49-F238E27FC236}">
                <a16:creationId xmlns:a16="http://schemas.microsoft.com/office/drawing/2014/main" id="{20DF0C76-E03A-4808-9158-A95B5A3F4A17}"/>
              </a:ext>
            </a:extLst>
          </p:cNvPr>
          <p:cNvSpPr/>
          <p:nvPr/>
        </p:nvSpPr>
        <p:spPr>
          <a:xfrm rot="5400000">
            <a:off x="9068050" y="4252985"/>
            <a:ext cx="919046" cy="4701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91FF4D2-77A4-4F64-A697-8718E3288CA1}"/>
              </a:ext>
            </a:extLst>
          </p:cNvPr>
          <p:cNvSpPr txBox="1"/>
          <p:nvPr/>
        </p:nvSpPr>
        <p:spPr>
          <a:xfrm>
            <a:off x="8864347" y="4347179"/>
            <a:ext cx="1587249" cy="369332"/>
          </a:xfrm>
          <a:prstGeom prst="rect">
            <a:avLst/>
          </a:prstGeom>
          <a:noFill/>
        </p:spPr>
        <p:txBody>
          <a:bodyPr wrap="square">
            <a:spAutoFit/>
          </a:bodyPr>
          <a:lstStyle/>
          <a:p>
            <a:r>
              <a:rPr lang="en-US" b="1" spc="99" dirty="0">
                <a:latin typeface="Garet Bold"/>
                <a:sym typeface="Garet Bold"/>
              </a:rPr>
              <a:t>Response</a:t>
            </a:r>
            <a:endParaRPr lang="en-US" dirty="0"/>
          </a:p>
        </p:txBody>
      </p:sp>
      <p:sp>
        <p:nvSpPr>
          <p:cNvPr id="35" name="TextBox 34">
            <a:extLst>
              <a:ext uri="{FF2B5EF4-FFF2-40B4-BE49-F238E27FC236}">
                <a16:creationId xmlns:a16="http://schemas.microsoft.com/office/drawing/2014/main" id="{C4613DF2-8A44-4430-91A5-F9ECA1C493FE}"/>
              </a:ext>
            </a:extLst>
          </p:cNvPr>
          <p:cNvSpPr txBox="1"/>
          <p:nvPr/>
        </p:nvSpPr>
        <p:spPr>
          <a:xfrm>
            <a:off x="3674181" y="8806286"/>
            <a:ext cx="1512509" cy="369332"/>
          </a:xfrm>
          <a:prstGeom prst="rect">
            <a:avLst/>
          </a:prstGeom>
          <a:noFill/>
        </p:spPr>
        <p:txBody>
          <a:bodyPr wrap="square">
            <a:spAutoFit/>
          </a:bodyPr>
          <a:lstStyle/>
          <a:p>
            <a:r>
              <a:rPr lang="en-US" b="1" spc="99" dirty="0">
                <a:latin typeface="Garet Bold"/>
                <a:sym typeface="Garet Bold"/>
              </a:rPr>
              <a:t>Data tier</a:t>
            </a:r>
            <a:endParaRPr lang="en-US" dirty="0"/>
          </a:p>
        </p:txBody>
      </p:sp>
      <p:sp>
        <p:nvSpPr>
          <p:cNvPr id="36" name="TextBox 35">
            <a:extLst>
              <a:ext uri="{FF2B5EF4-FFF2-40B4-BE49-F238E27FC236}">
                <a16:creationId xmlns:a16="http://schemas.microsoft.com/office/drawing/2014/main" id="{27AF72DC-E859-4434-A986-ADE8580B6786}"/>
              </a:ext>
            </a:extLst>
          </p:cNvPr>
          <p:cNvSpPr txBox="1"/>
          <p:nvPr/>
        </p:nvSpPr>
        <p:spPr>
          <a:xfrm>
            <a:off x="10568470" y="3075700"/>
            <a:ext cx="1396749" cy="369332"/>
          </a:xfrm>
          <a:prstGeom prst="rect">
            <a:avLst/>
          </a:prstGeom>
          <a:noFill/>
        </p:spPr>
        <p:txBody>
          <a:bodyPr wrap="square">
            <a:spAutoFit/>
          </a:bodyPr>
          <a:lstStyle/>
          <a:p>
            <a:r>
              <a:rPr lang="en-US" b="1" spc="99" dirty="0">
                <a:latin typeface="Garet Bold"/>
                <a:sym typeface="Garet Bold"/>
              </a:rPr>
              <a:t>Client</a:t>
            </a:r>
            <a:endParaRPr lang="en-US" dirty="0"/>
          </a:p>
        </p:txBody>
      </p:sp>
      <p:sp>
        <p:nvSpPr>
          <p:cNvPr id="37" name="TextBox 36">
            <a:extLst>
              <a:ext uri="{FF2B5EF4-FFF2-40B4-BE49-F238E27FC236}">
                <a16:creationId xmlns:a16="http://schemas.microsoft.com/office/drawing/2014/main" id="{21C8DCFC-4C67-4E8C-ACB6-5A0671EA04AE}"/>
              </a:ext>
            </a:extLst>
          </p:cNvPr>
          <p:cNvSpPr txBox="1"/>
          <p:nvPr/>
        </p:nvSpPr>
        <p:spPr>
          <a:xfrm>
            <a:off x="10590846" y="5991514"/>
            <a:ext cx="1396749" cy="369332"/>
          </a:xfrm>
          <a:prstGeom prst="rect">
            <a:avLst/>
          </a:prstGeom>
          <a:noFill/>
        </p:spPr>
        <p:txBody>
          <a:bodyPr wrap="square">
            <a:spAutoFit/>
          </a:bodyPr>
          <a:lstStyle/>
          <a:p>
            <a:r>
              <a:rPr lang="en-US" b="1" spc="99" dirty="0">
                <a:latin typeface="Garet Bold"/>
                <a:sym typeface="Garet Bold"/>
              </a:rPr>
              <a:t>Server</a:t>
            </a:r>
            <a:endParaRPr lang="en-US" dirty="0"/>
          </a:p>
        </p:txBody>
      </p:sp>
      <p:sp>
        <p:nvSpPr>
          <p:cNvPr id="31" name="TextBox 30">
            <a:extLst>
              <a:ext uri="{FF2B5EF4-FFF2-40B4-BE49-F238E27FC236}">
                <a16:creationId xmlns:a16="http://schemas.microsoft.com/office/drawing/2014/main" id="{BDDFF1C6-933F-448E-A5BB-3C0F3B22D279}"/>
              </a:ext>
            </a:extLst>
          </p:cNvPr>
          <p:cNvSpPr txBox="1"/>
          <p:nvPr/>
        </p:nvSpPr>
        <p:spPr>
          <a:xfrm>
            <a:off x="298293" y="9207236"/>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ea typeface="Garet Bold"/>
                <a:cs typeface="Garet Bold"/>
                <a:sym typeface="Garet Bold"/>
              </a:rPr>
              <a:t>09</a:t>
            </a:r>
            <a:endParaRPr lang="en-US" dirty="0"/>
          </a:p>
        </p:txBody>
      </p:sp>
    </p:spTree>
    <p:extLst>
      <p:ext uri="{BB962C8B-B14F-4D97-AF65-F5344CB8AC3E}">
        <p14:creationId xmlns:p14="http://schemas.microsoft.com/office/powerpoint/2010/main" val="33136013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0" y="0"/>
            <a:ext cx="18288000" cy="2227431"/>
            <a:chOff x="0" y="0"/>
            <a:chExt cx="4816593" cy="586648"/>
          </a:xfrm>
        </p:grpSpPr>
        <p:sp>
          <p:nvSpPr>
            <p:cNvPr id="4" name="Freeform 4"/>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7ED957"/>
            </a:solidFill>
          </p:spPr>
        </p:sp>
        <p:sp>
          <p:nvSpPr>
            <p:cNvPr id="5" name="TextBox 5"/>
            <p:cNvSpPr txBox="1"/>
            <p:nvPr/>
          </p:nvSpPr>
          <p:spPr>
            <a:xfrm>
              <a:off x="0" y="-38100"/>
              <a:ext cx="4816593" cy="624748"/>
            </a:xfrm>
            <a:prstGeom prst="rect">
              <a:avLst/>
            </a:prstGeom>
          </p:spPr>
          <p:txBody>
            <a:bodyPr lIns="50800" tIns="50800" rIns="50800" bIns="50800" rtlCol="0" anchor="ctr"/>
            <a:lstStyle/>
            <a:p>
              <a:pPr algn="ctr">
                <a:lnSpc>
                  <a:spcPts val="2659"/>
                </a:lnSpc>
              </a:pPr>
              <a:endParaRPr dirty="0"/>
            </a:p>
          </p:txBody>
        </p:sp>
      </p:grpSp>
      <p:sp>
        <p:nvSpPr>
          <p:cNvPr id="6" name="TextBox 6"/>
          <p:cNvSpPr txBox="1"/>
          <p:nvPr/>
        </p:nvSpPr>
        <p:spPr>
          <a:xfrm>
            <a:off x="457200" y="266688"/>
            <a:ext cx="10281547" cy="1694053"/>
          </a:xfrm>
          <a:prstGeom prst="rect">
            <a:avLst/>
          </a:prstGeom>
        </p:spPr>
        <p:txBody>
          <a:bodyPr wrap="square" lIns="0" tIns="0" rIns="0" bIns="0" rtlCol="0" anchor="t">
            <a:spAutoFit/>
          </a:bodyPr>
          <a:lstStyle/>
          <a:p>
            <a:pPr algn="l">
              <a:lnSpc>
                <a:spcPts val="6999"/>
              </a:lnSpc>
            </a:pPr>
            <a:r>
              <a:rPr lang="en-US" sz="4999" b="1" spc="99" dirty="0">
                <a:solidFill>
                  <a:srgbClr val="FFFFFF"/>
                </a:solidFill>
                <a:latin typeface="Garet Bold"/>
                <a:ea typeface="Garet Bold"/>
                <a:cs typeface="Garet Bold"/>
                <a:sym typeface="Garet Bold"/>
              </a:rPr>
              <a:t>SOFTWARE ARCHITECTURE</a:t>
            </a:r>
          </a:p>
          <a:p>
            <a:pPr algn="l">
              <a:lnSpc>
                <a:spcPts val="6999"/>
              </a:lnSpc>
            </a:pPr>
            <a:r>
              <a:rPr lang="en-US" sz="3200" b="1" spc="99" dirty="0">
                <a:solidFill>
                  <a:srgbClr val="FFFFFF"/>
                </a:solidFill>
                <a:latin typeface="Garet Bold"/>
                <a:ea typeface="Garet Bold"/>
                <a:cs typeface="Garet Bold"/>
                <a:sym typeface="Garet Bold"/>
              </a:rPr>
              <a:t>(Methodology used)</a:t>
            </a:r>
          </a:p>
        </p:txBody>
      </p:sp>
      <p:sp>
        <p:nvSpPr>
          <p:cNvPr id="8" name="Freeform 8"/>
          <p:cNvSpPr/>
          <p:nvPr/>
        </p:nvSpPr>
        <p:spPr>
          <a:xfrm>
            <a:off x="1571437" y="3617014"/>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838200" y="2781300"/>
            <a:ext cx="6096000" cy="4448013"/>
          </a:xfrm>
          <a:prstGeom prst="rect">
            <a:avLst/>
          </a:prstGeom>
        </p:spPr>
        <p:txBody>
          <a:bodyPr wrap="square" lIns="0" tIns="0" rIns="0" bIns="0" rtlCol="0" anchor="t">
            <a:spAutoFit/>
          </a:bodyPr>
          <a:lstStyle/>
          <a:p>
            <a:pPr algn="l">
              <a:lnSpc>
                <a:spcPct val="150000"/>
              </a:lnSpc>
            </a:pPr>
            <a:r>
              <a:rPr lang="en-US" sz="3600" b="1" dirty="0">
                <a:latin typeface="+mj-lt"/>
                <a:ea typeface="Garet Bold"/>
                <a:cs typeface="Garet Bold"/>
                <a:sym typeface="Garet Bold"/>
              </a:rPr>
              <a:t>Why Agile Methodology?</a:t>
            </a:r>
          </a:p>
          <a:p>
            <a:pPr marL="457200" indent="-457200" algn="l">
              <a:lnSpc>
                <a:spcPct val="150000"/>
              </a:lnSpc>
              <a:buFont typeface="Wingdings" panose="05000000000000000000" pitchFamily="2" charset="2"/>
              <a:buChar char="Ø"/>
            </a:pPr>
            <a:r>
              <a:rPr lang="en-US" sz="3200" dirty="0">
                <a:latin typeface="+mj-lt"/>
                <a:ea typeface="Garet Bold"/>
                <a:cs typeface="Garet Bold"/>
                <a:sym typeface="Garet Bold"/>
              </a:rPr>
              <a:t>Incremental development</a:t>
            </a:r>
          </a:p>
          <a:p>
            <a:pPr marL="457200" indent="-457200" algn="l">
              <a:lnSpc>
                <a:spcPct val="150000"/>
              </a:lnSpc>
              <a:buFont typeface="Wingdings" panose="05000000000000000000" pitchFamily="2" charset="2"/>
              <a:buChar char="Ø"/>
            </a:pPr>
            <a:r>
              <a:rPr lang="en-US" sz="3200" dirty="0">
                <a:latin typeface="+mj-lt"/>
                <a:ea typeface="Garet Bold"/>
                <a:cs typeface="Garet Bold"/>
                <a:sym typeface="Garet Bold"/>
              </a:rPr>
              <a:t>Continuous testing and feedback</a:t>
            </a:r>
          </a:p>
          <a:p>
            <a:pPr marL="457200" indent="-457200" algn="l">
              <a:lnSpc>
                <a:spcPct val="150000"/>
              </a:lnSpc>
              <a:buFont typeface="Wingdings" panose="05000000000000000000" pitchFamily="2" charset="2"/>
              <a:buChar char="Ø"/>
            </a:pPr>
            <a:r>
              <a:rPr lang="en-US" sz="3200" dirty="0">
                <a:latin typeface="+mj-lt"/>
                <a:ea typeface="Garet Bold"/>
                <a:cs typeface="Garet Bold"/>
                <a:sym typeface="Garet Bold"/>
              </a:rPr>
              <a:t>Flexibility in handling changes</a:t>
            </a:r>
          </a:p>
          <a:p>
            <a:pPr marL="457200" indent="-457200" algn="l">
              <a:lnSpc>
                <a:spcPct val="150000"/>
              </a:lnSpc>
              <a:buFont typeface="Wingdings" panose="05000000000000000000" pitchFamily="2" charset="2"/>
              <a:buChar char="Ø"/>
            </a:pPr>
            <a:r>
              <a:rPr lang="en-US" sz="3200" dirty="0">
                <a:latin typeface="+mj-lt"/>
                <a:ea typeface="Garet Bold"/>
                <a:cs typeface="Garet Bold"/>
                <a:sym typeface="Garet Bold"/>
              </a:rPr>
              <a:t>Faster delivery of the system feature</a:t>
            </a:r>
          </a:p>
        </p:txBody>
      </p:sp>
      <p:pic>
        <p:nvPicPr>
          <p:cNvPr id="21" name="Picture 20">
            <a:extLst>
              <a:ext uri="{FF2B5EF4-FFF2-40B4-BE49-F238E27FC236}">
                <a16:creationId xmlns:a16="http://schemas.microsoft.com/office/drawing/2014/main" id="{F1F0E278-EDA4-4276-90CE-BB7677CD00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000" y="2562537"/>
            <a:ext cx="11048996" cy="6165489"/>
          </a:xfrm>
          <a:prstGeom prst="rect">
            <a:avLst/>
          </a:prstGeom>
        </p:spPr>
      </p:pic>
      <p:sp>
        <p:nvSpPr>
          <p:cNvPr id="9" name="TextBox 8">
            <a:extLst>
              <a:ext uri="{FF2B5EF4-FFF2-40B4-BE49-F238E27FC236}">
                <a16:creationId xmlns:a16="http://schemas.microsoft.com/office/drawing/2014/main" id="{6E4CEEC1-A9BF-47BD-ACEC-391EA366E679}"/>
              </a:ext>
            </a:extLst>
          </p:cNvPr>
          <p:cNvSpPr txBox="1"/>
          <p:nvPr/>
        </p:nvSpPr>
        <p:spPr>
          <a:xfrm>
            <a:off x="69695" y="9367476"/>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sym typeface="Garet Bold"/>
              </a:rPr>
              <a:t>10</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527" y="10052"/>
            <a:ext cx="4235092" cy="10287000"/>
            <a:chOff x="0" y="0"/>
            <a:chExt cx="3346246" cy="8128000"/>
          </a:xfrm>
        </p:grpSpPr>
        <p:sp>
          <p:nvSpPr>
            <p:cNvPr id="3" name="Freeform 3"/>
            <p:cNvSpPr/>
            <p:nvPr/>
          </p:nvSpPr>
          <p:spPr>
            <a:xfrm>
              <a:off x="0" y="0"/>
              <a:ext cx="3346246" cy="8128000"/>
            </a:xfrm>
            <a:custGeom>
              <a:avLst/>
              <a:gdLst/>
              <a:ahLst/>
              <a:cxnLst/>
              <a:rect l="l" t="t" r="r" b="b"/>
              <a:pathLst>
                <a:path w="3346246" h="8128000">
                  <a:moveTo>
                    <a:pt x="0" y="0"/>
                  </a:moveTo>
                  <a:lnTo>
                    <a:pt x="3346246" y="0"/>
                  </a:lnTo>
                  <a:lnTo>
                    <a:pt x="3346246" y="8128000"/>
                  </a:lnTo>
                  <a:lnTo>
                    <a:pt x="0" y="8128000"/>
                  </a:lnTo>
                  <a:close/>
                </a:path>
              </a:pathLst>
            </a:custGeom>
            <a:solidFill>
              <a:srgbClr val="F6F6F6"/>
            </a:solidFill>
          </p:spPr>
        </p:sp>
        <p:sp>
          <p:nvSpPr>
            <p:cNvPr id="4" name="TextBox 4"/>
            <p:cNvSpPr txBox="1"/>
            <p:nvPr/>
          </p:nvSpPr>
          <p:spPr>
            <a:xfrm>
              <a:off x="0" y="-38100"/>
              <a:ext cx="3346246" cy="8166100"/>
            </a:xfrm>
            <a:prstGeom prst="rect">
              <a:avLst/>
            </a:prstGeom>
          </p:spPr>
          <p:txBody>
            <a:bodyPr lIns="50800" tIns="50800" rIns="50800" bIns="50800" rtlCol="0" anchor="ctr"/>
            <a:lstStyle/>
            <a:p>
              <a:pPr algn="ctr">
                <a:lnSpc>
                  <a:spcPts val="2659"/>
                </a:lnSpc>
              </a:pPr>
              <a:endParaRPr dirty="0"/>
            </a:p>
          </p:txBody>
        </p:sp>
      </p:grpSp>
      <p:sp>
        <p:nvSpPr>
          <p:cNvPr id="100" name="TextBox 100"/>
          <p:cNvSpPr txBox="1"/>
          <p:nvPr/>
        </p:nvSpPr>
        <p:spPr>
          <a:xfrm>
            <a:off x="9669563" y="8666819"/>
            <a:ext cx="2190586" cy="356234"/>
          </a:xfrm>
          <a:prstGeom prst="rect">
            <a:avLst/>
          </a:prstGeom>
        </p:spPr>
        <p:txBody>
          <a:bodyPr lIns="0" tIns="0" rIns="0" bIns="0" rtlCol="0" anchor="t">
            <a:spAutoFit/>
          </a:bodyPr>
          <a:lstStyle/>
          <a:p>
            <a:pPr marL="0" lvl="0" indent="0" algn="l">
              <a:lnSpc>
                <a:spcPts val="2940"/>
              </a:lnSpc>
              <a:spcBef>
                <a:spcPct val="0"/>
              </a:spcBef>
            </a:pPr>
            <a:r>
              <a:rPr lang="en-US" sz="2100" b="1" dirty="0">
                <a:solidFill>
                  <a:srgbClr val="FFFFFF"/>
                </a:solidFill>
                <a:latin typeface="Montserrat Semi-Bold"/>
                <a:ea typeface="Montserrat Semi-Bold"/>
                <a:cs typeface="Montserrat Semi-Bold"/>
                <a:sym typeface="Montserrat Semi-Bold"/>
              </a:rPr>
              <a:t>Rufus Stewart</a:t>
            </a:r>
          </a:p>
        </p:txBody>
      </p:sp>
      <p:grpSp>
        <p:nvGrpSpPr>
          <p:cNvPr id="105" name="Group 105"/>
          <p:cNvGrpSpPr/>
          <p:nvPr/>
        </p:nvGrpSpPr>
        <p:grpSpPr>
          <a:xfrm>
            <a:off x="13991393" y="1294629"/>
            <a:ext cx="3987330" cy="3987330"/>
            <a:chOff x="0" y="6788"/>
            <a:chExt cx="812800" cy="812800"/>
          </a:xfrm>
        </p:grpSpPr>
        <p:sp>
          <p:nvSpPr>
            <p:cNvPr id="106" name="Freeform 106"/>
            <p:cNvSpPr/>
            <p:nvPr/>
          </p:nvSpPr>
          <p:spPr>
            <a:xfrm>
              <a:off x="0" y="678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6F6F6"/>
              </a:solidFill>
              <a:prstDash val="solid"/>
              <a:miter/>
            </a:ln>
          </p:spPr>
          <p:txBody>
            <a:bodyPr/>
            <a:lstStyle/>
            <a:p>
              <a:endParaRPr lang="en-US" dirty="0"/>
            </a:p>
          </p:txBody>
        </p:sp>
        <p:sp>
          <p:nvSpPr>
            <p:cNvPr id="107" name="TextBox 10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grpSp>
        <p:nvGrpSpPr>
          <p:cNvPr id="115" name="Group 115"/>
          <p:cNvGrpSpPr/>
          <p:nvPr/>
        </p:nvGrpSpPr>
        <p:grpSpPr>
          <a:xfrm>
            <a:off x="-1615919" y="6389388"/>
            <a:ext cx="3277467" cy="3277467"/>
            <a:chOff x="0" y="0"/>
            <a:chExt cx="812800" cy="812800"/>
          </a:xfrm>
        </p:grpSpPr>
        <p:sp>
          <p:nvSpPr>
            <p:cNvPr id="116" name="Freeform 1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7ED957">
                  <a:alpha val="19608"/>
                </a:srgbClr>
              </a:solidFill>
              <a:prstDash val="solid"/>
              <a:miter/>
            </a:ln>
          </p:spPr>
        </p:sp>
        <p:sp>
          <p:nvSpPr>
            <p:cNvPr id="117" name="TextBox 1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sp>
        <p:nvSpPr>
          <p:cNvPr id="129" name="TextBox 114">
            <a:extLst>
              <a:ext uri="{FF2B5EF4-FFF2-40B4-BE49-F238E27FC236}">
                <a16:creationId xmlns:a16="http://schemas.microsoft.com/office/drawing/2014/main" id="{2D72199D-AFB0-4BC6-9B5C-59C1540B882E}"/>
              </a:ext>
            </a:extLst>
          </p:cNvPr>
          <p:cNvSpPr txBox="1"/>
          <p:nvPr/>
        </p:nvSpPr>
        <p:spPr>
          <a:xfrm>
            <a:off x="731467" y="590930"/>
            <a:ext cx="10088933" cy="477054"/>
          </a:xfrm>
          <a:prstGeom prst="rect">
            <a:avLst/>
          </a:prstGeom>
        </p:spPr>
        <p:txBody>
          <a:bodyPr wrap="square" lIns="0" tIns="0" rIns="0" bIns="0" rtlCol="0" anchor="t">
            <a:spAutoFit/>
          </a:bodyPr>
          <a:lstStyle/>
          <a:p>
            <a:pPr algn="l">
              <a:lnSpc>
                <a:spcPts val="3220"/>
              </a:lnSpc>
            </a:pPr>
            <a:r>
              <a:rPr lang="en-US" sz="5000" b="1" dirty="0">
                <a:solidFill>
                  <a:schemeClr val="bg1"/>
                </a:solidFill>
                <a:latin typeface="+mj-lt"/>
                <a:ea typeface="Garet Bold"/>
                <a:cs typeface="Garet Bold"/>
                <a:sym typeface="Garet Bold"/>
              </a:rPr>
              <a:t>SYSTEM DESIGN(Use Case Diagram)</a:t>
            </a:r>
          </a:p>
        </p:txBody>
      </p:sp>
      <p:sp>
        <p:nvSpPr>
          <p:cNvPr id="25" name="TextBox 4">
            <a:extLst>
              <a:ext uri="{FF2B5EF4-FFF2-40B4-BE49-F238E27FC236}">
                <a16:creationId xmlns:a16="http://schemas.microsoft.com/office/drawing/2014/main" id="{F92D33B0-AC50-45F1-A56D-F24EFEC324A4}"/>
              </a:ext>
            </a:extLst>
          </p:cNvPr>
          <p:cNvSpPr txBox="1"/>
          <p:nvPr/>
        </p:nvSpPr>
        <p:spPr>
          <a:xfrm>
            <a:off x="18589" y="7739"/>
            <a:ext cx="4172412" cy="10431661"/>
          </a:xfrm>
          <a:prstGeom prst="rect">
            <a:avLst/>
          </a:prstGeom>
        </p:spPr>
        <p:txBody>
          <a:bodyPr lIns="50800" tIns="50800" rIns="50800" bIns="50800" rtlCol="0" anchor="ctr"/>
          <a:lstStyle/>
          <a:p>
            <a:pPr algn="ctr">
              <a:lnSpc>
                <a:spcPts val="2659"/>
              </a:lnSpc>
            </a:pPr>
            <a:endParaRPr dirty="0"/>
          </a:p>
        </p:txBody>
      </p:sp>
      <p:pic>
        <p:nvPicPr>
          <p:cNvPr id="6" name="Picture 5">
            <a:extLst>
              <a:ext uri="{FF2B5EF4-FFF2-40B4-BE49-F238E27FC236}">
                <a16:creationId xmlns:a16="http://schemas.microsoft.com/office/drawing/2014/main" id="{0711B89F-B57E-47B0-8557-AC64EEAC5A44}"/>
              </a:ext>
            </a:extLst>
          </p:cNvPr>
          <p:cNvPicPr>
            <a:picLocks noChangeAspect="1"/>
          </p:cNvPicPr>
          <p:nvPr/>
        </p:nvPicPr>
        <p:blipFill>
          <a:blip r:embed="rId2"/>
          <a:stretch>
            <a:fillRect/>
          </a:stretch>
        </p:blipFill>
        <p:spPr>
          <a:xfrm>
            <a:off x="4620453" y="484263"/>
            <a:ext cx="13471837" cy="9063533"/>
          </a:xfrm>
          <a:prstGeom prst="rect">
            <a:avLst/>
          </a:prstGeom>
        </p:spPr>
      </p:pic>
      <p:grpSp>
        <p:nvGrpSpPr>
          <p:cNvPr id="28" name="Group 2">
            <a:extLst>
              <a:ext uri="{FF2B5EF4-FFF2-40B4-BE49-F238E27FC236}">
                <a16:creationId xmlns:a16="http://schemas.microsoft.com/office/drawing/2014/main" id="{4473AD0D-48C2-427B-982E-EA7ADC565B00}"/>
              </a:ext>
            </a:extLst>
          </p:cNvPr>
          <p:cNvGrpSpPr/>
          <p:nvPr/>
        </p:nvGrpSpPr>
        <p:grpSpPr>
          <a:xfrm>
            <a:off x="22306" y="-42814"/>
            <a:ext cx="4172412" cy="10287000"/>
            <a:chOff x="0" y="0"/>
            <a:chExt cx="1689989" cy="2709333"/>
          </a:xfrm>
        </p:grpSpPr>
        <p:sp>
          <p:nvSpPr>
            <p:cNvPr id="29" name="Freeform 3">
              <a:extLst>
                <a:ext uri="{FF2B5EF4-FFF2-40B4-BE49-F238E27FC236}">
                  <a16:creationId xmlns:a16="http://schemas.microsoft.com/office/drawing/2014/main" id="{89CA3608-8D92-4E60-9282-3DAFF192ED2F}"/>
                </a:ext>
              </a:extLst>
            </p:cNvPr>
            <p:cNvSpPr/>
            <p:nvPr/>
          </p:nvSpPr>
          <p:spPr>
            <a:xfrm>
              <a:off x="0" y="0"/>
              <a:ext cx="1689989" cy="2709333"/>
            </a:xfrm>
            <a:custGeom>
              <a:avLst/>
              <a:gdLst/>
              <a:ahLst/>
              <a:cxnLst/>
              <a:rect l="l" t="t" r="r" b="b"/>
              <a:pathLst>
                <a:path w="1689989" h="2709333">
                  <a:moveTo>
                    <a:pt x="0" y="0"/>
                  </a:moveTo>
                  <a:lnTo>
                    <a:pt x="1689989" y="0"/>
                  </a:lnTo>
                  <a:lnTo>
                    <a:pt x="1689989" y="2709333"/>
                  </a:lnTo>
                  <a:lnTo>
                    <a:pt x="0" y="2709333"/>
                  </a:lnTo>
                  <a:close/>
                </a:path>
              </a:pathLst>
            </a:custGeom>
            <a:solidFill>
              <a:srgbClr val="7ED957"/>
            </a:solidFill>
          </p:spPr>
        </p:sp>
        <p:sp>
          <p:nvSpPr>
            <p:cNvPr id="30" name="TextBox 4">
              <a:extLst>
                <a:ext uri="{FF2B5EF4-FFF2-40B4-BE49-F238E27FC236}">
                  <a16:creationId xmlns:a16="http://schemas.microsoft.com/office/drawing/2014/main" id="{8D9FCB18-E390-41BC-941E-5D0634486F93}"/>
                </a:ext>
              </a:extLst>
            </p:cNvPr>
            <p:cNvSpPr txBox="1"/>
            <p:nvPr/>
          </p:nvSpPr>
          <p:spPr>
            <a:xfrm>
              <a:off x="0" y="-38100"/>
              <a:ext cx="1689989" cy="2747433"/>
            </a:xfrm>
            <a:prstGeom prst="rect">
              <a:avLst/>
            </a:prstGeom>
          </p:spPr>
          <p:txBody>
            <a:bodyPr lIns="50800" tIns="50800" rIns="50800" bIns="50800" rtlCol="0" anchor="ctr"/>
            <a:lstStyle/>
            <a:p>
              <a:pPr algn="ctr">
                <a:lnSpc>
                  <a:spcPts val="2659"/>
                </a:lnSpc>
              </a:pPr>
              <a:endParaRPr dirty="0"/>
            </a:p>
          </p:txBody>
        </p:sp>
      </p:grpSp>
      <p:sp>
        <p:nvSpPr>
          <p:cNvPr id="32" name="TextBox 31">
            <a:extLst>
              <a:ext uri="{FF2B5EF4-FFF2-40B4-BE49-F238E27FC236}">
                <a16:creationId xmlns:a16="http://schemas.microsoft.com/office/drawing/2014/main" id="{9C3B02F2-063F-446C-8654-29D731BCD120}"/>
              </a:ext>
            </a:extLst>
          </p:cNvPr>
          <p:cNvSpPr txBox="1"/>
          <p:nvPr/>
        </p:nvSpPr>
        <p:spPr>
          <a:xfrm>
            <a:off x="309277" y="7739"/>
            <a:ext cx="4235092" cy="1668470"/>
          </a:xfrm>
          <a:prstGeom prst="rect">
            <a:avLst/>
          </a:prstGeom>
          <a:noFill/>
        </p:spPr>
        <p:txBody>
          <a:bodyPr wrap="square">
            <a:spAutoFit/>
          </a:bodyPr>
          <a:lstStyle/>
          <a:p>
            <a:pPr algn="l">
              <a:lnSpc>
                <a:spcPct val="150000"/>
              </a:lnSpc>
            </a:pPr>
            <a:r>
              <a:rPr lang="en-US" sz="3600" b="1" dirty="0">
                <a:solidFill>
                  <a:schemeClr val="bg1"/>
                </a:solidFill>
                <a:latin typeface="+mj-lt"/>
                <a:ea typeface="Garet Bold"/>
                <a:cs typeface="Garet Bold"/>
                <a:sym typeface="Garet Bold"/>
              </a:rPr>
              <a:t>SYSTEM DESIGN</a:t>
            </a:r>
          </a:p>
          <a:p>
            <a:pPr algn="l">
              <a:lnSpc>
                <a:spcPct val="150000"/>
              </a:lnSpc>
            </a:pPr>
            <a:r>
              <a:rPr lang="en-US" sz="3600" b="1" dirty="0">
                <a:solidFill>
                  <a:schemeClr val="bg1"/>
                </a:solidFill>
                <a:latin typeface="+mj-lt"/>
                <a:ea typeface="Garet Bold"/>
                <a:cs typeface="Garet Bold"/>
                <a:sym typeface="Garet Bold"/>
              </a:rPr>
              <a:t>(Use Case Diagram</a:t>
            </a:r>
            <a:r>
              <a:rPr lang="en-US" sz="3200" b="1" dirty="0">
                <a:solidFill>
                  <a:schemeClr val="bg1"/>
                </a:solidFill>
                <a:latin typeface="+mj-lt"/>
                <a:ea typeface="Garet Bold"/>
                <a:cs typeface="Garet Bold"/>
                <a:sym typeface="Garet Bold"/>
              </a:rPr>
              <a:t>)</a:t>
            </a:r>
          </a:p>
        </p:txBody>
      </p:sp>
      <p:sp>
        <p:nvSpPr>
          <p:cNvPr id="19" name="TextBox 18">
            <a:extLst>
              <a:ext uri="{FF2B5EF4-FFF2-40B4-BE49-F238E27FC236}">
                <a16:creationId xmlns:a16="http://schemas.microsoft.com/office/drawing/2014/main" id="{14F5E8E8-31C3-4F33-A8FD-70CD88A45447}"/>
              </a:ext>
            </a:extLst>
          </p:cNvPr>
          <p:cNvSpPr txBox="1"/>
          <p:nvPr/>
        </p:nvSpPr>
        <p:spPr>
          <a:xfrm>
            <a:off x="191771" y="9190058"/>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sym typeface="Garet Bold"/>
              </a:rPr>
              <a:t>11</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289053-7EA2-4A4C-8F5C-94E36E0245ED}"/>
              </a:ext>
            </a:extLst>
          </p:cNvPr>
          <p:cNvPicPr>
            <a:picLocks noChangeAspect="1"/>
          </p:cNvPicPr>
          <p:nvPr/>
        </p:nvPicPr>
        <p:blipFill>
          <a:blip r:embed="rId2"/>
          <a:stretch>
            <a:fillRect/>
          </a:stretch>
        </p:blipFill>
        <p:spPr>
          <a:xfrm>
            <a:off x="4191000" y="0"/>
            <a:ext cx="14401800" cy="10398512"/>
          </a:xfrm>
          <a:prstGeom prst="rect">
            <a:avLst/>
          </a:prstGeom>
        </p:spPr>
      </p:pic>
      <p:grpSp>
        <p:nvGrpSpPr>
          <p:cNvPr id="7" name="Group 2">
            <a:extLst>
              <a:ext uri="{FF2B5EF4-FFF2-40B4-BE49-F238E27FC236}">
                <a16:creationId xmlns:a16="http://schemas.microsoft.com/office/drawing/2014/main" id="{F0E55C1F-025A-4BD0-9FEC-6A8EA9B64BA5}"/>
              </a:ext>
            </a:extLst>
          </p:cNvPr>
          <p:cNvGrpSpPr/>
          <p:nvPr/>
        </p:nvGrpSpPr>
        <p:grpSpPr>
          <a:xfrm>
            <a:off x="0" y="-30666"/>
            <a:ext cx="4172412" cy="10287000"/>
            <a:chOff x="0" y="0"/>
            <a:chExt cx="1689989" cy="2709333"/>
          </a:xfrm>
        </p:grpSpPr>
        <p:sp>
          <p:nvSpPr>
            <p:cNvPr id="8" name="Freeform 3">
              <a:extLst>
                <a:ext uri="{FF2B5EF4-FFF2-40B4-BE49-F238E27FC236}">
                  <a16:creationId xmlns:a16="http://schemas.microsoft.com/office/drawing/2014/main" id="{AAFFD01C-687D-4E60-8D58-37899DC544FA}"/>
                </a:ext>
              </a:extLst>
            </p:cNvPr>
            <p:cNvSpPr/>
            <p:nvPr/>
          </p:nvSpPr>
          <p:spPr>
            <a:xfrm>
              <a:off x="0" y="0"/>
              <a:ext cx="1689989" cy="2709333"/>
            </a:xfrm>
            <a:custGeom>
              <a:avLst/>
              <a:gdLst/>
              <a:ahLst/>
              <a:cxnLst/>
              <a:rect l="l" t="t" r="r" b="b"/>
              <a:pathLst>
                <a:path w="1689989" h="2709333">
                  <a:moveTo>
                    <a:pt x="0" y="0"/>
                  </a:moveTo>
                  <a:lnTo>
                    <a:pt x="1689989" y="0"/>
                  </a:lnTo>
                  <a:lnTo>
                    <a:pt x="1689989" y="2709333"/>
                  </a:lnTo>
                  <a:lnTo>
                    <a:pt x="0" y="2709333"/>
                  </a:lnTo>
                  <a:close/>
                </a:path>
              </a:pathLst>
            </a:custGeom>
            <a:solidFill>
              <a:srgbClr val="7ED957"/>
            </a:solidFill>
          </p:spPr>
        </p:sp>
        <p:sp>
          <p:nvSpPr>
            <p:cNvPr id="9" name="TextBox 4">
              <a:extLst>
                <a:ext uri="{FF2B5EF4-FFF2-40B4-BE49-F238E27FC236}">
                  <a16:creationId xmlns:a16="http://schemas.microsoft.com/office/drawing/2014/main" id="{E49F3C23-A91A-425D-87D1-2EA36F315300}"/>
                </a:ext>
              </a:extLst>
            </p:cNvPr>
            <p:cNvSpPr txBox="1"/>
            <p:nvPr/>
          </p:nvSpPr>
          <p:spPr>
            <a:xfrm>
              <a:off x="0" y="-38100"/>
              <a:ext cx="1689989" cy="2747433"/>
            </a:xfrm>
            <a:prstGeom prst="rect">
              <a:avLst/>
            </a:prstGeom>
          </p:spPr>
          <p:txBody>
            <a:bodyPr lIns="50800" tIns="50800" rIns="50800" bIns="50800" rtlCol="0" anchor="ctr"/>
            <a:lstStyle/>
            <a:p>
              <a:pPr algn="ctr">
                <a:lnSpc>
                  <a:spcPts val="2659"/>
                </a:lnSpc>
              </a:pPr>
              <a:endParaRPr dirty="0"/>
            </a:p>
          </p:txBody>
        </p:sp>
      </p:grpSp>
      <p:sp>
        <p:nvSpPr>
          <p:cNvPr id="16" name="TextBox 15">
            <a:extLst>
              <a:ext uri="{FF2B5EF4-FFF2-40B4-BE49-F238E27FC236}">
                <a16:creationId xmlns:a16="http://schemas.microsoft.com/office/drawing/2014/main" id="{140304A6-7E6D-4911-83DC-E8D0F1B21E42}"/>
              </a:ext>
            </a:extLst>
          </p:cNvPr>
          <p:cNvSpPr txBox="1"/>
          <p:nvPr/>
        </p:nvSpPr>
        <p:spPr>
          <a:xfrm>
            <a:off x="334537" y="30666"/>
            <a:ext cx="3886200" cy="1843582"/>
          </a:xfrm>
          <a:prstGeom prst="rect">
            <a:avLst/>
          </a:prstGeom>
          <a:noFill/>
        </p:spPr>
        <p:txBody>
          <a:bodyPr wrap="square">
            <a:spAutoFit/>
          </a:bodyPr>
          <a:lstStyle/>
          <a:p>
            <a:pPr algn="l">
              <a:lnSpc>
                <a:spcPct val="150000"/>
              </a:lnSpc>
            </a:pPr>
            <a:r>
              <a:rPr lang="en-US" sz="4000" b="1" dirty="0">
                <a:solidFill>
                  <a:schemeClr val="bg1"/>
                </a:solidFill>
                <a:latin typeface="+mj-lt"/>
                <a:ea typeface="Garet Bold"/>
                <a:cs typeface="Garet Bold"/>
                <a:sym typeface="Garet Bold"/>
              </a:rPr>
              <a:t>SYSTEM DESIGN</a:t>
            </a:r>
          </a:p>
          <a:p>
            <a:pPr algn="l">
              <a:lnSpc>
                <a:spcPct val="150000"/>
              </a:lnSpc>
            </a:pPr>
            <a:r>
              <a:rPr lang="en-US" sz="4000" b="1" dirty="0">
                <a:solidFill>
                  <a:schemeClr val="bg1"/>
                </a:solidFill>
                <a:latin typeface="+mj-lt"/>
                <a:ea typeface="Garet Bold"/>
                <a:cs typeface="Garet Bold"/>
                <a:sym typeface="Garet Bold"/>
              </a:rPr>
              <a:t>(Class diagram</a:t>
            </a:r>
            <a:r>
              <a:rPr lang="en-US" sz="3600" b="1" dirty="0">
                <a:solidFill>
                  <a:schemeClr val="bg1"/>
                </a:solidFill>
                <a:latin typeface="+mj-lt"/>
                <a:ea typeface="Garet Bold"/>
                <a:cs typeface="Garet Bold"/>
                <a:sym typeface="Garet Bold"/>
              </a:rPr>
              <a:t>)</a:t>
            </a:r>
          </a:p>
        </p:txBody>
      </p:sp>
      <p:sp>
        <p:nvSpPr>
          <p:cNvPr id="10" name="TextBox 9">
            <a:extLst>
              <a:ext uri="{FF2B5EF4-FFF2-40B4-BE49-F238E27FC236}">
                <a16:creationId xmlns:a16="http://schemas.microsoft.com/office/drawing/2014/main" id="{B76E3E74-AF8A-4821-AB16-B18AF92F149F}"/>
              </a:ext>
            </a:extLst>
          </p:cNvPr>
          <p:cNvSpPr txBox="1"/>
          <p:nvPr/>
        </p:nvSpPr>
        <p:spPr>
          <a:xfrm>
            <a:off x="334537" y="9334500"/>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sym typeface="Garet Bold"/>
              </a:rPr>
              <a:t>12</a:t>
            </a:r>
            <a:endParaRPr lang="en-US" dirty="0"/>
          </a:p>
        </p:txBody>
      </p:sp>
    </p:spTree>
    <p:extLst>
      <p:ext uri="{BB962C8B-B14F-4D97-AF65-F5344CB8AC3E}">
        <p14:creationId xmlns:p14="http://schemas.microsoft.com/office/powerpoint/2010/main" val="32661886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12162408-92F4-4507-9452-3853FDEF038F}"/>
              </a:ext>
            </a:extLst>
          </p:cNvPr>
          <p:cNvGrpSpPr/>
          <p:nvPr/>
        </p:nvGrpSpPr>
        <p:grpSpPr>
          <a:xfrm>
            <a:off x="0" y="-30666"/>
            <a:ext cx="4172412" cy="10287000"/>
            <a:chOff x="0" y="0"/>
            <a:chExt cx="1689989" cy="2709333"/>
          </a:xfrm>
        </p:grpSpPr>
        <p:sp>
          <p:nvSpPr>
            <p:cNvPr id="3" name="Freeform 3">
              <a:extLst>
                <a:ext uri="{FF2B5EF4-FFF2-40B4-BE49-F238E27FC236}">
                  <a16:creationId xmlns:a16="http://schemas.microsoft.com/office/drawing/2014/main" id="{FFDA6299-17F6-4202-92A9-C39199804107}"/>
                </a:ext>
              </a:extLst>
            </p:cNvPr>
            <p:cNvSpPr/>
            <p:nvPr/>
          </p:nvSpPr>
          <p:spPr>
            <a:xfrm>
              <a:off x="0" y="0"/>
              <a:ext cx="1689989" cy="2709333"/>
            </a:xfrm>
            <a:custGeom>
              <a:avLst/>
              <a:gdLst/>
              <a:ahLst/>
              <a:cxnLst/>
              <a:rect l="l" t="t" r="r" b="b"/>
              <a:pathLst>
                <a:path w="1689989" h="2709333">
                  <a:moveTo>
                    <a:pt x="0" y="0"/>
                  </a:moveTo>
                  <a:lnTo>
                    <a:pt x="1689989" y="0"/>
                  </a:lnTo>
                  <a:lnTo>
                    <a:pt x="1689989" y="2709333"/>
                  </a:lnTo>
                  <a:lnTo>
                    <a:pt x="0" y="2709333"/>
                  </a:lnTo>
                  <a:close/>
                </a:path>
              </a:pathLst>
            </a:custGeom>
            <a:solidFill>
              <a:srgbClr val="7ED957"/>
            </a:solidFill>
          </p:spPr>
        </p:sp>
        <p:sp>
          <p:nvSpPr>
            <p:cNvPr id="4" name="TextBox 4">
              <a:extLst>
                <a:ext uri="{FF2B5EF4-FFF2-40B4-BE49-F238E27FC236}">
                  <a16:creationId xmlns:a16="http://schemas.microsoft.com/office/drawing/2014/main" id="{0DA0C00C-E101-4EBF-A290-329509714481}"/>
                </a:ext>
              </a:extLst>
            </p:cNvPr>
            <p:cNvSpPr txBox="1"/>
            <p:nvPr/>
          </p:nvSpPr>
          <p:spPr>
            <a:xfrm>
              <a:off x="0" y="-38100"/>
              <a:ext cx="1689989" cy="2747433"/>
            </a:xfrm>
            <a:prstGeom prst="rect">
              <a:avLst/>
            </a:prstGeom>
          </p:spPr>
          <p:txBody>
            <a:bodyPr lIns="50800" tIns="50800" rIns="50800" bIns="50800" rtlCol="0" anchor="ctr"/>
            <a:lstStyle/>
            <a:p>
              <a:pPr algn="ctr">
                <a:lnSpc>
                  <a:spcPts val="2659"/>
                </a:lnSpc>
              </a:pPr>
              <a:endParaRPr dirty="0"/>
            </a:p>
          </p:txBody>
        </p:sp>
      </p:grpSp>
      <p:sp>
        <p:nvSpPr>
          <p:cNvPr id="6" name="TextBox 5">
            <a:extLst>
              <a:ext uri="{FF2B5EF4-FFF2-40B4-BE49-F238E27FC236}">
                <a16:creationId xmlns:a16="http://schemas.microsoft.com/office/drawing/2014/main" id="{8BCBCCB5-4389-45DC-93D8-02CF11717162}"/>
              </a:ext>
            </a:extLst>
          </p:cNvPr>
          <p:cNvSpPr txBox="1"/>
          <p:nvPr/>
        </p:nvSpPr>
        <p:spPr>
          <a:xfrm>
            <a:off x="304800" y="571500"/>
            <a:ext cx="3867612" cy="1843582"/>
          </a:xfrm>
          <a:prstGeom prst="rect">
            <a:avLst/>
          </a:prstGeom>
          <a:noFill/>
        </p:spPr>
        <p:txBody>
          <a:bodyPr wrap="square">
            <a:spAutoFit/>
          </a:bodyPr>
          <a:lstStyle/>
          <a:p>
            <a:pPr algn="l">
              <a:lnSpc>
                <a:spcPct val="150000"/>
              </a:lnSpc>
            </a:pPr>
            <a:r>
              <a:rPr lang="en-US" sz="4000" b="1" dirty="0">
                <a:solidFill>
                  <a:schemeClr val="bg1"/>
                </a:solidFill>
                <a:latin typeface="+mj-lt"/>
                <a:ea typeface="Garet Bold"/>
                <a:cs typeface="Garet Bold"/>
                <a:sym typeface="Garet Bold"/>
              </a:rPr>
              <a:t>SYSTEM DESIGN</a:t>
            </a:r>
          </a:p>
          <a:p>
            <a:pPr algn="l">
              <a:lnSpc>
                <a:spcPct val="150000"/>
              </a:lnSpc>
            </a:pPr>
            <a:r>
              <a:rPr lang="en-US" sz="4000" b="1" dirty="0">
                <a:solidFill>
                  <a:schemeClr val="bg1"/>
                </a:solidFill>
                <a:latin typeface="+mj-lt"/>
                <a:ea typeface="Garet Bold"/>
                <a:cs typeface="Garet Bold"/>
                <a:sym typeface="Garet Bold"/>
              </a:rPr>
              <a:t>(ER Diagram</a:t>
            </a:r>
            <a:r>
              <a:rPr lang="en-US" sz="3600" b="1" dirty="0">
                <a:solidFill>
                  <a:schemeClr val="bg1"/>
                </a:solidFill>
                <a:latin typeface="+mj-lt"/>
                <a:ea typeface="Garet Bold"/>
                <a:cs typeface="Garet Bold"/>
                <a:sym typeface="Garet Bold"/>
              </a:rPr>
              <a:t>)</a:t>
            </a:r>
          </a:p>
        </p:txBody>
      </p:sp>
      <p:pic>
        <p:nvPicPr>
          <p:cNvPr id="10" name="Picture 9">
            <a:extLst>
              <a:ext uri="{FF2B5EF4-FFF2-40B4-BE49-F238E27FC236}">
                <a16:creationId xmlns:a16="http://schemas.microsoft.com/office/drawing/2014/main" id="{44444715-5ED2-496F-A788-7C94CEA5E78A}"/>
              </a:ext>
            </a:extLst>
          </p:cNvPr>
          <p:cNvPicPr>
            <a:picLocks noChangeAspect="1"/>
          </p:cNvPicPr>
          <p:nvPr/>
        </p:nvPicPr>
        <p:blipFill>
          <a:blip r:embed="rId2"/>
          <a:stretch>
            <a:fillRect/>
          </a:stretch>
        </p:blipFill>
        <p:spPr>
          <a:xfrm>
            <a:off x="4495800" y="419100"/>
            <a:ext cx="13130716" cy="8991600"/>
          </a:xfrm>
          <a:prstGeom prst="rect">
            <a:avLst/>
          </a:prstGeom>
        </p:spPr>
      </p:pic>
      <p:sp>
        <p:nvSpPr>
          <p:cNvPr id="7" name="TextBox 6">
            <a:extLst>
              <a:ext uri="{FF2B5EF4-FFF2-40B4-BE49-F238E27FC236}">
                <a16:creationId xmlns:a16="http://schemas.microsoft.com/office/drawing/2014/main" id="{9CAB0262-256D-4372-9C6F-7556687D88E2}"/>
              </a:ext>
            </a:extLst>
          </p:cNvPr>
          <p:cNvSpPr txBox="1"/>
          <p:nvPr/>
        </p:nvSpPr>
        <p:spPr>
          <a:xfrm>
            <a:off x="273979" y="9410700"/>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sym typeface="Garet Bold"/>
              </a:rPr>
              <a:t>13</a:t>
            </a:r>
            <a:endParaRPr lang="en-US" dirty="0"/>
          </a:p>
        </p:txBody>
      </p:sp>
    </p:spTree>
    <p:extLst>
      <p:ext uri="{BB962C8B-B14F-4D97-AF65-F5344CB8AC3E}">
        <p14:creationId xmlns:p14="http://schemas.microsoft.com/office/powerpoint/2010/main" val="24630969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3">
            <a:extLst>
              <a:ext uri="{FF2B5EF4-FFF2-40B4-BE49-F238E27FC236}">
                <a16:creationId xmlns:a16="http://schemas.microsoft.com/office/drawing/2014/main" id="{C787BB6C-1EBA-478A-8104-6F54E48F831E}"/>
              </a:ext>
            </a:extLst>
          </p:cNvPr>
          <p:cNvGrpSpPr/>
          <p:nvPr/>
        </p:nvGrpSpPr>
        <p:grpSpPr>
          <a:xfrm>
            <a:off x="0" y="-419100"/>
            <a:ext cx="18288000" cy="1346035"/>
            <a:chOff x="0" y="-38100"/>
            <a:chExt cx="4816593" cy="624748"/>
          </a:xfrm>
        </p:grpSpPr>
        <p:sp>
          <p:nvSpPr>
            <p:cNvPr id="17" name="Freeform 4">
              <a:extLst>
                <a:ext uri="{FF2B5EF4-FFF2-40B4-BE49-F238E27FC236}">
                  <a16:creationId xmlns:a16="http://schemas.microsoft.com/office/drawing/2014/main" id="{5CA778FB-BE08-4F71-A947-3D138684BAD3}"/>
                </a:ext>
              </a:extLst>
            </p:cNvPr>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7ED957"/>
            </a:solidFill>
          </p:spPr>
        </p:sp>
        <p:sp>
          <p:nvSpPr>
            <p:cNvPr id="18" name="TextBox 5">
              <a:extLst>
                <a:ext uri="{FF2B5EF4-FFF2-40B4-BE49-F238E27FC236}">
                  <a16:creationId xmlns:a16="http://schemas.microsoft.com/office/drawing/2014/main" id="{6494471E-836E-4E98-AD7A-968C89ADA164}"/>
                </a:ext>
              </a:extLst>
            </p:cNvPr>
            <p:cNvSpPr txBox="1"/>
            <p:nvPr/>
          </p:nvSpPr>
          <p:spPr>
            <a:xfrm>
              <a:off x="0" y="-38100"/>
              <a:ext cx="4816593" cy="624748"/>
            </a:xfrm>
            <a:prstGeom prst="rect">
              <a:avLst/>
            </a:prstGeom>
          </p:spPr>
          <p:txBody>
            <a:bodyPr lIns="50800" tIns="50800" rIns="50800" bIns="50800" rtlCol="0" anchor="ctr"/>
            <a:lstStyle/>
            <a:p>
              <a:pPr algn="ctr">
                <a:lnSpc>
                  <a:spcPts val="2659"/>
                </a:lnSpc>
              </a:pPr>
              <a:endParaRPr dirty="0"/>
            </a:p>
          </p:txBody>
        </p:sp>
      </p:grpSp>
      <p:pic>
        <p:nvPicPr>
          <p:cNvPr id="26" name="Picture 25">
            <a:extLst>
              <a:ext uri="{FF2B5EF4-FFF2-40B4-BE49-F238E27FC236}">
                <a16:creationId xmlns:a16="http://schemas.microsoft.com/office/drawing/2014/main" id="{C7E5FE65-71C3-428E-80FF-86C686BE93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6006"/>
            <a:ext cx="13868400" cy="9360065"/>
          </a:xfrm>
          <a:prstGeom prst="rect">
            <a:avLst/>
          </a:prstGeom>
        </p:spPr>
      </p:pic>
      <p:pic>
        <p:nvPicPr>
          <p:cNvPr id="28" name="Picture 27">
            <a:extLst>
              <a:ext uri="{FF2B5EF4-FFF2-40B4-BE49-F238E27FC236}">
                <a16:creationId xmlns:a16="http://schemas.microsoft.com/office/drawing/2014/main" id="{28E0B0EA-1DE7-4532-B3FC-0FC25CFCF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68400" y="926935"/>
            <a:ext cx="4419596" cy="9360066"/>
          </a:xfrm>
          <a:prstGeom prst="rect">
            <a:avLst/>
          </a:prstGeom>
        </p:spPr>
      </p:pic>
      <p:sp>
        <p:nvSpPr>
          <p:cNvPr id="8" name="TextBox 7">
            <a:extLst>
              <a:ext uri="{FF2B5EF4-FFF2-40B4-BE49-F238E27FC236}">
                <a16:creationId xmlns:a16="http://schemas.microsoft.com/office/drawing/2014/main" id="{9BD19E07-1933-4391-A1D5-0957CCCC6787}"/>
              </a:ext>
            </a:extLst>
          </p:cNvPr>
          <p:cNvSpPr txBox="1"/>
          <p:nvPr/>
        </p:nvSpPr>
        <p:spPr>
          <a:xfrm>
            <a:off x="304800" y="-122461"/>
            <a:ext cx="11430000" cy="904094"/>
          </a:xfrm>
          <a:prstGeom prst="rect">
            <a:avLst/>
          </a:prstGeom>
          <a:noFill/>
        </p:spPr>
        <p:txBody>
          <a:bodyPr wrap="square">
            <a:spAutoFit/>
          </a:bodyPr>
          <a:lstStyle/>
          <a:p>
            <a:pPr algn="l">
              <a:lnSpc>
                <a:spcPts val="6999"/>
              </a:lnSpc>
            </a:pPr>
            <a:r>
              <a:rPr lang="en-US" sz="3600" b="1" spc="99" dirty="0">
                <a:solidFill>
                  <a:srgbClr val="FFFFFF"/>
                </a:solidFill>
                <a:latin typeface="Garet Bold"/>
                <a:ea typeface="Garet Bold"/>
                <a:cs typeface="Garet Bold"/>
                <a:sym typeface="Garet Bold"/>
              </a:rPr>
              <a:t>SYSTEM DESIGN( UI DESIGN WITH FIGMA)</a:t>
            </a:r>
          </a:p>
        </p:txBody>
      </p:sp>
      <p:sp>
        <p:nvSpPr>
          <p:cNvPr id="9" name="TextBox 8">
            <a:extLst>
              <a:ext uri="{FF2B5EF4-FFF2-40B4-BE49-F238E27FC236}">
                <a16:creationId xmlns:a16="http://schemas.microsoft.com/office/drawing/2014/main" id="{A4B69FB8-E817-4368-8B4F-0F1E22EABC22}"/>
              </a:ext>
            </a:extLst>
          </p:cNvPr>
          <p:cNvSpPr txBox="1"/>
          <p:nvPr/>
        </p:nvSpPr>
        <p:spPr>
          <a:xfrm>
            <a:off x="289932" y="9360994"/>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sym typeface="Garet Bold"/>
              </a:rPr>
              <a:t>14</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6C29C90-D81C-4E0F-BB8A-EA925440C3EF}"/>
              </a:ext>
            </a:extLst>
          </p:cNvPr>
          <p:cNvGrpSpPr/>
          <p:nvPr/>
        </p:nvGrpSpPr>
        <p:grpSpPr>
          <a:xfrm>
            <a:off x="4010" y="22058"/>
            <a:ext cx="5101389" cy="10287000"/>
            <a:chOff x="0" y="0"/>
            <a:chExt cx="1689989" cy="2709333"/>
          </a:xfrm>
        </p:grpSpPr>
        <p:sp>
          <p:nvSpPr>
            <p:cNvPr id="3" name="Freeform 3">
              <a:extLst>
                <a:ext uri="{FF2B5EF4-FFF2-40B4-BE49-F238E27FC236}">
                  <a16:creationId xmlns:a16="http://schemas.microsoft.com/office/drawing/2014/main" id="{4CB52761-D795-4CE8-AF9D-49680D89000D}"/>
                </a:ext>
              </a:extLst>
            </p:cNvPr>
            <p:cNvSpPr/>
            <p:nvPr/>
          </p:nvSpPr>
          <p:spPr>
            <a:xfrm>
              <a:off x="0" y="0"/>
              <a:ext cx="1689989" cy="2709333"/>
            </a:xfrm>
            <a:custGeom>
              <a:avLst/>
              <a:gdLst/>
              <a:ahLst/>
              <a:cxnLst/>
              <a:rect l="l" t="t" r="r" b="b"/>
              <a:pathLst>
                <a:path w="1689989" h="2709333">
                  <a:moveTo>
                    <a:pt x="0" y="0"/>
                  </a:moveTo>
                  <a:lnTo>
                    <a:pt x="1689989" y="0"/>
                  </a:lnTo>
                  <a:lnTo>
                    <a:pt x="1689989" y="2709333"/>
                  </a:lnTo>
                  <a:lnTo>
                    <a:pt x="0" y="2709333"/>
                  </a:lnTo>
                  <a:close/>
                </a:path>
              </a:pathLst>
            </a:custGeom>
            <a:solidFill>
              <a:srgbClr val="7ED957"/>
            </a:solidFill>
          </p:spPr>
        </p:sp>
        <p:sp>
          <p:nvSpPr>
            <p:cNvPr id="4" name="TextBox 4">
              <a:extLst>
                <a:ext uri="{FF2B5EF4-FFF2-40B4-BE49-F238E27FC236}">
                  <a16:creationId xmlns:a16="http://schemas.microsoft.com/office/drawing/2014/main" id="{7FCDE7CE-A29B-4960-8C1C-E31241ADBA51}"/>
                </a:ext>
              </a:extLst>
            </p:cNvPr>
            <p:cNvSpPr txBox="1"/>
            <p:nvPr/>
          </p:nvSpPr>
          <p:spPr>
            <a:xfrm>
              <a:off x="0" y="-38100"/>
              <a:ext cx="1689989" cy="2747433"/>
            </a:xfrm>
            <a:prstGeom prst="rect">
              <a:avLst/>
            </a:prstGeom>
          </p:spPr>
          <p:txBody>
            <a:bodyPr lIns="50800" tIns="50800" rIns="50800" bIns="50800" rtlCol="0" anchor="ctr"/>
            <a:lstStyle/>
            <a:p>
              <a:pPr algn="ctr">
                <a:lnSpc>
                  <a:spcPts val="2659"/>
                </a:lnSpc>
              </a:pPr>
              <a:endParaRPr dirty="0"/>
            </a:p>
          </p:txBody>
        </p:sp>
      </p:grpSp>
      <p:sp>
        <p:nvSpPr>
          <p:cNvPr id="6" name="TextBox 5">
            <a:extLst>
              <a:ext uri="{FF2B5EF4-FFF2-40B4-BE49-F238E27FC236}">
                <a16:creationId xmlns:a16="http://schemas.microsoft.com/office/drawing/2014/main" id="{087A9982-A8F7-4A58-A5D2-BAB4C97ED56A}"/>
              </a:ext>
            </a:extLst>
          </p:cNvPr>
          <p:cNvSpPr txBox="1"/>
          <p:nvPr/>
        </p:nvSpPr>
        <p:spPr>
          <a:xfrm>
            <a:off x="0" y="495300"/>
            <a:ext cx="5257800" cy="973343"/>
          </a:xfrm>
          <a:prstGeom prst="rect">
            <a:avLst/>
          </a:prstGeom>
          <a:noFill/>
        </p:spPr>
        <p:txBody>
          <a:bodyPr wrap="square">
            <a:spAutoFit/>
          </a:bodyPr>
          <a:lstStyle/>
          <a:p>
            <a:pPr algn="l">
              <a:lnSpc>
                <a:spcPts val="6999"/>
              </a:lnSpc>
            </a:pPr>
            <a:r>
              <a:rPr lang="en-US" sz="5400" b="1" spc="99" dirty="0">
                <a:solidFill>
                  <a:srgbClr val="FFFFFF"/>
                </a:solidFill>
                <a:latin typeface="Garet Bold"/>
                <a:ea typeface="Garet Bold"/>
                <a:cs typeface="Garet Bold"/>
                <a:sym typeface="Garet Bold"/>
              </a:rPr>
              <a:t>CONCLUSION</a:t>
            </a:r>
          </a:p>
        </p:txBody>
      </p:sp>
      <p:sp>
        <p:nvSpPr>
          <p:cNvPr id="7" name="TextBox 6">
            <a:extLst>
              <a:ext uri="{FF2B5EF4-FFF2-40B4-BE49-F238E27FC236}">
                <a16:creationId xmlns:a16="http://schemas.microsoft.com/office/drawing/2014/main" id="{B21F5B51-6D13-47BB-B69A-B22C5552CE24}"/>
              </a:ext>
            </a:extLst>
          </p:cNvPr>
          <p:cNvSpPr txBox="1"/>
          <p:nvPr/>
        </p:nvSpPr>
        <p:spPr>
          <a:xfrm>
            <a:off x="5278244" y="967197"/>
            <a:ext cx="12476356" cy="7157729"/>
          </a:xfrm>
          <a:prstGeom prst="rect">
            <a:avLst/>
          </a:prstGeom>
          <a:noFill/>
        </p:spPr>
        <p:txBody>
          <a:bodyPr wrap="square">
            <a:spAutoFit/>
          </a:bodyPr>
          <a:lstStyle/>
          <a:p>
            <a:pPr marL="457200" indent="-457200" algn="l">
              <a:lnSpc>
                <a:spcPts val="6999"/>
              </a:lnSpc>
              <a:buFont typeface="Arial" panose="020B0604020202020204" pitchFamily="34" charset="0"/>
              <a:buChar char="•"/>
            </a:pPr>
            <a:r>
              <a:rPr lang="en-US" sz="3200" dirty="0"/>
              <a:t>The agricultural marketplace system should provides a secure and reliable platform that connects buyers and farmers digitally.</a:t>
            </a:r>
          </a:p>
          <a:p>
            <a:pPr marL="457200" indent="-457200" algn="l">
              <a:lnSpc>
                <a:spcPts val="6999"/>
              </a:lnSpc>
              <a:buFont typeface="Arial" panose="020B0604020202020204" pitchFamily="34" charset="0"/>
              <a:buChar char="•"/>
            </a:pPr>
            <a:r>
              <a:rPr lang="en-US" sz="3200" dirty="0"/>
              <a:t>User authentication ensures that only registered and verified users can post products or place orders, improving system security and trust.</a:t>
            </a:r>
          </a:p>
          <a:p>
            <a:pPr marL="457200" indent="-457200" algn="l">
              <a:lnSpc>
                <a:spcPts val="6999"/>
              </a:lnSpc>
              <a:buFont typeface="Arial" panose="020B0604020202020204" pitchFamily="34" charset="0"/>
              <a:buChar char="•"/>
            </a:pPr>
            <a:r>
              <a:rPr lang="en-US" sz="3200" dirty="0"/>
              <a:t>The system reduces unnecessary physical travel, thereby minimizing risks to life, saving time, and lowering transaction costs.</a:t>
            </a:r>
          </a:p>
          <a:p>
            <a:pPr marL="457200" indent="-457200" algn="l">
              <a:lnSpc>
                <a:spcPts val="6999"/>
              </a:lnSpc>
              <a:buFont typeface="Arial" panose="020B0604020202020204" pitchFamily="34" charset="0"/>
              <a:buChar char="•"/>
            </a:pPr>
            <a:r>
              <a:rPr lang="en-US" sz="3200" dirty="0"/>
              <a:t>Direct communication between buyers and farmers helps eliminate middlemen and promotes fair pricing of agricultural products.</a:t>
            </a:r>
            <a:endParaRPr lang="en-US" sz="3200" spc="99" dirty="0">
              <a:latin typeface="+mj-lt"/>
              <a:ea typeface="Garet Bold"/>
              <a:cs typeface="Garet Bold"/>
              <a:sym typeface="Garet Bold"/>
            </a:endParaRPr>
          </a:p>
        </p:txBody>
      </p:sp>
      <p:sp>
        <p:nvSpPr>
          <p:cNvPr id="8" name="TextBox 7">
            <a:extLst>
              <a:ext uri="{FF2B5EF4-FFF2-40B4-BE49-F238E27FC236}">
                <a16:creationId xmlns:a16="http://schemas.microsoft.com/office/drawing/2014/main" id="{CEAC1A92-1BED-4218-8781-E6C2A0930EA2}"/>
              </a:ext>
            </a:extLst>
          </p:cNvPr>
          <p:cNvSpPr txBox="1"/>
          <p:nvPr/>
        </p:nvSpPr>
        <p:spPr>
          <a:xfrm>
            <a:off x="457200" y="9145369"/>
            <a:ext cx="775010" cy="646331"/>
          </a:xfrm>
          <a:prstGeom prst="rect">
            <a:avLst/>
          </a:prstGeom>
          <a:noFill/>
        </p:spPr>
        <p:txBody>
          <a:bodyPr wrap="square">
            <a:spAutoFit/>
          </a:bodyPr>
          <a:lstStyle/>
          <a:p>
            <a:r>
              <a:rPr lang="en-US" sz="3600" b="1" spc="99" dirty="0">
                <a:solidFill>
                  <a:schemeClr val="tx1">
                    <a:lumMod val="95000"/>
                    <a:lumOff val="5000"/>
                  </a:schemeClr>
                </a:solidFill>
                <a:latin typeface="+mj-lt"/>
                <a:sym typeface="Garet Bold"/>
              </a:rPr>
              <a:t>15</a:t>
            </a:r>
            <a:endParaRPr lang="en-US" dirty="0"/>
          </a:p>
        </p:txBody>
      </p:sp>
    </p:spTree>
    <p:extLst>
      <p:ext uri="{BB962C8B-B14F-4D97-AF65-F5344CB8AC3E}">
        <p14:creationId xmlns:p14="http://schemas.microsoft.com/office/powerpoint/2010/main" val="28517492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7ED957"/>
            </a:solidFill>
          </p:spPr>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dirty="0"/>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7ED957"/>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7ED957"/>
            </a:solidFill>
          </p:spPr>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dirty="0"/>
            </a:p>
          </p:txBody>
        </p:sp>
      </p:grpSp>
      <p:grpSp>
        <p:nvGrpSpPr>
          <p:cNvPr id="16" name="Group 16"/>
          <p:cNvGrpSpPr/>
          <p:nvPr/>
        </p:nvGrpSpPr>
        <p:grpSpPr>
          <a:xfrm>
            <a:off x="3443049" y="5159246"/>
            <a:ext cx="4176257" cy="654298"/>
            <a:chOff x="0" y="-28575"/>
            <a:chExt cx="1099919" cy="172325"/>
          </a:xfrm>
        </p:grpSpPr>
        <p:sp>
          <p:nvSpPr>
            <p:cNvPr id="17" name="Freeform 17"/>
            <p:cNvSpPr/>
            <p:nvPr/>
          </p:nvSpPr>
          <p:spPr>
            <a:xfrm>
              <a:off x="0" y="0"/>
              <a:ext cx="1099919" cy="143750"/>
            </a:xfrm>
            <a:custGeom>
              <a:avLst/>
              <a:gdLst/>
              <a:ahLst/>
              <a:cxnLst/>
              <a:rect l="l" t="t" r="r" b="b"/>
              <a:pathLst>
                <a:path w="1099919" h="143750">
                  <a:moveTo>
                    <a:pt x="71875" y="0"/>
                  </a:moveTo>
                  <a:lnTo>
                    <a:pt x="1028044" y="0"/>
                  </a:lnTo>
                  <a:cubicBezTo>
                    <a:pt x="1067740" y="0"/>
                    <a:pt x="1099919" y="32180"/>
                    <a:pt x="1099919" y="71875"/>
                  </a:cubicBezTo>
                  <a:lnTo>
                    <a:pt x="1099919" y="71875"/>
                  </a:lnTo>
                  <a:cubicBezTo>
                    <a:pt x="1099919" y="90938"/>
                    <a:pt x="1092347" y="109219"/>
                    <a:pt x="1078868" y="122699"/>
                  </a:cubicBezTo>
                  <a:cubicBezTo>
                    <a:pt x="1065389" y="136178"/>
                    <a:pt x="1047107" y="143750"/>
                    <a:pt x="1028044" y="143750"/>
                  </a:cubicBezTo>
                  <a:lnTo>
                    <a:pt x="71875" y="143750"/>
                  </a:lnTo>
                  <a:cubicBezTo>
                    <a:pt x="52813" y="143750"/>
                    <a:pt x="34531" y="136178"/>
                    <a:pt x="21052" y="122699"/>
                  </a:cubicBezTo>
                  <a:cubicBezTo>
                    <a:pt x="7573" y="109219"/>
                    <a:pt x="0" y="90938"/>
                    <a:pt x="0" y="71875"/>
                  </a:cubicBezTo>
                  <a:lnTo>
                    <a:pt x="0" y="71875"/>
                  </a:lnTo>
                  <a:cubicBezTo>
                    <a:pt x="0" y="52813"/>
                    <a:pt x="7573" y="34531"/>
                    <a:pt x="21052" y="21052"/>
                  </a:cubicBezTo>
                  <a:cubicBezTo>
                    <a:pt x="34531" y="7573"/>
                    <a:pt x="52813" y="0"/>
                    <a:pt x="71875" y="0"/>
                  </a:cubicBezTo>
                  <a:close/>
                </a:path>
              </a:pathLst>
            </a:custGeom>
            <a:solidFill>
              <a:srgbClr val="7ED957"/>
            </a:solidFill>
          </p:spPr>
          <p:txBody>
            <a:bodyPr/>
            <a:lstStyle/>
            <a:p>
              <a:endParaRPr lang="en-US" dirty="0"/>
            </a:p>
          </p:txBody>
        </p:sp>
        <p:sp>
          <p:nvSpPr>
            <p:cNvPr id="18" name="TextBox 18"/>
            <p:cNvSpPr txBox="1"/>
            <p:nvPr/>
          </p:nvSpPr>
          <p:spPr>
            <a:xfrm>
              <a:off x="0" y="-28575"/>
              <a:ext cx="1099919" cy="172325"/>
            </a:xfrm>
            <a:prstGeom prst="rect">
              <a:avLst/>
            </a:prstGeom>
          </p:spPr>
          <p:txBody>
            <a:bodyPr lIns="50800" tIns="50800" rIns="50800" bIns="50800" rtlCol="0" anchor="ctr"/>
            <a:lstStyle/>
            <a:p>
              <a:pPr algn="ctr">
                <a:lnSpc>
                  <a:spcPts val="2659"/>
                </a:lnSpc>
              </a:pPr>
              <a:r>
                <a:rPr lang="en-US" sz="1899" dirty="0">
                  <a:solidFill>
                    <a:srgbClr val="FFFFFF"/>
                  </a:solidFill>
                  <a:latin typeface="Garet"/>
                  <a:ea typeface="Garet"/>
                  <a:cs typeface="Garet"/>
                  <a:sym typeface="Garet"/>
                </a:rPr>
                <a:t>January  2025</a:t>
              </a:r>
            </a:p>
          </p:txBody>
        </p:sp>
      </p:grpSp>
      <p:grpSp>
        <p:nvGrpSpPr>
          <p:cNvPr id="19" name="Group 19"/>
          <p:cNvGrpSpPr/>
          <p:nvPr/>
        </p:nvGrpSpPr>
        <p:grpSpPr>
          <a:xfrm>
            <a:off x="10853887" y="786854"/>
            <a:ext cx="1977164" cy="1977164"/>
            <a:chOff x="0" y="0"/>
            <a:chExt cx="812800" cy="812800"/>
          </a:xfrm>
        </p:grpSpPr>
        <p:sp>
          <p:nvSpPr>
            <p:cNvPr id="20" name="Freeform 20"/>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7ED957">
                <a:alpha val="29804"/>
              </a:srgbClr>
            </a:solidFill>
          </p:spPr>
        </p:sp>
        <p:sp>
          <p:nvSpPr>
            <p:cNvPr id="21" name="TextBox 21"/>
            <p:cNvSpPr txBox="1"/>
            <p:nvPr/>
          </p:nvSpPr>
          <p:spPr>
            <a:xfrm>
              <a:off x="0" y="-38100"/>
              <a:ext cx="812800" cy="850900"/>
            </a:xfrm>
            <a:prstGeom prst="rect">
              <a:avLst/>
            </a:prstGeom>
          </p:spPr>
          <p:txBody>
            <a:bodyPr lIns="50800" tIns="50800" rIns="50800" bIns="50800" rtlCol="0" anchor="ctr"/>
            <a:lstStyle/>
            <a:p>
              <a:pPr algn="ctr">
                <a:lnSpc>
                  <a:spcPts val="2659"/>
                </a:lnSpc>
              </a:pPr>
              <a:endParaRPr dirty="0"/>
            </a:p>
          </p:txBody>
        </p:sp>
      </p:grpSp>
      <p:sp>
        <p:nvSpPr>
          <p:cNvPr id="24" name="TextBox 24"/>
          <p:cNvSpPr txBox="1"/>
          <p:nvPr/>
        </p:nvSpPr>
        <p:spPr>
          <a:xfrm>
            <a:off x="3254596" y="4591653"/>
            <a:ext cx="5229897" cy="519373"/>
          </a:xfrm>
          <a:prstGeom prst="rect">
            <a:avLst/>
          </a:prstGeom>
        </p:spPr>
        <p:txBody>
          <a:bodyPr wrap="square" lIns="0" tIns="0" rIns="0" bIns="0" rtlCol="0" anchor="t">
            <a:spAutoFit/>
          </a:bodyPr>
          <a:lstStyle/>
          <a:p>
            <a:pPr algn="l">
              <a:lnSpc>
                <a:spcPts val="4199"/>
              </a:lnSpc>
            </a:pPr>
            <a:r>
              <a:rPr lang="en-US" sz="2999" spc="299" dirty="0">
                <a:solidFill>
                  <a:srgbClr val="000000"/>
                </a:solidFill>
                <a:latin typeface="Garet"/>
                <a:ea typeface="Garet"/>
                <a:cs typeface="Garet"/>
                <a:sym typeface="Garet"/>
              </a:rPr>
              <a:t>FOR YOUR ATTENTION</a:t>
            </a:r>
          </a:p>
        </p:txBody>
      </p:sp>
      <p:sp>
        <p:nvSpPr>
          <p:cNvPr id="27" name="TextBox 27"/>
          <p:cNvSpPr txBox="1"/>
          <p:nvPr/>
        </p:nvSpPr>
        <p:spPr>
          <a:xfrm>
            <a:off x="1624423" y="3135538"/>
            <a:ext cx="8795646" cy="1523365"/>
          </a:xfrm>
          <a:prstGeom prst="rect">
            <a:avLst/>
          </a:prstGeom>
        </p:spPr>
        <p:txBody>
          <a:bodyPr lIns="0" tIns="0" rIns="0" bIns="0" rtlCol="0" anchor="t">
            <a:spAutoFit/>
          </a:bodyPr>
          <a:lstStyle/>
          <a:p>
            <a:pPr algn="l">
              <a:lnSpc>
                <a:spcPts val="11960"/>
              </a:lnSpc>
            </a:pPr>
            <a:r>
              <a:rPr lang="en-US" sz="10400" b="1" dirty="0">
                <a:solidFill>
                  <a:srgbClr val="000000"/>
                </a:solidFill>
                <a:latin typeface="Garet Bold"/>
                <a:ea typeface="Garet Bold"/>
                <a:cs typeface="Garet Bold"/>
                <a:sym typeface="Garet Bold"/>
              </a:rPr>
              <a:t>THANK YOU</a:t>
            </a:r>
          </a:p>
        </p:txBody>
      </p:sp>
      <p:grpSp>
        <p:nvGrpSpPr>
          <p:cNvPr id="30" name="Group 30"/>
          <p:cNvGrpSpPr/>
          <p:nvPr/>
        </p:nvGrpSpPr>
        <p:grpSpPr>
          <a:xfrm>
            <a:off x="8484493" y="9014056"/>
            <a:ext cx="2545888" cy="2545888"/>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7ED957">
                  <a:alpha val="9804"/>
                </a:srgbClr>
              </a:solidFill>
              <a:prstDash val="solid"/>
              <a:miter/>
            </a:ln>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pic>
        <p:nvPicPr>
          <p:cNvPr id="34" name="Picture 33">
            <a:extLst>
              <a:ext uri="{FF2B5EF4-FFF2-40B4-BE49-F238E27FC236}">
                <a16:creationId xmlns:a16="http://schemas.microsoft.com/office/drawing/2014/main" id="{4C6844FB-A727-449D-9457-D6D1778AC3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72900" y="-48220"/>
            <a:ext cx="5486400" cy="1033522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2477</TotalTime>
  <Words>933</Words>
  <Application>Microsoft Office PowerPoint</Application>
  <PresentationFormat>Custom</PresentationFormat>
  <Paragraphs>183</Paragraphs>
  <Slides>18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Times New Roman</vt:lpstr>
      <vt:lpstr>Garet Bold</vt:lpstr>
      <vt:lpstr>Montserrat Semi-Bold</vt:lpstr>
      <vt:lpstr>Wingdings</vt:lpstr>
      <vt:lpstr>Garet</vt:lpstr>
      <vt:lpstr>Calibri</vt:lpstr>
      <vt:lpstr>Open Sans</vt:lpstr>
      <vt:lpstr>Californian FB</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Eng_Timothy</dc:creator>
  <cp:lastModifiedBy>ndiwane timothy</cp:lastModifiedBy>
  <cp:revision>82</cp:revision>
  <dcterms:created xsi:type="dcterms:W3CDTF">2006-08-16T00:00:00Z</dcterms:created>
  <dcterms:modified xsi:type="dcterms:W3CDTF">2026-01-18T10:30:42Z</dcterms:modified>
  <dc:identifier>DAG960i0sa4</dc:identifier>
</cp:coreProperties>
</file>